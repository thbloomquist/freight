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embeddings/oleObject4.bin" ContentType="application/vnd.openxmlformats-officedocument.oleObject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embeddings/oleObject17.bin" ContentType="application/vnd.openxmlformats-officedocument.oleObject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embeddings/oleObject24.bin" ContentType="application/vnd.openxmlformats-officedocument.oleObject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notesSlides/notesSlide3.xml" ContentType="application/vnd.openxmlformats-officedocument.presentationml.notesSlide+xml"/>
  <Default Extension="bin" ContentType="application/vnd.ms-office.legacyDiagramText"/>
  <Override PartName="/ppt/embeddings/oleObject13.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39.xml" ContentType="application/vnd.openxmlformats-officedocument.presentationml.notesSlide+xml"/>
  <Override PartName="/ppt/embeddings/oleObject20.bin" ContentType="application/vnd.openxmlformats-officedocument.oleObject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7.xml" ContentType="application/vnd.openxmlformats-officedocument.presentationml.notesSlide+xml"/>
  <Default Extension="emf" ContentType="image/x-emf"/>
  <Override PartName="/ppt/notesSlides/notesSlide28.xml" ContentType="application/vnd.openxmlformats-officedocument.presentationml.notesSlide+xml"/>
  <Override PartName="/ppt/embeddings/oleObject9.bin" ContentType="application/vnd.openxmlformats-officedocument.oleObject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Override2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embeddings/oleObject5.bin" ContentType="application/vnd.openxmlformats-officedocument.oleObject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embeddings/oleObject18.bin" ContentType="application/vnd.openxmlformats-officedocument.oleObject"/>
  <Override PartName="/ppt/embeddings/oleObject1.bin" ContentType="application/vnd.openxmlformats-officedocument.oleObject"/>
  <Override PartName="/ppt/embeddings/oleObject25.bin" ContentType="application/vnd.openxmlformats-officedocument.oleObject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ppt/embeddings/oleObject14.bin" ContentType="application/vnd.openxmlformats-officedocument.oleObject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embeddings/oleObject21.bin" ContentType="application/vnd.openxmlformats-officedocument.oleObject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notesSlides/notesSlide29.xml" ContentType="application/vnd.openxmlformats-officedocument.presentationml.notesSlide+xml"/>
  <Override PartName="/ppt/embeddings/oleObject10.bin" ContentType="application/vnd.openxmlformats-officedocument.oleObject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embeddings/oleObject6.bin" ContentType="application/vnd.openxmlformats-officedocument.oleObject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embeddings/oleObject19.bin" ContentType="application/vnd.openxmlformats-officedocument.oleObject"/>
  <Override PartName="/ppt/notesSlides/notesSlide10.xml" ContentType="application/vnd.openxmlformats-officedocument.presentationml.notesSlide+xml"/>
  <Override PartName="/ppt/embeddings/oleObject2.bin" ContentType="application/vnd.openxmlformats-officedocument.oleObject"/>
  <Override PartName="/ppt/embeddings/oleObject26.bin" ContentType="application/vnd.openxmlformats-officedocument.oleObject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embeddings/oleObject15.bin" ContentType="application/vnd.openxmlformats-officedocument.oleObject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oleObject11.bin" ContentType="application/vnd.openxmlformats-officedocument.oleObject"/>
  <Override PartName="/ppt/embeddings/oleObject22.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embeddings/oleObject7.bin" ContentType="application/vnd.openxmlformats-officedocument.oleObject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.xml" ContentType="application/vnd.openxmlformats-officedocument.presentationml.notesSlide+xml"/>
  <Override PartName="/ppt/embeddings/oleObject3.bin" ContentType="application/vnd.openxmlformats-officedocument.oleObject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16.bin" ContentType="application/vnd.openxmlformats-officedocument.oleObject"/>
  <Override PartName="/ppt/legacyDocTextInfo.bin" ContentType="application/vnd.ms-office.legacyDocTextInfo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embeddings/oleObject23.bin" ContentType="application/vnd.openxmlformats-officedocument.oleObject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embeddings/oleObject12.bin" ContentType="application/vnd.openxmlformats-officedocument.oleObject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  <Override PartName="/ppt/embeddings/oleObject8.bin" ContentType="application/vnd.openxmlformats-officedocument.oleObject"/>
  <Override PartName="/ppt/notesSlides/notesSlide3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60" r:id="rId2"/>
    <p:sldMasterId id="2147483661" r:id="rId3"/>
    <p:sldMasterId id="2147483662" r:id="rId4"/>
    <p:sldMasterId id="2147483665" r:id="rId5"/>
  </p:sldMasterIdLst>
  <p:notesMasterIdLst>
    <p:notesMasterId r:id="rId69"/>
  </p:notesMasterIdLst>
  <p:handoutMasterIdLst>
    <p:handoutMasterId r:id="rId70"/>
  </p:handoutMasterIdLst>
  <p:sldIdLst>
    <p:sldId id="257" r:id="rId6"/>
    <p:sldId id="260" r:id="rId7"/>
    <p:sldId id="261" r:id="rId8"/>
    <p:sldId id="347" r:id="rId9"/>
    <p:sldId id="341" r:id="rId10"/>
    <p:sldId id="342" r:id="rId11"/>
    <p:sldId id="343" r:id="rId12"/>
    <p:sldId id="344" r:id="rId13"/>
    <p:sldId id="345" r:id="rId14"/>
    <p:sldId id="346" r:id="rId15"/>
    <p:sldId id="262" r:id="rId16"/>
    <p:sldId id="265" r:id="rId17"/>
    <p:sldId id="266" r:id="rId18"/>
    <p:sldId id="271" r:id="rId19"/>
    <p:sldId id="272" r:id="rId20"/>
    <p:sldId id="274" r:id="rId21"/>
    <p:sldId id="275" r:id="rId22"/>
    <p:sldId id="276" r:id="rId23"/>
    <p:sldId id="292" r:id="rId24"/>
    <p:sldId id="293" r:id="rId25"/>
    <p:sldId id="294" r:id="rId26"/>
    <p:sldId id="295" r:id="rId27"/>
    <p:sldId id="296" r:id="rId28"/>
    <p:sldId id="325" r:id="rId29"/>
    <p:sldId id="326" r:id="rId30"/>
    <p:sldId id="348" r:id="rId31"/>
    <p:sldId id="327" r:id="rId32"/>
    <p:sldId id="328" r:id="rId33"/>
    <p:sldId id="329" r:id="rId34"/>
    <p:sldId id="330" r:id="rId35"/>
    <p:sldId id="331" r:id="rId36"/>
    <p:sldId id="324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36" r:id="rId48"/>
    <p:sldId id="337" r:id="rId49"/>
    <p:sldId id="338" r:id="rId50"/>
    <p:sldId id="339" r:id="rId51"/>
    <p:sldId id="340" r:id="rId52"/>
    <p:sldId id="332" r:id="rId53"/>
    <p:sldId id="333" r:id="rId54"/>
    <p:sldId id="334" r:id="rId55"/>
    <p:sldId id="335" r:id="rId56"/>
    <p:sldId id="300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49" r:id="rId66"/>
    <p:sldId id="301" r:id="rId67"/>
    <p:sldId id="305" r:id="rId68"/>
  </p:sldIdLst>
  <p:sldSz cx="9144000" cy="6858000" type="letter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1pPr>
    <a:lvl2pPr marL="320675" indent="136525" algn="l" rtl="0" fontAlgn="base">
      <a:spcBef>
        <a:spcPct val="0"/>
      </a:spcBef>
      <a:spcAft>
        <a:spcPct val="0"/>
      </a:spcAft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2pPr>
    <a:lvl3pPr marL="641350" indent="273050" algn="l" rtl="0" fontAlgn="base">
      <a:spcBef>
        <a:spcPct val="0"/>
      </a:spcBef>
      <a:spcAft>
        <a:spcPct val="0"/>
      </a:spcAft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3pPr>
    <a:lvl4pPr marL="963613" indent="407988" algn="l" rtl="0" fontAlgn="base">
      <a:spcBef>
        <a:spcPct val="0"/>
      </a:spcBef>
      <a:spcAft>
        <a:spcPct val="0"/>
      </a:spcAft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4pPr>
    <a:lvl5pPr marL="1284288" indent="544513" algn="l" rtl="0" fontAlgn="base">
      <a:spcBef>
        <a:spcPct val="0"/>
      </a:spcBef>
      <a:spcAft>
        <a:spcPct val="0"/>
      </a:spcAft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5pPr>
    <a:lvl6pPr marL="2286000" algn="l" defTabSz="914400" rtl="0" eaLnBrk="1" latinLnBrk="0" hangingPunct="1"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6pPr>
    <a:lvl7pPr marL="2743200" algn="l" defTabSz="914400" rtl="0" eaLnBrk="1" latinLnBrk="0" hangingPunct="1"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7pPr>
    <a:lvl8pPr marL="3200400" algn="l" defTabSz="914400" rtl="0" eaLnBrk="1" latinLnBrk="0" hangingPunct="1"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8pPr>
    <a:lvl9pPr marL="3657600" algn="l" defTabSz="914400" rtl="0" eaLnBrk="1" latinLnBrk="0" hangingPunct="1">
      <a:defRPr sz="3000" kern="1200">
        <a:solidFill>
          <a:srgbClr val="000000"/>
        </a:solidFill>
        <a:latin typeface="Arial" charset="0"/>
        <a:ea typeface="ＭＳ Ｐゴシック" pitchFamily="34" charset="-128"/>
        <a:cs typeface="Arial" charset="0"/>
        <a:sym typeface="Gill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srgbClr val="FF0000"/>
    </p:penClr>
  </p:showPr>
  <p:clrMru>
    <a:srgbClr val="2C0000"/>
    <a:srgbClr val="FF0000"/>
    <a:srgbClr val="FFD124"/>
    <a:srgbClr val="FF7800"/>
    <a:srgbClr val="55B884"/>
    <a:srgbClr val="018069"/>
    <a:srgbClr val="0B4D40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8" autoAdjust="0"/>
    <p:restoredTop sz="94660"/>
  </p:normalViewPr>
  <p:slideViewPr>
    <p:cSldViewPr>
      <p:cViewPr>
        <p:scale>
          <a:sx n="75" d="100"/>
          <a:sy n="75" d="100"/>
        </p:scale>
        <p:origin x="-1314" y="-84"/>
      </p:cViewPr>
      <p:guideLst>
        <p:guide orient="horz" pos="3216"/>
        <p:guide orient="horz" pos="2832"/>
        <p:guide orient="horz" pos="2688"/>
        <p:guide orient="horz" pos="3840"/>
        <p:guide orient="horz" pos="1440"/>
        <p:guide orient="horz" pos="4128"/>
        <p:guide pos="192"/>
        <p:guide pos="4176"/>
        <p:guide pos="5472"/>
        <p:guide pos="3360"/>
        <p:guide pos="4080"/>
        <p:guide pos="5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70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" Type="http://schemas.openxmlformats.org/officeDocument/2006/relationships/slide" Target="slides/slide2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handoutMaster" Target="handoutMasters/handoutMaster1.xml"/><Relationship Id="rId75" Type="http://schemas.microsoft.com/office/2006/relationships/legacyDocTextInfo" Target="legacyDocTextInfo.bin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\\UTCSTSVR0ca3\SST\Custom_Presentations\2013%20Scout%20Presentations\Endo%20Health\Annual,%202012%20vs.%202013\Endo%20Health_Worksheet_Annual,%202012%20vs.%202013_140221-024767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\\UTCSTSVR0ca3\SST\Custom_Presentations\2013%20Scout%20Presentations\Endo%20Health\Annual,%202012%20vs.%202013\Endo%20Health_Worksheet_Annual,%202012%20vs.%202013_140221-024767.xlsx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plotArea>
      <c:layout/>
      <c:barChart>
        <c:barDir val="col"/>
        <c:grouping val="clustered"/>
        <c:ser>
          <c:idx val="1"/>
          <c:order val="0"/>
          <c:tx>
            <c:strRef>
              <c:f>'SCS3'!$C$10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chemeClr val="bg2"/>
            </a:solidFill>
          </c:spPr>
          <c:cat>
            <c:strRef>
              <c:f>'SCS3'!$B$11:$B$12</c:f>
              <c:strCache>
                <c:ptCount val="2"/>
                <c:pt idx="0">
                  <c:v>Shipments</c:v>
                </c:pt>
                <c:pt idx="1">
                  <c:v>Total Weight (lbs)</c:v>
                </c:pt>
              </c:strCache>
            </c:strRef>
          </c:cat>
          <c:val>
            <c:numRef>
              <c:f>'SCS3'!$C$11:$C$12</c:f>
              <c:numCache>
                <c:formatCode>#,##0</c:formatCode>
                <c:ptCount val="2"/>
                <c:pt idx="0">
                  <c:v>67</c:v>
                </c:pt>
                <c:pt idx="1">
                  <c:v>2670415</c:v>
                </c:pt>
              </c:numCache>
            </c:numRef>
          </c:val>
        </c:ser>
        <c:ser>
          <c:idx val="2"/>
          <c:order val="1"/>
          <c:tx>
            <c:strRef>
              <c:f>'SCS3'!$D$10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'SCS3'!$B$11:$B$12</c:f>
              <c:strCache>
                <c:ptCount val="2"/>
                <c:pt idx="0">
                  <c:v>Shipments</c:v>
                </c:pt>
                <c:pt idx="1">
                  <c:v>Total Weight (lbs)</c:v>
                </c:pt>
              </c:strCache>
            </c:strRef>
          </c:cat>
          <c:val>
            <c:numRef>
              <c:f>'SCS3'!$D$11:$D$12</c:f>
              <c:numCache>
                <c:formatCode>#,##0</c:formatCode>
                <c:ptCount val="2"/>
                <c:pt idx="0">
                  <c:v>184</c:v>
                </c:pt>
                <c:pt idx="1">
                  <c:v>3843429</c:v>
                </c:pt>
              </c:numCache>
            </c:numRef>
          </c:val>
        </c:ser>
        <c:axId val="32000640"/>
        <c:axId val="32002432"/>
      </c:barChart>
      <c:catAx>
        <c:axId val="32000640"/>
        <c:scaling>
          <c:orientation val="minMax"/>
        </c:scaling>
        <c:axPos val="b"/>
        <c:tickLblPos val="nextTo"/>
        <c:crossAx val="32002432"/>
        <c:crosses val="autoZero"/>
        <c:auto val="1"/>
        <c:lblAlgn val="ctr"/>
        <c:lblOffset val="100"/>
      </c:catAx>
      <c:valAx>
        <c:axId val="32002432"/>
        <c:scaling>
          <c:logBase val="10"/>
          <c:orientation val="minMax"/>
        </c:scaling>
        <c:axPos val="l"/>
        <c:majorGridlines>
          <c:spPr>
            <a:ln>
              <a:solidFill>
                <a:srgbClr val="2C0000"/>
              </a:solidFill>
            </a:ln>
          </c:spPr>
        </c:majorGridlines>
        <c:numFmt formatCode="#,##0" sourceLinked="1"/>
        <c:tickLblPos val="nextTo"/>
        <c:spPr>
          <a:ln>
            <a:solidFill>
              <a:srgbClr val="2C0000"/>
            </a:solidFill>
          </a:ln>
        </c:spPr>
        <c:crossAx val="320006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ln>
            <a:solidFill>
              <a:srgbClr val="2C0000"/>
            </a:solidFill>
          </a:ln>
        </c:spPr>
      </c:dTable>
    </c:plotArea>
    <c:plotVisOnly val="1"/>
    <c:dispBlanksAs val="gap"/>
  </c:chart>
  <c:spPr>
    <a:ln>
      <a:noFill/>
    </a:ln>
  </c:spPr>
  <c:txPr>
    <a:bodyPr/>
    <a:lstStyle/>
    <a:p>
      <a:pPr>
        <a:defRPr b="1">
          <a:solidFill>
            <a:srgbClr val="2C0000"/>
          </a:solidFill>
        </a:defRPr>
      </a:pPr>
      <a:endParaRPr lang="en-US"/>
    </a:p>
  </c:txPr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plotArea>
      <c:layout/>
      <c:barChart>
        <c:barDir val="col"/>
        <c:grouping val="clustered"/>
        <c:ser>
          <c:idx val="1"/>
          <c:order val="0"/>
          <c:tx>
            <c:strRef>
              <c:f>'SCS3'!$C$10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chemeClr val="accent3"/>
            </a:solidFill>
          </c:spPr>
          <c:cat>
            <c:strRef>
              <c:f>'SCS3'!$B$13</c:f>
              <c:strCache>
                <c:ptCount val="1"/>
                <c:pt idx="0">
                  <c:v>Net Spend</c:v>
                </c:pt>
              </c:strCache>
            </c:strRef>
          </c:cat>
          <c:val>
            <c:numRef>
              <c:f>'SCS3'!$C$13</c:f>
              <c:numCache>
                <c:formatCode>"$"#,##0</c:formatCode>
                <c:ptCount val="1"/>
                <c:pt idx="0">
                  <c:v>17033976.529999997</c:v>
                </c:pt>
              </c:numCache>
            </c:numRef>
          </c:val>
        </c:ser>
        <c:ser>
          <c:idx val="2"/>
          <c:order val="1"/>
          <c:tx>
            <c:strRef>
              <c:f>'SCS3'!$D$10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'SCS3'!$B$13</c:f>
              <c:strCache>
                <c:ptCount val="1"/>
                <c:pt idx="0">
                  <c:v>Net Spend</c:v>
                </c:pt>
              </c:strCache>
            </c:strRef>
          </c:cat>
          <c:val>
            <c:numRef>
              <c:f>'SCS3'!$D$13</c:f>
              <c:numCache>
                <c:formatCode>"$"#,##0</c:formatCode>
                <c:ptCount val="1"/>
                <c:pt idx="0">
                  <c:v>13440633.040000001</c:v>
                </c:pt>
              </c:numCache>
            </c:numRef>
          </c:val>
        </c:ser>
        <c:axId val="32016256"/>
        <c:axId val="32017792"/>
      </c:barChart>
      <c:catAx>
        <c:axId val="32016256"/>
        <c:scaling>
          <c:orientation val="minMax"/>
        </c:scaling>
        <c:axPos val="b"/>
        <c:tickLblPos val="nextTo"/>
        <c:crossAx val="32017792"/>
        <c:crosses val="autoZero"/>
        <c:auto val="1"/>
        <c:lblAlgn val="ctr"/>
        <c:lblOffset val="100"/>
      </c:catAx>
      <c:valAx>
        <c:axId val="32017792"/>
        <c:scaling>
          <c:orientation val="minMax"/>
          <c:min val="5"/>
        </c:scaling>
        <c:axPos val="l"/>
        <c:majorGridlines>
          <c:spPr>
            <a:ln>
              <a:solidFill>
                <a:srgbClr val="2C0000"/>
              </a:solidFill>
            </a:ln>
          </c:spPr>
        </c:majorGridlines>
        <c:numFmt formatCode="&quot;$&quot;#,##0" sourceLinked="1"/>
        <c:tickLblPos val="nextTo"/>
        <c:spPr>
          <a:ln>
            <a:solidFill>
              <a:srgbClr val="2C0000"/>
            </a:solidFill>
          </a:ln>
        </c:spPr>
        <c:crossAx val="3201625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ln>
            <a:solidFill>
              <a:srgbClr val="2C0000"/>
            </a:solidFill>
          </a:ln>
        </c:spPr>
      </c:dTable>
    </c:plotArea>
    <c:plotVisOnly val="1"/>
    <c:dispBlanksAs val="gap"/>
  </c:chart>
  <c:spPr>
    <a:ln>
      <a:noFill/>
    </a:ln>
  </c:spPr>
  <c:txPr>
    <a:bodyPr/>
    <a:lstStyle/>
    <a:p>
      <a:pPr>
        <a:defRPr b="1">
          <a:solidFill>
            <a:srgbClr val="2C0000"/>
          </a:solidFill>
        </a:defRPr>
      </a:pPr>
      <a:endParaRPr lang="en-US"/>
    </a:p>
  </c:txPr>
  <c:externalData r:id="rId2"/>
</c:chartSpace>
</file>

<file path=ppt/drawings/_rels/vmlDrawing1.vml.rels><?xml version="1.0" encoding="UTF-8" standalone="yes"?>
<Relationships xmlns="http://schemas.openxmlformats.org/package/2006/relationships"><Relationship Id="rId3" Type="http://schemas.microsoft.com/office/2006/relationships/legacyDiagramText" Target="legacyDiagramText3.bin"/><Relationship Id="rId2" Type="http://schemas.microsoft.com/office/2006/relationships/legacyDiagramText" Target="legacyDiagramText2.bin"/><Relationship Id="rId1" Type="http://schemas.microsoft.com/office/2006/relationships/legacyDiagramText" Target="legacyDiagramText1.bin"/><Relationship Id="rId5" Type="http://schemas.microsoft.com/office/2006/relationships/legacyDiagramText" Target="legacyDiagramText5.bin"/><Relationship Id="rId4" Type="http://schemas.microsoft.com/office/2006/relationships/legacyDiagramText" Target="legacyDiagramText4.bin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4" Type="http://schemas.openxmlformats.org/officeDocument/2006/relationships/image" Target="../media/image3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4" Type="http://schemas.openxmlformats.org/officeDocument/2006/relationships/image" Target="../media/image4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Gill Sans"/>
                <a:ea typeface="MS PGothic" pitchFamily="34" charset="-128"/>
                <a:cs typeface="+mn-cs"/>
                <a:sym typeface="Gill Sans"/>
              </a:defRPr>
            </a:lvl1pPr>
          </a:lstStyle>
          <a:p>
            <a:pPr>
              <a:defRPr/>
            </a:pPr>
            <a:fld id="{55AB7048-0EC5-4411-B5FB-625DFA40BD23}" type="datetime1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Gill Sans"/>
                <a:ea typeface="MS PGothic" pitchFamily="34" charset="-128"/>
                <a:cs typeface="+mn-cs"/>
                <a:sym typeface="Gill Sans"/>
              </a:defRPr>
            </a:lvl1pPr>
          </a:lstStyle>
          <a:p>
            <a:pPr>
              <a:defRPr/>
            </a:pPr>
            <a:fld id="{99C04ACE-9A21-44DD-B538-7C05A271F2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Gill Sans" charset="0"/>
                <a:ea typeface="+mn-ea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Gill Sans" charset="0"/>
                <a:ea typeface="+mn-ea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2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2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Gill Sans" charset="0"/>
                <a:ea typeface="+mn-ea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Gill Sans"/>
                <a:ea typeface="MS PGothic" pitchFamily="34" charset="-128"/>
                <a:cs typeface="+mn-cs"/>
                <a:sym typeface="Gill Sans"/>
              </a:defRPr>
            </a:lvl1pPr>
          </a:lstStyle>
          <a:p>
            <a:pPr>
              <a:defRPr/>
            </a:pPr>
            <a:fld id="{A8A2950C-CAE5-43C3-BB6E-C91BB25051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Gill Sans" charset="0"/>
        <a:ea typeface="ＭＳ Ｐゴシック" pitchFamily="34" charset="-128"/>
        <a:cs typeface="ＭＳ Ｐゴシック" charset="-128"/>
      </a:defRPr>
    </a:lvl1pPr>
    <a:lvl2pPr marL="320675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Gill Sans" charset="0"/>
        <a:ea typeface="ＭＳ Ｐゴシック" pitchFamily="34" charset="-128"/>
        <a:cs typeface="+mn-cs"/>
      </a:defRPr>
    </a:lvl2pPr>
    <a:lvl3pPr marL="64135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Gill Sans" charset="0"/>
        <a:ea typeface="ＭＳ Ｐゴシック" pitchFamily="34" charset="-128"/>
        <a:cs typeface="+mn-cs"/>
      </a:defRPr>
    </a:lvl3pPr>
    <a:lvl4pPr marL="963613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Gill Sans" charset="0"/>
        <a:ea typeface="ＭＳ Ｐゴシック" pitchFamily="34" charset="-128"/>
        <a:cs typeface="+mn-cs"/>
      </a:defRPr>
    </a:lvl4pPr>
    <a:lvl5pPr marL="1284288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Gill Sans" charset="0"/>
        <a:ea typeface="ＭＳ Ｐゴシック" pitchFamily="34" charset="-128"/>
        <a:cs typeface="+mn-cs"/>
      </a:defRPr>
    </a:lvl5pPr>
    <a:lvl6pPr marL="1607205" algn="l" defTabSz="32144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928645" algn="l" defTabSz="32144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250086" algn="l" defTabSz="32144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571527" algn="l" defTabSz="32144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A5A5BA-77F6-43EC-8611-E275DA1180B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078E0A-DCB8-4EBB-A0E9-4E346737F91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8D2535-4C52-4B71-9E6F-BFFEB92821F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Rectangle 2"/>
          <p:cNvSpPr>
            <a:spLocks noGrp="1" noRo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ln/>
        </p:spPr>
      </p:sp>
      <p:sp>
        <p:nvSpPr>
          <p:cNvPr id="184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3638" y="4570413"/>
            <a:ext cx="1238250" cy="269875"/>
          </a:xfrm>
          <a:noFill/>
          <a:ln/>
        </p:spPr>
        <p:txBody>
          <a:bodyPr lIns="89716" tIns="44858" rIns="89716" bIns="44858"/>
          <a:lstStyle/>
          <a:p>
            <a:pPr eaLnBrk="1" hangingPunct="1"/>
            <a:endParaRPr lang="en-US" smtClean="0">
              <a:latin typeface="Gill Sans"/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Rectangle 2"/>
          <p:cNvSpPr>
            <a:spLocks noGrp="1" noRo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ln/>
        </p:spPr>
      </p:sp>
      <p:sp>
        <p:nvSpPr>
          <p:cNvPr id="186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3638" y="4570413"/>
            <a:ext cx="1238250" cy="269875"/>
          </a:xfrm>
          <a:noFill/>
          <a:ln/>
        </p:spPr>
        <p:txBody>
          <a:bodyPr lIns="89716" tIns="44858" rIns="89716" bIns="44858"/>
          <a:lstStyle/>
          <a:p>
            <a:pPr eaLnBrk="1" hangingPunct="1"/>
            <a:endParaRPr lang="en-US" smtClean="0">
              <a:latin typeface="Gill Sans"/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2"/>
          <p:cNvSpPr>
            <a:spLocks noGrp="1" noRo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ln/>
        </p:spPr>
      </p:sp>
      <p:sp>
        <p:nvSpPr>
          <p:cNvPr id="188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3638" y="4570413"/>
            <a:ext cx="1238250" cy="269875"/>
          </a:xfrm>
          <a:noFill/>
          <a:ln/>
        </p:spPr>
        <p:txBody>
          <a:bodyPr lIns="89716" tIns="44858" rIns="89716" bIns="44858"/>
          <a:lstStyle/>
          <a:p>
            <a:pPr eaLnBrk="1" hangingPunct="1"/>
            <a:endParaRPr lang="en-US" smtClean="0">
              <a:latin typeface="Gill Sans"/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7413"/>
          </a:xfrm>
          <a:ln/>
        </p:spPr>
      </p:sp>
      <p:sp>
        <p:nvSpPr>
          <p:cNvPr id="190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3950" y="4513263"/>
            <a:ext cx="3965575" cy="304800"/>
          </a:xfrm>
          <a:noFill/>
          <a:ln/>
        </p:spPr>
        <p:txBody>
          <a:bodyPr lIns="91199" tIns="45600" rIns="91199" bIns="45600"/>
          <a:lstStyle/>
          <a:p>
            <a:endParaRPr lang="en-US" sz="1400" smtClean="0">
              <a:latin typeface="Gill Sans"/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ln/>
        </p:spPr>
      </p:sp>
      <p:sp>
        <p:nvSpPr>
          <p:cNvPr id="192514" name="Notes Placeholder 2"/>
          <p:cNvSpPr>
            <a:spLocks noGrp="1"/>
          </p:cNvSpPr>
          <p:nvPr>
            <p:ph type="body" idx="1"/>
          </p:nvPr>
        </p:nvSpPr>
        <p:spPr>
          <a:xfrm>
            <a:off x="684213" y="4343400"/>
            <a:ext cx="5489575" cy="4114800"/>
          </a:xfrm>
          <a:noFill/>
          <a:ln/>
        </p:spPr>
        <p:txBody>
          <a:bodyPr lIns="89716" tIns="44858" rIns="89716" bIns="44858"/>
          <a:lstStyle/>
          <a:p>
            <a:r>
              <a:rPr lang="en-US" smtClean="0">
                <a:latin typeface="Gill Sans"/>
              </a:rPr>
              <a:t>There is a shift underway in Europe to move from per country warehousing and distribution to regional operations. The per country set-up creates costly inefficiencies while the shift to a centralized approach enables more control, efficiency and compliance. For example, managing a central repository of stock, reduces stockouts and relabeling activities, improves fill rates, and can reduce the divergence of product across the region. </a:t>
            </a:r>
          </a:p>
          <a:p>
            <a:endParaRPr lang="en-US" smtClean="0">
              <a:latin typeface="Gill Sans"/>
            </a:endParaRPr>
          </a:p>
          <a:p>
            <a:r>
              <a:rPr lang="en-US" smtClean="0">
                <a:latin typeface="Gill Sans"/>
              </a:rPr>
              <a:t>UPS’s key strengths are one controlled, unified global network to meet the demands that are most relevant in the industry such as: </a:t>
            </a:r>
          </a:p>
          <a:p>
            <a:pPr lvl="1"/>
            <a:r>
              <a:rPr lang="en-US" smtClean="0">
                <a:latin typeface="Gill Sans"/>
              </a:rPr>
              <a:t>Controlled transportation solutions to ensure product integrity </a:t>
            </a:r>
          </a:p>
          <a:p>
            <a:pPr lvl="1"/>
            <a:r>
              <a:rPr lang="en-US" smtClean="0">
                <a:latin typeface="Gill Sans"/>
              </a:rPr>
              <a:t>One technology platform which allows for seamless and fast data for tracking product</a:t>
            </a:r>
          </a:p>
          <a:p>
            <a:pPr lvl="1"/>
            <a:r>
              <a:rPr lang="en-US" smtClean="0">
                <a:latin typeface="Gill Sans"/>
              </a:rPr>
              <a:t>One consistent approach to international regulatory affairs and compliance</a:t>
            </a:r>
          </a:p>
          <a:p>
            <a:pPr lvl="1"/>
            <a:r>
              <a:rPr lang="en-US" smtClean="0">
                <a:latin typeface="Gill Sans"/>
              </a:rPr>
              <a:t>One consistent approach to service and performance KPIs which UPS customers are being measured against</a:t>
            </a:r>
          </a:p>
        </p:txBody>
      </p:sp>
      <p:sp>
        <p:nvSpPr>
          <p:cNvPr id="192515" name="Slide Number Placeholder 3"/>
          <p:cNvSpPr txBox="1">
            <a:spLocks noGrp="1"/>
          </p:cNvSpPr>
          <p:nvPr/>
        </p:nvSpPr>
        <p:spPr bwMode="auto">
          <a:xfrm>
            <a:off x="388620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16" tIns="44858" rIns="89716" bIns="44858" anchor="b"/>
          <a:lstStyle/>
          <a:p>
            <a:pPr algn="r" defTabSz="895350"/>
            <a:fld id="{FAB900A3-6CF9-4DD9-8350-1F0E659952FA}" type="slidenum">
              <a:rPr lang="en-US" sz="1200">
                <a:solidFill>
                  <a:schemeClr val="tx1"/>
                </a:solidFill>
                <a:sym typeface="Arial" charset="0"/>
              </a:rPr>
              <a:pPr algn="r" defTabSz="895350"/>
              <a:t>9</a:t>
            </a:fld>
            <a:endParaRPr lang="en-US" sz="1200">
              <a:solidFill>
                <a:schemeClr val="tx1"/>
              </a:solidFill>
              <a:sym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55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3662BA-E33F-4C66-BC63-A95501686A6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76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905CFD-C6FB-4438-AD9F-B9C85DD7362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968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96C278-9C14-4AE3-8919-AE068A4106A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173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AC18B0-E3E5-4F97-8A69-786E37F3FDCD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37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5D2816-A4A2-45FA-BDD6-D2A5496153F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58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46B91B-2967-4B76-957C-89023C021C0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787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C75389-57B9-4060-BAFA-E73A12710CE8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99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8DECF6-B396-4F37-9176-087012CC18E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6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197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31C051-6E01-47E4-9CC5-9AC6AB4B51F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40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CFFB13-77FA-44A9-A11C-85B19C79D7E0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60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6016E1-0399-41EA-B9BA-2569F5AC2F50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8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77F445-9521-43E7-8F77-434B2995662F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016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E39D3B-532B-4DCB-A6B9-B400675668B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22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18C327F-383E-4973-937B-5CC00A201317}" type="slidenum">
              <a:rPr lang="en-US" sz="1200">
                <a:solidFill>
                  <a:schemeClr val="tx1"/>
                </a:solidFill>
                <a:latin typeface="Gill Sans"/>
                <a:ea typeface="MS PGothic" pitchFamily="34" charset="-128"/>
                <a:cs typeface="+mn-cs"/>
              </a:rPr>
              <a:pPr algn="r">
                <a:defRPr/>
              </a:pPr>
              <a:t>24</a:t>
            </a:fld>
            <a:endParaRPr lang="en-US" sz="1200" dirty="0">
              <a:solidFill>
                <a:schemeClr val="tx1"/>
              </a:solidFill>
              <a:latin typeface="Gill Sans"/>
              <a:ea typeface="MS PGothic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30738" cy="3473450"/>
          </a:xfrm>
          <a:ln/>
        </p:spPr>
      </p:sp>
      <p:sp>
        <p:nvSpPr>
          <p:cNvPr id="2252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29" name="Rectangle 7"/>
          <p:cNvSpPr txBox="1">
            <a:spLocks noGrp="1" noChangeArrowheads="1"/>
          </p:cNvSpPr>
          <p:nvPr/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1" tIns="46586" rIns="93171" bIns="46586" anchor="b"/>
          <a:lstStyle/>
          <a:p>
            <a:pPr algn="r" defTabSz="930275"/>
            <a:fld id="{7D558CEC-3349-4CAE-9324-7B93685192B2}" type="slidenum">
              <a:rPr lang="en-US" sz="1200">
                <a:solidFill>
                  <a:schemeClr val="tx1"/>
                </a:solidFill>
              </a:rPr>
              <a:pPr algn="r" defTabSz="930275"/>
              <a:t>28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48200" cy="3486150"/>
          </a:xfrm>
          <a:solidFill>
            <a:srgbClr val="FFFFFF"/>
          </a:solidFill>
          <a:ln/>
        </p:spPr>
      </p:sp>
      <p:sp>
        <p:nvSpPr>
          <p:cNvPr id="227331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7" name="Rectangle 7"/>
          <p:cNvSpPr txBox="1">
            <a:spLocks noGrp="1" noChangeArrowheads="1"/>
          </p:cNvSpPr>
          <p:nvPr/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1" tIns="46586" rIns="93171" bIns="46586" anchor="b"/>
          <a:lstStyle/>
          <a:p>
            <a:pPr algn="r" defTabSz="930275"/>
            <a:fld id="{D02FEB69-1B30-4DBE-8E96-AF1DBBC8FD8F}" type="slidenum">
              <a:rPr lang="en-US" sz="1200">
                <a:solidFill>
                  <a:schemeClr val="tx1"/>
                </a:solidFill>
              </a:rPr>
              <a:pPr algn="r" defTabSz="930275"/>
              <a:t>29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48200" cy="3486150"/>
          </a:xfrm>
          <a:solidFill>
            <a:srgbClr val="FFFFFF"/>
          </a:solidFill>
          <a:ln/>
        </p:spPr>
      </p:sp>
      <p:sp>
        <p:nvSpPr>
          <p:cNvPr id="229379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Gill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449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23449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A6CB7D1-EC39-44E6-BF3D-DFF3F2E2E4FD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/>
              <a:t>32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654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23654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1D25915-3A9A-4AD0-9C6F-D41AAAAF5E51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/>
              <a:t>33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859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>
                <a:latin typeface="Gill Sans"/>
              </a:rPr>
              <a:t>Q1 2013 had 459 Air Freight shipments. The average for the other 3 Quarters is 233.</a:t>
            </a:r>
            <a:endParaRPr lang="en-US" smtClean="0">
              <a:latin typeface="Gill Sans"/>
            </a:endParaRPr>
          </a:p>
          <a:p>
            <a:endParaRPr lang="en-US" smtClean="0">
              <a:latin typeface="Gill Sans"/>
            </a:endParaRPr>
          </a:p>
          <a:p>
            <a:r>
              <a:rPr lang="en-US" smtClean="0">
                <a:latin typeface="Gill Sans"/>
              </a:rPr>
              <a:t>Shipments		Spend			Weight</a:t>
            </a:r>
          </a:p>
          <a:p>
            <a:r>
              <a:rPr lang="en-US" smtClean="0">
                <a:latin typeface="Gill Sans"/>
              </a:rPr>
              <a:t>Q1 2012 – 5,238	Q1 2012 – $921,566.87		Q1 2012 – 4,879,671.0</a:t>
            </a:r>
          </a:p>
          <a:p>
            <a:r>
              <a:rPr lang="en-US" smtClean="0">
                <a:latin typeface="Gill Sans"/>
              </a:rPr>
              <a:t>Q2 2012 – 6,068	Q2 2012 - $1,108,863.47		Q2 2012 – 4,082,248.8</a:t>
            </a:r>
          </a:p>
          <a:p>
            <a:r>
              <a:rPr lang="en-US" smtClean="0">
                <a:latin typeface="Gill Sans"/>
              </a:rPr>
              <a:t>Q3 2012 – 5,704	Q3 2012 - $1,089,919.55		Q3 2012 – 4,477,558.8</a:t>
            </a:r>
          </a:p>
          <a:p>
            <a:r>
              <a:rPr lang="en-US" smtClean="0">
                <a:latin typeface="Gill Sans"/>
              </a:rPr>
              <a:t>Q4 2012 – 5,192	Q4 2012 - $1,234,230.89		Q4 2012 – 4,793,473.0	</a:t>
            </a:r>
          </a:p>
          <a:p>
            <a:r>
              <a:rPr lang="en-US" smtClean="0">
                <a:latin typeface="Gill Sans"/>
              </a:rPr>
              <a:t>Q1 2013 – 5,118	Q1 2013 - $1,321,882.94		Q1 2013 – 4,371,474.3</a:t>
            </a:r>
          </a:p>
          <a:p>
            <a:r>
              <a:rPr lang="en-US" smtClean="0">
                <a:latin typeface="Gill Sans"/>
              </a:rPr>
              <a:t>Q2 2013 – 6,175	Q2 2013 - $1,067,759.07		Q2 2013 – 4,416,233.7</a:t>
            </a:r>
          </a:p>
          <a:p>
            <a:r>
              <a:rPr lang="en-US" smtClean="0">
                <a:latin typeface="Gill Sans"/>
              </a:rPr>
              <a:t>Q3 2013 – 5,844	Q3 2013 - $970,582.52		Q3 2013 – 3,369,284.1</a:t>
            </a:r>
          </a:p>
          <a:p>
            <a:r>
              <a:rPr lang="en-US" smtClean="0">
                <a:latin typeface="Gill Sans"/>
              </a:rPr>
              <a:t>Q4 2012 – 5,709	Q4 2013 - $895,387.87		Q4 2013 – 3,553,628.4</a:t>
            </a:r>
          </a:p>
          <a:p>
            <a:endParaRPr lang="en-US" smtClean="0">
              <a:latin typeface="Gill Sans"/>
            </a:endParaRPr>
          </a:p>
          <a:p>
            <a:r>
              <a:rPr lang="en-US" smtClean="0">
                <a:latin typeface="Gill Sans"/>
              </a:rPr>
              <a:t>$/Shipment		$/lb			lb/Shipment</a:t>
            </a:r>
          </a:p>
          <a:p>
            <a:r>
              <a:rPr lang="en-US" smtClean="0">
                <a:latin typeface="Gill Sans"/>
              </a:rPr>
              <a:t>Q1 2012 - $175.94	Q1 2012 - $0.19		Q1 2012 – 931.6</a:t>
            </a:r>
          </a:p>
          <a:p>
            <a:r>
              <a:rPr lang="en-US" smtClean="0">
                <a:latin typeface="Gill Sans"/>
              </a:rPr>
              <a:t>Q2 2012 - $182.74	Q2 2012 - $0.28		Q2 2012 – 663.9</a:t>
            </a:r>
          </a:p>
          <a:p>
            <a:r>
              <a:rPr lang="en-US" smtClean="0">
                <a:latin typeface="Gill Sans"/>
              </a:rPr>
              <a:t>Q3 2012 - $191.08	Q3 2012 - $0.24		Q3 2012 – 785.0	</a:t>
            </a:r>
          </a:p>
          <a:p>
            <a:r>
              <a:rPr lang="en-US" smtClean="0">
                <a:latin typeface="Gill Sans"/>
              </a:rPr>
              <a:t>Q4 2012 - $237.72	Q4 2012 - $0.26		Q4 2012 – 923.2 	</a:t>
            </a:r>
          </a:p>
          <a:p>
            <a:r>
              <a:rPr lang="en-US" smtClean="0">
                <a:latin typeface="Gill Sans"/>
              </a:rPr>
              <a:t>Q1 2013 - $258.28	Q1 2013 - $0.30		Q1 2013 – 854.1</a:t>
            </a:r>
          </a:p>
          <a:p>
            <a:r>
              <a:rPr lang="en-US" smtClean="0">
                <a:latin typeface="Gill Sans"/>
              </a:rPr>
              <a:t>Q2 2013 - $172.92	Q2-2013 - $0.24		Q2 2013 – 715.2</a:t>
            </a:r>
          </a:p>
          <a:p>
            <a:r>
              <a:rPr lang="en-US" smtClean="0">
                <a:latin typeface="Gill Sans"/>
              </a:rPr>
              <a:t>Q3 2013 - $166.08	Q3 2013 - $0.29		Q3 2013 – 576.5</a:t>
            </a:r>
          </a:p>
          <a:p>
            <a:r>
              <a:rPr lang="en-US" smtClean="0">
                <a:latin typeface="Gill Sans"/>
              </a:rPr>
              <a:t>Q4 2013 - $156.84	Q4-2013 - $0.25		Q4 2013 – 622.5</a:t>
            </a:r>
          </a:p>
          <a:p>
            <a:r>
              <a:rPr lang="en-US" smtClean="0">
                <a:latin typeface="Gill Sans"/>
              </a:rPr>
              <a:t>	</a:t>
            </a:r>
          </a:p>
        </p:txBody>
      </p:sp>
      <p:sp>
        <p:nvSpPr>
          <p:cNvPr id="23859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98E9257-7A0E-41BF-9886-0093AE7F94C3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/>
              <a:t>34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064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Gill Sans"/>
              </a:rPr>
              <a:t>Memphis had 20,000 shipments is 2013 compared to the 2,000 that Harrisburg had causing the possibility for late shipments to be much greater for Memphis. </a:t>
            </a:r>
          </a:p>
          <a:p>
            <a:endParaRPr lang="en-US" smtClean="0">
              <a:latin typeface="Gill Sans"/>
            </a:endParaRPr>
          </a:p>
          <a:p>
            <a:r>
              <a:rPr lang="en-US" smtClean="0">
                <a:latin typeface="Gill Sans"/>
              </a:rPr>
              <a:t>55 Late shipments Memphis – 30 Small Pack (left at UPS facility, flight/train delays), 14 UPS Freight (mostly breakdowns), 11 Air Freight (bumped shipments)</a:t>
            </a:r>
          </a:p>
          <a:p>
            <a:r>
              <a:rPr lang="en-US" smtClean="0">
                <a:latin typeface="Gill Sans"/>
              </a:rPr>
              <a:t>2 Late shipments Harrisburg – Both UPS Freight (breakdown and missed appointment)</a:t>
            </a:r>
          </a:p>
        </p:txBody>
      </p:sp>
      <p:sp>
        <p:nvSpPr>
          <p:cNvPr id="24064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BEC51CA-1C9A-4486-99D7-0DD91D4B9C78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/>
              <a:t>35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8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D016D01-FE53-4562-BE1C-730E9D003129}" type="slidenum">
              <a:rPr lang="en-US" sz="1200">
                <a:solidFill>
                  <a:schemeClr val="tx1"/>
                </a:solidFill>
              </a:rPr>
              <a:pPr algn="r"/>
              <a:t>36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</p:spPr>
        <p:txBody>
          <a:bodyPr/>
          <a:lstStyle/>
          <a:p>
            <a:r>
              <a:rPr lang="en-US" smtClean="0">
                <a:latin typeface="Gill Sans"/>
              </a:rPr>
              <a:t>Shipments		Spend			$/lb	</a:t>
            </a:r>
          </a:p>
          <a:p>
            <a:r>
              <a:rPr lang="en-US" smtClean="0">
                <a:latin typeface="Gill Sans"/>
              </a:rPr>
              <a:t>Q1 2012 – 5,238	Q1 2012 – $921,566.87		Q1 2012 - $0.19	</a:t>
            </a:r>
          </a:p>
          <a:p>
            <a:r>
              <a:rPr lang="en-US" smtClean="0">
                <a:latin typeface="Gill Sans"/>
              </a:rPr>
              <a:t>Q2 2012 – 6,068	Q2 2012 - $1,108,863.47		Q2 2012 - $0.28	</a:t>
            </a:r>
          </a:p>
          <a:p>
            <a:r>
              <a:rPr lang="en-US" smtClean="0">
                <a:latin typeface="Gill Sans"/>
              </a:rPr>
              <a:t>Q3 2012 – 5,704	Q3 2012 - $1,089,919.55		Q3 2012 - $0.24		</a:t>
            </a:r>
          </a:p>
          <a:p>
            <a:r>
              <a:rPr lang="en-US" smtClean="0">
                <a:latin typeface="Gill Sans"/>
              </a:rPr>
              <a:t>Q4 2012 – 5,192	Q4 2012 - $1,234,230.89		Q4 2012 - $0.26		</a:t>
            </a:r>
          </a:p>
          <a:p>
            <a:r>
              <a:rPr lang="en-US" smtClean="0">
                <a:latin typeface="Gill Sans"/>
              </a:rPr>
              <a:t>Q1 2013 – 5,118	Q1 2013 - $1,321,882.94		Q1 2013 - $0.30	</a:t>
            </a:r>
          </a:p>
          <a:p>
            <a:r>
              <a:rPr lang="en-US" smtClean="0">
                <a:latin typeface="Gill Sans"/>
              </a:rPr>
              <a:t>Q2 2013 – 6,175	Q2 2013 - $1,067,759.07		Q2-2013 - $0.24</a:t>
            </a:r>
          </a:p>
          <a:p>
            <a:r>
              <a:rPr lang="en-US" smtClean="0">
                <a:latin typeface="Gill Sans"/>
              </a:rPr>
              <a:t>Q3 2013 – 5,844	Q3 2013 - $970,582.52		Q3 2013 - $0.29</a:t>
            </a:r>
          </a:p>
          <a:p>
            <a:r>
              <a:rPr lang="en-US" smtClean="0">
                <a:latin typeface="Gill Sans"/>
              </a:rPr>
              <a:t>Q4 2012 – 5,709	Q4 2013 - $895,387.87		Q4-2013 - $0.25</a:t>
            </a:r>
          </a:p>
          <a:p>
            <a:endParaRPr lang="en-US" smtClean="0">
              <a:latin typeface="Gill Sans"/>
            </a:endParaRPr>
          </a:p>
          <a:p>
            <a:r>
              <a:rPr lang="en-US" smtClean="0">
                <a:latin typeface="Gill Sans"/>
              </a:rPr>
              <a:t>		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8880068-1C9D-4462-90B7-584858759204}" type="slidenum">
              <a:rPr lang="en-US" sz="1200">
                <a:solidFill>
                  <a:schemeClr val="tx1"/>
                </a:solidFill>
              </a:rPr>
              <a:pPr algn="r"/>
              <a:t>37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</p:spPr>
        <p:txBody>
          <a:bodyPr/>
          <a:lstStyle/>
          <a:p>
            <a:r>
              <a:rPr lang="en-US" smtClean="0">
                <a:latin typeface="Gill Sans"/>
              </a:rPr>
              <a:t>Shipments		Spend			$/lb</a:t>
            </a:r>
          </a:p>
          <a:p>
            <a:r>
              <a:rPr lang="en-US" smtClean="0">
                <a:latin typeface="Gill Sans"/>
              </a:rPr>
              <a:t>Q1 2012 -  4,942 	Q1 2012 - $830,868.88 		Q1 2012 - $0.24 </a:t>
            </a:r>
          </a:p>
          <a:p>
            <a:r>
              <a:rPr lang="en-US" smtClean="0">
                <a:latin typeface="Gill Sans"/>
              </a:rPr>
              <a:t>Q2 2012 -  5,591 	Q2 2012 - $1,032,646.97 		Q2 2012 - $0.37 </a:t>
            </a:r>
          </a:p>
          <a:p>
            <a:r>
              <a:rPr lang="en-US" smtClean="0">
                <a:latin typeface="Gill Sans"/>
              </a:rPr>
              <a:t>Q3 2012 -  5,392 	Q3 2012 - $1,011,554.44 		Q3 2012 - $0.31 </a:t>
            </a:r>
          </a:p>
          <a:p>
            <a:r>
              <a:rPr lang="en-US" smtClean="0">
                <a:latin typeface="Gill Sans"/>
              </a:rPr>
              <a:t>Q4 2012 -  4,902 	Q4 2012 - $1,146,354.91 		Q4 2012 - $0.36 </a:t>
            </a:r>
          </a:p>
          <a:p>
            <a:r>
              <a:rPr lang="en-US" smtClean="0">
                <a:latin typeface="Gill Sans"/>
              </a:rPr>
              <a:t>Q1 2013 -  4,769 	Q1 2013 - $1,245,092.70 		Q1 2013 - $0.39 </a:t>
            </a:r>
          </a:p>
          <a:p>
            <a:r>
              <a:rPr lang="en-US" smtClean="0">
                <a:latin typeface="Gill Sans"/>
              </a:rPr>
              <a:t>Q2 2013 -  5,330 	Q2 2013 - $989,106.99 		Q2 2013 - $0.30 </a:t>
            </a:r>
          </a:p>
          <a:p>
            <a:r>
              <a:rPr lang="en-US" smtClean="0">
                <a:latin typeface="Gill Sans"/>
              </a:rPr>
              <a:t>Q3 2013 -  5,119 	Q3 2013 - $857,026.30 		Q3 2013 - $0.34 </a:t>
            </a:r>
          </a:p>
          <a:p>
            <a:r>
              <a:rPr lang="en-US" smtClean="0">
                <a:latin typeface="Gill Sans"/>
              </a:rPr>
              <a:t>Q4 2013 -  4,997 	Q4 2013 - $806,687.56 		Q4 2013 - $0.36 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68A4034-91E1-4E43-BCD8-790DFEC662ED}" type="slidenum">
              <a:rPr lang="en-US" sz="1200">
                <a:solidFill>
                  <a:schemeClr val="tx1"/>
                </a:solidFill>
              </a:rPr>
              <a:pPr algn="r"/>
              <a:t>38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</p:spPr>
        <p:txBody>
          <a:bodyPr/>
          <a:lstStyle/>
          <a:p>
            <a:r>
              <a:rPr lang="en-US" b="1" smtClean="0">
                <a:latin typeface="Gill Sans"/>
              </a:rPr>
              <a:t>Q3 had 11 Air Freight Shipments vs. an average of 2 per Quarter. </a:t>
            </a:r>
          </a:p>
          <a:p>
            <a:endParaRPr lang="en-US" smtClean="0">
              <a:latin typeface="Gill Sans"/>
            </a:endParaRPr>
          </a:p>
          <a:p>
            <a:r>
              <a:rPr lang="en-US" smtClean="0">
                <a:latin typeface="Gill Sans"/>
              </a:rPr>
              <a:t>Shipments		Spend			$/lb</a:t>
            </a:r>
          </a:p>
          <a:p>
            <a:r>
              <a:rPr lang="en-US" smtClean="0">
                <a:latin typeface="Gill Sans"/>
              </a:rPr>
              <a:t>Q1 2012 -  296 	Q1 2012 - $90,697.99 		Q1 2012 - $0.07 </a:t>
            </a:r>
          </a:p>
          <a:p>
            <a:r>
              <a:rPr lang="en-US" smtClean="0">
                <a:latin typeface="Gill Sans"/>
              </a:rPr>
              <a:t>Q2 2012 -  477 	Q2 2012 - $76,216.50 		Q2 2012 - $0.06 </a:t>
            </a:r>
          </a:p>
          <a:p>
            <a:r>
              <a:rPr lang="en-US" smtClean="0">
                <a:latin typeface="Gill Sans"/>
              </a:rPr>
              <a:t>Q3 2012 -  312 	Q3 2012 - $78,365.11 		Q3 2012 - $0.06 </a:t>
            </a:r>
          </a:p>
          <a:p>
            <a:r>
              <a:rPr lang="en-US" smtClean="0">
                <a:latin typeface="Gill Sans"/>
              </a:rPr>
              <a:t>Q4 2012 -  290 	Q4 2012 - $87,875.98 		Q4 2012 - $0.05 </a:t>
            </a:r>
          </a:p>
          <a:p>
            <a:r>
              <a:rPr lang="en-US" smtClean="0">
                <a:latin typeface="Gill Sans"/>
              </a:rPr>
              <a:t>Q1 2013 -  349 	Q1 2013 - $76,790.24 		Q1 2013 - $0.07 </a:t>
            </a:r>
          </a:p>
          <a:p>
            <a:r>
              <a:rPr lang="en-US" smtClean="0">
                <a:latin typeface="Gill Sans"/>
              </a:rPr>
              <a:t>Q2 2013 -  845 	Q2 2013 - $78,655.08 		Q2 2013 - $0.07 </a:t>
            </a:r>
          </a:p>
          <a:p>
            <a:r>
              <a:rPr lang="en-US" smtClean="0">
                <a:latin typeface="Gill Sans"/>
              </a:rPr>
              <a:t>Q3 2013 -  725 	Q3 2013 - $95,525.96 		Q3 2013 - $0.12 </a:t>
            </a:r>
          </a:p>
          <a:p>
            <a:r>
              <a:rPr lang="en-US" smtClean="0">
                <a:latin typeface="Gill Sans"/>
              </a:rPr>
              <a:t>Q4 2013 -  710 	Q4 2013 - $84,596.34 		Q4 2013 - $0.07 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88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>
                <a:latin typeface="Gill Sans"/>
              </a:rPr>
              <a:t>All 5 Damages in July are UPS Freight. 3 out of the 5 were shipped to ABC in Kansas City,  MO.</a:t>
            </a:r>
          </a:p>
          <a:p>
            <a:endParaRPr lang="en-US" smtClean="0">
              <a:latin typeface="Gill Sans"/>
            </a:endParaRPr>
          </a:p>
          <a:p>
            <a:r>
              <a:rPr lang="en-US" smtClean="0">
                <a:latin typeface="Gill Sans"/>
              </a:rPr>
              <a:t>6 damages – Harrisburg</a:t>
            </a:r>
          </a:p>
          <a:p>
            <a:r>
              <a:rPr lang="en-US" smtClean="0">
                <a:latin typeface="Gill Sans"/>
              </a:rPr>
              <a:t>10 damages – Memphis</a:t>
            </a:r>
          </a:p>
          <a:p>
            <a:r>
              <a:rPr lang="en-US" smtClean="0">
                <a:latin typeface="Gill Sans"/>
              </a:rPr>
              <a:t>6 Short/Lost – Memphis</a:t>
            </a:r>
          </a:p>
          <a:p>
            <a:endParaRPr lang="en-US" smtClean="0">
              <a:latin typeface="Gill Sans"/>
            </a:endParaRPr>
          </a:p>
          <a:p>
            <a:endParaRPr lang="en-US" smtClean="0">
              <a:latin typeface="Gill Sans"/>
            </a:endParaRPr>
          </a:p>
        </p:txBody>
      </p:sp>
      <p:sp>
        <p:nvSpPr>
          <p:cNvPr id="24883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1DA0A28-0189-48DA-AD96-03169F619156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/>
              <a:t>39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088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Gill Sans"/>
              </a:rPr>
              <a:t>13 Breakdown – 8 of those only delivered one day late</a:t>
            </a:r>
          </a:p>
          <a:p>
            <a:r>
              <a:rPr lang="en-US" smtClean="0">
                <a:latin typeface="Gill Sans"/>
              </a:rPr>
              <a:t>128 Uncontrollable – 123 of those were weather exceptions. The other 5 were train derailments.</a:t>
            </a:r>
          </a:p>
          <a:p>
            <a:r>
              <a:rPr lang="en-US" smtClean="0">
                <a:latin typeface="Gill Sans"/>
              </a:rPr>
              <a:t>3 Refused </a:t>
            </a:r>
          </a:p>
          <a:p>
            <a:r>
              <a:rPr lang="en-US" smtClean="0">
                <a:latin typeface="Gill Sans"/>
              </a:rPr>
              <a:t>17 Damages</a:t>
            </a:r>
          </a:p>
          <a:p>
            <a:r>
              <a:rPr lang="en-US" smtClean="0">
                <a:latin typeface="Gill Sans"/>
              </a:rPr>
              <a:t>126 Documents – 101 were Hazmat issues, 6 address issues, 19 Commercial Invoice issues. </a:t>
            </a:r>
          </a:p>
          <a:p>
            <a:r>
              <a:rPr lang="en-US" smtClean="0">
                <a:latin typeface="Gill Sans"/>
              </a:rPr>
              <a:t>6 Short/Lost</a:t>
            </a:r>
          </a:p>
          <a:p>
            <a:r>
              <a:rPr lang="en-US" smtClean="0">
                <a:latin typeface="Gill Sans"/>
              </a:rPr>
              <a:t>44 Carrier Delayed – 2 missed appointments, 2 lost/found, 5 late train/plane, 15 left at facility, 10 bumped air freight, 10 late due to carrier error</a:t>
            </a:r>
          </a:p>
          <a:p>
            <a:endParaRPr lang="en-US" smtClean="0">
              <a:latin typeface="Gill Sans"/>
            </a:endParaRPr>
          </a:p>
          <a:p>
            <a:endParaRPr lang="en-US" smtClean="0">
              <a:latin typeface="Gill Sans"/>
            </a:endParaRPr>
          </a:p>
        </p:txBody>
      </p:sp>
      <p:sp>
        <p:nvSpPr>
          <p:cNvPr id="25088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D8FDE43-9F31-42AD-B501-A18607359197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/>
              <a:t>40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2529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23000"/>
            <a:ext cx="928688" cy="357188"/>
          </a:xfrm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49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25497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647ADF9-7210-4E72-B085-91BE03D1DDDC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/>
              <a:t>42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5" name="Rectangle 7"/>
          <p:cNvSpPr txBox="1">
            <a:spLocks noGrp="1" noChangeArrowheads="1"/>
          </p:cNvSpPr>
          <p:nvPr/>
        </p:nvSpPr>
        <p:spPr bwMode="auto">
          <a:xfrm>
            <a:off x="3778250" y="9285288"/>
            <a:ext cx="28892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813" tIns="47907" rIns="95813" bIns="47907" anchor="b"/>
          <a:lstStyle/>
          <a:p>
            <a:pPr algn="r" defTabSz="958850"/>
            <a:fld id="{F6649BEA-14B2-4971-A426-638A51111855}" type="slidenum">
              <a:rPr lang="en-US" sz="1200">
                <a:solidFill>
                  <a:schemeClr val="tx1"/>
                </a:solidFill>
                <a:latin typeface="Gill Sans"/>
              </a:rPr>
              <a:pPr algn="r" defTabSz="958850"/>
              <a:t>43</a:t>
            </a:fld>
            <a:endParaRPr lang="en-US" sz="1200">
              <a:solidFill>
                <a:schemeClr val="tx1"/>
              </a:solidFill>
              <a:latin typeface="Gill Sans"/>
            </a:endParaRPr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4641850"/>
            <a:ext cx="4897438" cy="277813"/>
          </a:xfrm>
          <a:noFill/>
          <a:ln/>
        </p:spPr>
        <p:txBody>
          <a:bodyPr lIns="95813" tIns="47907" rIns="95813" bIns="47907">
            <a:spAutoFit/>
          </a:bodyPr>
          <a:lstStyle/>
          <a:p>
            <a:r>
              <a:rPr lang="en-US" smtClean="0">
                <a:latin typeface="Arial" charset="0"/>
              </a:rPr>
              <a:t>  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6938" y="735013"/>
            <a:ext cx="4883150" cy="3662362"/>
          </a:xfrm>
          <a:ln/>
        </p:spPr>
      </p:sp>
      <p:sp>
        <p:nvSpPr>
          <p:cNvPr id="262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643438"/>
            <a:ext cx="4891088" cy="4398962"/>
          </a:xfrm>
          <a:noFill/>
          <a:ln/>
        </p:spPr>
        <p:txBody>
          <a:bodyPr lIns="91355" tIns="45678" rIns="91355" bIns="45678"/>
          <a:lstStyle/>
          <a:p>
            <a:pPr>
              <a:lnSpc>
                <a:spcPct val="90000"/>
              </a:lnSpc>
            </a:pPr>
            <a:endParaRPr lang="en-US" sz="60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6938" y="735013"/>
            <a:ext cx="4883150" cy="3662362"/>
          </a:xfrm>
          <a:ln/>
        </p:spPr>
      </p:sp>
      <p:sp>
        <p:nvSpPr>
          <p:cNvPr id="267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643438"/>
            <a:ext cx="4891088" cy="4398962"/>
          </a:xfrm>
          <a:noFill/>
          <a:ln/>
        </p:spPr>
        <p:txBody>
          <a:bodyPr lIns="91355" tIns="45678" rIns="91355" bIns="45678"/>
          <a:lstStyle/>
          <a:p>
            <a:pPr>
              <a:lnSpc>
                <a:spcPct val="90000"/>
              </a:lnSpc>
            </a:pPr>
            <a:endParaRPr lang="en-US" sz="600" smtClean="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600" smtClean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sz="600" b="1" u="sng" smtClean="0">
                <a:latin typeface="Arial" charset="0"/>
              </a:rPr>
              <a:t>Feb</a:t>
            </a:r>
            <a:r>
              <a:rPr lang="en-US" sz="600" smtClean="0">
                <a:latin typeface="Arial" charset="0"/>
              </a:rPr>
              <a:t> – Late shipment  - ABC Honolulu, HI  received product as 2</a:t>
            </a:r>
            <a:r>
              <a:rPr lang="en-US" sz="600" baseline="30000" smtClean="0">
                <a:latin typeface="Arial" charset="0"/>
              </a:rPr>
              <a:t>nd</a:t>
            </a:r>
            <a:r>
              <a:rPr lang="en-US" sz="600" smtClean="0">
                <a:latin typeface="Arial" charset="0"/>
              </a:rPr>
              <a:t> day air should have gone NDA.</a:t>
            </a:r>
          </a:p>
          <a:p>
            <a:pPr>
              <a:lnSpc>
                <a:spcPct val="90000"/>
              </a:lnSpc>
            </a:pPr>
            <a:r>
              <a:rPr lang="en-US" sz="600" b="1" u="sng" smtClean="0">
                <a:latin typeface="Arial" charset="0"/>
              </a:rPr>
              <a:t>May</a:t>
            </a:r>
            <a:r>
              <a:rPr lang="en-US" sz="600" smtClean="0">
                <a:latin typeface="Arial" charset="0"/>
              </a:rPr>
              <a:t>  </a:t>
            </a:r>
          </a:p>
          <a:p>
            <a:pPr>
              <a:lnSpc>
                <a:spcPct val="90000"/>
              </a:lnSpc>
            </a:pPr>
            <a:r>
              <a:rPr lang="en-US" sz="600" smtClean="0">
                <a:latin typeface="Arial" charset="0"/>
              </a:rPr>
              <a:t>1.) ABC – Bethlehem, PA. –short ship 48 pcs/Endocet. Pieces went to McKesson/ overage</a:t>
            </a:r>
          </a:p>
          <a:p>
            <a:pPr>
              <a:lnSpc>
                <a:spcPct val="90000"/>
              </a:lnSpc>
            </a:pPr>
            <a:r>
              <a:rPr lang="en-US" sz="600" smtClean="0">
                <a:latin typeface="Arial" charset="0"/>
              </a:rPr>
              <a:t>2.) Valley Wholesale – Stockton, CA – received shipment for Value Drugs – Altoona, Pa – incorrect address. Shipment was re-routed to correct customer.</a:t>
            </a:r>
          </a:p>
          <a:p>
            <a:pPr>
              <a:lnSpc>
                <a:spcPct val="90000"/>
              </a:lnSpc>
            </a:pPr>
            <a:r>
              <a:rPr lang="en-US" sz="600" smtClean="0">
                <a:latin typeface="Arial" charset="0"/>
              </a:rPr>
              <a:t>3.) Drogueria Borschow Hospital &amp; Medical Supply San Juan, PR. – Shipped to incorrect location. Address error on warehouse level. Product picked up and delivered to correct location.</a:t>
            </a:r>
          </a:p>
          <a:p>
            <a:pPr>
              <a:lnSpc>
                <a:spcPct val="90000"/>
              </a:lnSpc>
            </a:pPr>
            <a:r>
              <a:rPr lang="en-US" sz="600" b="1" u="sng" smtClean="0">
                <a:latin typeface="Arial" charset="0"/>
              </a:rPr>
              <a:t>July</a:t>
            </a:r>
            <a:r>
              <a:rPr lang="en-US" sz="600" smtClean="0">
                <a:latin typeface="Arial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600" smtClean="0">
                <a:latin typeface="Arial" charset="0"/>
              </a:rPr>
              <a:t>1.) Morris &amp; Dickson – Shreveport, LA.- Morphine – 24 pcs incorrect shipped to ABC – Thorofare, NJ. ABC – Thorofare refused shipment and returned to Memphis. Credit issued to M&amp; D Shreveport, LA</a:t>
            </a:r>
          </a:p>
          <a:p>
            <a:pPr>
              <a:lnSpc>
                <a:spcPct val="90000"/>
              </a:lnSpc>
            </a:pPr>
            <a:r>
              <a:rPr lang="en-US" sz="600" smtClean="0">
                <a:latin typeface="Arial" charset="0"/>
              </a:rPr>
              <a:t>2.)ABC Bethlehem, PA short shipped 48 pcs Endocet / 48 pcs received at McKesson Overage processed to McKesson and shortage credit to ABC Bethlehem, PA.</a:t>
            </a:r>
          </a:p>
          <a:p>
            <a:pPr>
              <a:lnSpc>
                <a:spcPct val="90000"/>
              </a:lnSpc>
            </a:pPr>
            <a:r>
              <a:rPr lang="en-US" sz="600" smtClean="0">
                <a:latin typeface="Arial" charset="0"/>
              </a:rPr>
              <a:t>3.) ABC Thorofare, NJ short 6 pcs Percocet. Investigation into possible pilferage of product. No shortages indicated and the MDC. Product tampering.</a:t>
            </a:r>
          </a:p>
          <a:p>
            <a:pPr>
              <a:lnSpc>
                <a:spcPct val="90000"/>
              </a:lnSpc>
            </a:pPr>
            <a:r>
              <a:rPr lang="en-US" sz="600" b="1" u="sng" smtClean="0">
                <a:latin typeface="Arial" charset="0"/>
              </a:rPr>
              <a:t>August</a:t>
            </a:r>
          </a:p>
          <a:p>
            <a:pPr>
              <a:lnSpc>
                <a:spcPct val="90000"/>
              </a:lnSpc>
            </a:pPr>
            <a:r>
              <a:rPr lang="en-US" sz="600" u="sng" smtClean="0">
                <a:latin typeface="Arial" charset="0"/>
              </a:rPr>
              <a:t>1.)  </a:t>
            </a:r>
            <a:r>
              <a:rPr lang="en-US" sz="600" smtClean="0">
                <a:latin typeface="Arial" charset="0"/>
              </a:rPr>
              <a:t>ABC Kansas City, MO. – received order that was not theirs. Should have been AMD- Amityville, NY – incorrect packing slip on outside of pallet. ABC Kansas opt to keep shipment.</a:t>
            </a:r>
          </a:p>
          <a:p>
            <a:pPr>
              <a:lnSpc>
                <a:spcPct val="90000"/>
              </a:lnSpc>
            </a:pPr>
            <a:r>
              <a:rPr lang="en-US" sz="600" u="sng" smtClean="0">
                <a:latin typeface="Arial" charset="0"/>
              </a:rPr>
              <a:t>2.)</a:t>
            </a:r>
            <a:r>
              <a:rPr lang="en-US" sz="600" smtClean="0">
                <a:latin typeface="Arial" charset="0"/>
              </a:rPr>
              <a:t>AMD-  did not receive order due to above to ABC Kansas, City, MO</a:t>
            </a:r>
          </a:p>
          <a:p>
            <a:pPr>
              <a:lnSpc>
                <a:spcPct val="90000"/>
              </a:lnSpc>
            </a:pPr>
            <a:r>
              <a:rPr lang="en-US" sz="600" smtClean="0">
                <a:latin typeface="Arial" charset="0"/>
              </a:rPr>
              <a:t>3.)</a:t>
            </a:r>
            <a:r>
              <a:rPr lang="en-US" sz="600" u="sng" smtClean="0">
                <a:latin typeface="Arial" charset="0"/>
              </a:rPr>
              <a:t> </a:t>
            </a:r>
            <a:r>
              <a:rPr lang="en-US" sz="600" smtClean="0">
                <a:latin typeface="Arial" charset="0"/>
              </a:rPr>
              <a:t>Miami- Luken – Springboro, OH – did not receive 216 pcs Lidoderm/1 each Moban- tracking information indicates “ no records found”. Claim file at UPS Freight.</a:t>
            </a:r>
          </a:p>
          <a:p>
            <a:pPr>
              <a:lnSpc>
                <a:spcPct val="90000"/>
              </a:lnSpc>
            </a:pPr>
            <a:endParaRPr lang="en-US" sz="600" smtClean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sz="700" b="1" smtClean="0">
                <a:latin typeface="Arial" charset="0"/>
              </a:rPr>
              <a:t>NOTE - All errors were reviewed with team. Training  and documentation was conducted and place in employee records.</a:t>
            </a:r>
          </a:p>
          <a:p>
            <a:pPr>
              <a:lnSpc>
                <a:spcPct val="90000"/>
              </a:lnSpc>
            </a:pPr>
            <a:endParaRPr lang="en-US" sz="700" b="1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93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2898E6-48D0-4D78-8B32-0132AA624329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4213"/>
            <a:ext cx="4573588" cy="3430587"/>
          </a:xfrm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6388"/>
          </a:xfrm>
          <a:noFill/>
          <a:ln/>
        </p:spPr>
        <p:txBody>
          <a:bodyPr/>
          <a:lstStyle/>
          <a:p>
            <a:endParaRPr lang="en-US" i="1" smtClean="0">
              <a:latin typeface="Gill San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7955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Gill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FCF609-C873-4D52-A605-CDC7D6844B17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ups_logo_logistics_v_cmyk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5108575"/>
            <a:ext cx="205740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5105400"/>
            <a:ext cx="7772400" cy="612775"/>
          </a:xfrm>
        </p:spPr>
        <p:txBody>
          <a:bodyPr/>
          <a:lstStyle>
            <a:lvl1pPr>
              <a:defRPr>
                <a:latin typeface="Arial" charset="0"/>
                <a:ea typeface="ＭＳ Ｐゴシック" charset="0"/>
              </a:defRPr>
            </a:lvl1pPr>
          </a:lstStyle>
          <a:p>
            <a:pPr lvl="0"/>
            <a:r>
              <a:rPr lang="en-US" noProof="0">
                <a:sym typeface="Trebuchet MS Bold" charset="0"/>
              </a:rPr>
              <a:t>Click to edit Master title style</a:t>
            </a:r>
          </a:p>
        </p:txBody>
      </p:sp>
      <p:sp>
        <p:nvSpPr>
          <p:cNvPr id="8499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715000"/>
            <a:ext cx="7086600" cy="533400"/>
          </a:xfrm>
        </p:spPr>
        <p:txBody>
          <a:bodyPr/>
          <a:lstStyle>
            <a:lvl1pPr marL="0" indent="0">
              <a:buFontTx/>
              <a:buNone/>
              <a:defRPr sz="2200">
                <a:latin typeface="Arial" charset="0"/>
                <a:ea typeface="ＭＳ Ｐゴシック" charset="0"/>
              </a:defRPr>
            </a:lvl1pPr>
          </a:lstStyle>
          <a:p>
            <a:pPr lvl="0"/>
            <a:r>
              <a:rPr lang="en-US" noProof="0">
                <a:sym typeface="Trebuchet MS" charset="0"/>
              </a:rPr>
              <a:t>Click to edit Master subtitle style</a:t>
            </a:r>
          </a:p>
        </p:txBody>
      </p:sp>
    </p:spTree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28713-5E34-43F3-B057-BB695587DB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2839641" cy="3350865"/>
          </a:xfrm>
        </p:spPr>
        <p:txBody>
          <a:bodyPr/>
          <a:lstStyle>
            <a:lvl1pPr>
              <a:defRPr sz="2000">
                <a:latin typeface="Arial"/>
                <a:cs typeface="Arial"/>
              </a:defRPr>
            </a:lvl1pPr>
            <a:lvl2pPr>
              <a:defRPr sz="1700">
                <a:latin typeface="Arial"/>
                <a:cs typeface="Arial"/>
              </a:defRPr>
            </a:lvl2pPr>
            <a:lvl3pPr>
              <a:defRPr sz="1400">
                <a:latin typeface="Arial"/>
                <a:cs typeface="Arial"/>
              </a:defRPr>
            </a:lvl3pPr>
            <a:lvl4pPr>
              <a:defRPr sz="1300">
                <a:latin typeface="Arial"/>
                <a:cs typeface="Arial"/>
              </a:defRPr>
            </a:lvl4pPr>
            <a:lvl5pPr>
              <a:defRPr sz="1300">
                <a:latin typeface="Arial"/>
                <a:cs typeface="Arial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51597" y="1371600"/>
            <a:ext cx="2839641" cy="3350865"/>
          </a:xfrm>
        </p:spPr>
        <p:txBody>
          <a:bodyPr/>
          <a:lstStyle>
            <a:lvl1pPr>
              <a:defRPr sz="2000">
                <a:latin typeface="Arial"/>
                <a:cs typeface="Arial"/>
              </a:defRPr>
            </a:lvl1pPr>
            <a:lvl2pPr>
              <a:defRPr sz="1700">
                <a:latin typeface="Arial"/>
                <a:cs typeface="Arial"/>
              </a:defRPr>
            </a:lvl2pPr>
            <a:lvl3pPr>
              <a:defRPr sz="1400">
                <a:latin typeface="Arial"/>
                <a:cs typeface="Arial"/>
              </a:defRPr>
            </a:lvl3pPr>
            <a:lvl4pPr>
              <a:defRPr sz="1300">
                <a:latin typeface="Arial"/>
                <a:cs typeface="Arial"/>
              </a:defRPr>
            </a:lvl4pPr>
            <a:lvl5pPr>
              <a:defRPr sz="1300">
                <a:latin typeface="Arial"/>
                <a:cs typeface="Arial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A03C4-660C-4137-9FDE-02F476936B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609" y="322585"/>
            <a:ext cx="5768578" cy="1061516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04800" y="1371600"/>
            <a:ext cx="5786438" cy="3350865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pPr lvl="0"/>
            <a:endParaRPr lang="en-US" noProof="0" dirty="0" smtClean="0">
              <a:sym typeface="Trebuchet MS" charset="0"/>
            </a:endParaRP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E39A6-9F08-4E8C-978E-6E2789C6F0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452E4-7DA6-45EB-A0E3-D3061AB2E1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22263"/>
            <a:ext cx="8383587" cy="10620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6D5A1-A362-4A5A-9C77-94EDC2336F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22263"/>
            <a:ext cx="8383587" cy="1062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304800" y="1371600"/>
            <a:ext cx="8382000" cy="4267200"/>
          </a:xfrm>
        </p:spPr>
        <p:txBody>
          <a:bodyPr/>
          <a:lstStyle/>
          <a:p>
            <a:pPr lvl="0"/>
            <a:endParaRPr lang="en-US" noProof="0">
              <a:sym typeface="Trebuchet MS" pitchFamily="34" charset="0"/>
            </a:endParaRP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EDA85-2AA2-4E24-83D1-C0272A97C8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BEE8F-1AA4-47D3-BBFB-C080EB25C3EB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12E41-9DAD-423C-A150-420A39675A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D3581-CAAB-4A3C-A150-FFD98A021ACF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5CCFF-226C-4A91-82DD-2EFF9E59B5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5C3DE-BB02-40A2-8912-9BDC849D0272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58A6E-CC0D-442A-B20F-850F78DA3E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DE1E6-C871-43FD-ABC2-DF43ECD0B248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0B5EA-53FF-48B3-A2F8-900FF6079C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0E742-62EC-4A27-8892-836408DD529B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31CBD-E92E-45FC-A62F-2FC23958F6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57021-F4FF-4E42-A263-03DF31043C84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FD5B2-C161-45A3-8598-A63388F3A9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FEA0-C4A8-44EE-90B9-FC057731C9B2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0E17C-E253-47A4-AFEE-680C0DB445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02171-BB41-48B8-BCF9-BDDC87DB6258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700F1-336B-486C-AC7E-A804E5FEFF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C09F4-77FD-479D-BB90-86CADED26085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7F4AF-483D-4E97-AB40-24349C571D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9A23D-292E-477C-AF0C-F27290B7B068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58622-F34F-42DD-A4B0-35FDF22FF8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C23C2-9D08-4C96-9C93-67E4D9DC9698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CABDE-098C-4584-93F5-0E4FC0851A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30099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7100" y="1371600"/>
            <a:ext cx="30099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Trebuchet MS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2095500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3213" y="304800"/>
            <a:ext cx="6135687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50E7F-13A3-4273-A56F-68A99BC48A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D785F-CA35-4C22-AADB-94530E9406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F96778-881A-49FE-A65E-F152B89D4C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148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371600"/>
            <a:ext cx="41148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36FEF-D299-4791-84C9-49A13E4B2D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1391A4-A28A-4F22-AA81-DEB661B39C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89EA4-9C69-4F5D-A433-62B728351C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F933B-F149-49FD-98BB-010BE40E39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C3823-8A9E-49EB-A075-382E359C5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46579-075A-472B-BE85-010A12B35F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62DFD-79CF-44EF-B2B0-79C710558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22263"/>
            <a:ext cx="2095500" cy="53165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3213" y="322263"/>
            <a:ext cx="6135687" cy="5316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8BC05-E999-42B0-874A-93D6A82866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UPS_PPT_template-01.png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3213" y="322263"/>
            <a:ext cx="8383587" cy="106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5687" tIns="35687" rIns="35687" bIns="356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rebuchet MS Bold" pitchFamily="34" charset="0"/>
              </a:rPr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382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4242" tIns="32119" rIns="64242" bIns="321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rebuchet MS" pitchFamily="34" charset="0"/>
              </a:rPr>
              <a:t>Click to edit Master text styles</a:t>
            </a:r>
          </a:p>
          <a:p>
            <a:pPr lvl="1"/>
            <a:r>
              <a:rPr lang="en-US" smtClean="0">
                <a:sym typeface="Trebuchet MS" pitchFamily="34" charset="0"/>
              </a:rPr>
              <a:t>Second level</a:t>
            </a:r>
          </a:p>
          <a:p>
            <a:pPr lvl="2"/>
            <a:r>
              <a:rPr lang="en-US" smtClean="0">
                <a:sym typeface="Trebuchet MS" pitchFamily="34" charset="0"/>
              </a:rPr>
              <a:t>Third level</a:t>
            </a:r>
          </a:p>
          <a:p>
            <a:pPr lvl="3"/>
            <a:r>
              <a:rPr lang="en-US" smtClean="0">
                <a:sym typeface="Trebuchet MS" pitchFamily="34" charset="0"/>
              </a:rPr>
              <a:t>Fourth level</a:t>
            </a:r>
          </a:p>
          <a:p>
            <a:pPr lvl="4"/>
            <a:r>
              <a:rPr lang="en-US" smtClean="0">
                <a:sym typeface="Trebuchet MS" pitchFamily="34" charset="0"/>
              </a:rPr>
              <a:t>Fifth level</a:t>
            </a:r>
          </a:p>
        </p:txBody>
      </p:sp>
      <p:sp>
        <p:nvSpPr>
          <p:cNvPr id="2056" name="Text Box 8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64277" tIns="32139" rIns="64277" bIns="32139" numCol="1" anchor="t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2"/>
                </a:solidFill>
                <a:latin typeface="Trebuchet MS" pitchFamily="34" charset="0"/>
                <a:ea typeface="ＭＳ Ｐゴシック" pitchFamily="34" charset="-128"/>
                <a:sym typeface="Trebuchet MS" pitchFamily="34" charset="0"/>
              </a:defRPr>
            </a:lvl1pPr>
          </a:lstStyle>
          <a:p>
            <a:pPr>
              <a:defRPr/>
            </a:pPr>
            <a:fld id="{93F926E7-8FF8-49D3-897A-811A26B765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 userDrawn="1">
            <p:ph type="ftr" sz="quarter" idx="3"/>
          </p:nvPr>
        </p:nvSpPr>
        <p:spPr>
          <a:xfrm>
            <a:off x="533400" y="6477000"/>
            <a:ext cx="4572000" cy="381000"/>
          </a:xfrm>
          <a:prstGeom prst="rect">
            <a:avLst/>
          </a:prstGeom>
        </p:spPr>
        <p:txBody>
          <a:bodyPr/>
          <a:lstStyle>
            <a:lvl1pPr algn="l" eaLnBrk="0" hangingPunct="0">
              <a:defRPr lang="en-US" sz="700" cap="all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defRPr>
            </a:lvl1pPr>
          </a:lstStyle>
          <a:p>
            <a:pPr>
              <a:defRPr/>
            </a:pPr>
            <a: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666" r:id="rId2"/>
    <p:sldLayoutId id="2147483667" r:id="rId3"/>
    <p:sldLayoutId id="2147483668" r:id="rId4"/>
    <p:sldLayoutId id="2147483669" r:id="rId5"/>
    <p:sldLayoutId id="2147483716" r:id="rId6"/>
    <p:sldLayoutId id="2147483670" r:id="rId7"/>
  </p:sldLayoutIdLst>
  <p:transition spd="slow">
    <p:wipe dir="d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/>
          <a:ea typeface="ＭＳ Ｐゴシック" pitchFamily="34" charset="-128"/>
          <a:cs typeface="ＭＳ Ｐゴシック" charset="0"/>
          <a:sym typeface="Trebuchet MS Bold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ＭＳ Ｐゴシック" charset="-128"/>
          <a:sym typeface="Trebuchet MS Bol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ＭＳ Ｐゴシック" charset="-128"/>
          <a:sym typeface="Trebuchet MS Bol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ＭＳ Ｐゴシック" charset="-128"/>
          <a:sym typeface="Trebuchet MS Bol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ＭＳ Ｐゴシック" charset="-128"/>
          <a:sym typeface="Trebuchet MS Bold" pitchFamily="34" charset="0"/>
        </a:defRPr>
      </a:lvl5pPr>
      <a:lvl6pPr marL="32144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Trebuchet MS Bold" charset="0"/>
          <a:sym typeface="Trebuchet MS Bold" charset="0"/>
        </a:defRPr>
      </a:lvl6pPr>
      <a:lvl7pPr marL="642882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Trebuchet MS Bold" charset="0"/>
          <a:sym typeface="Trebuchet MS Bold" charset="0"/>
        </a:defRPr>
      </a:lvl7pPr>
      <a:lvl8pPr marL="964323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Trebuchet MS Bold" charset="0"/>
          <a:sym typeface="Trebuchet MS Bold" charset="0"/>
        </a:defRPr>
      </a:lvl8pPr>
      <a:lvl9pPr marL="1285763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Trebuchet MS Bold" charset="0"/>
          <a:sym typeface="Trebuchet MS Bold" charset="0"/>
        </a:defRPr>
      </a:lvl9pPr>
    </p:titleStyle>
    <p:bodyStyle>
      <a:lvl1pPr marL="239713" indent="-239713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Char char="•"/>
        <a:defRPr>
          <a:solidFill>
            <a:srgbClr val="2C0000"/>
          </a:solidFill>
          <a:latin typeface="Arial"/>
          <a:ea typeface="ＭＳ Ｐゴシック" pitchFamily="34" charset="-128"/>
          <a:cs typeface="ＭＳ Ｐゴシック" pitchFamily="34" charset="-128"/>
          <a:sym typeface="Trebuchet MS" pitchFamily="34" charset="0"/>
        </a:defRPr>
      </a:lvl1pPr>
      <a:lvl2pPr marL="522288" indent="-201613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─"/>
        <a:defRPr sz="1600">
          <a:solidFill>
            <a:srgbClr val="2C0000"/>
          </a:solidFill>
          <a:latin typeface="Arial"/>
          <a:ea typeface="ＭＳ Ｐゴシック" pitchFamily="34" charset="-128"/>
          <a:cs typeface="Arial"/>
          <a:sym typeface="Trebuchet MS" pitchFamily="34" charset="0"/>
        </a:defRPr>
      </a:lvl2pPr>
      <a:lvl3pPr marL="803275" indent="-160338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Char char="•"/>
        <a:defRPr sz="1600">
          <a:solidFill>
            <a:srgbClr val="2C0000"/>
          </a:solidFill>
          <a:latin typeface="Arial"/>
          <a:ea typeface="ＭＳ Ｐゴシック" pitchFamily="34" charset="-128"/>
          <a:cs typeface="Arial"/>
          <a:sym typeface="Trebuchet MS" pitchFamily="34" charset="0"/>
        </a:defRPr>
      </a:lvl3pPr>
      <a:lvl4pPr marL="1123950" indent="-160338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Wingdings" pitchFamily="2" charset="2"/>
        <a:buChar char="§"/>
        <a:defRPr sz="1200">
          <a:solidFill>
            <a:srgbClr val="2C0000"/>
          </a:solidFill>
          <a:latin typeface="Arial"/>
          <a:ea typeface="ＭＳ Ｐゴシック" pitchFamily="34" charset="-128"/>
          <a:cs typeface="Arial"/>
          <a:sym typeface="Trebuchet MS" pitchFamily="34" charset="0"/>
        </a:defRPr>
      </a:lvl4pPr>
      <a:lvl5pPr marL="1446213" indent="-160338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•"/>
        <a:defRPr sz="1600">
          <a:solidFill>
            <a:srgbClr val="2C0000"/>
          </a:solidFill>
          <a:latin typeface="Arial"/>
          <a:ea typeface="ＭＳ Ｐゴシック" pitchFamily="34" charset="-128"/>
          <a:cs typeface="Arial"/>
          <a:sym typeface="Trebuchet MS" pitchFamily="34" charset="0"/>
        </a:defRPr>
      </a:lvl5pPr>
      <a:lvl6pPr marL="1767925" indent="-160721" algn="l" rtl="0" eaLnBrk="0" fontAlgn="base" hangingPunct="0">
        <a:spcBef>
          <a:spcPct val="15000"/>
        </a:spcBef>
        <a:spcAft>
          <a:spcPct val="15000"/>
        </a:spcAft>
        <a:buClr>
          <a:schemeClr val="tx2"/>
        </a:buClr>
        <a:buFont typeface="Arial" charset="0"/>
        <a:buChar char="•"/>
        <a:defRPr>
          <a:solidFill>
            <a:srgbClr val="2C0000"/>
          </a:solidFill>
          <a:latin typeface="+mn-lt"/>
          <a:ea typeface="ＭＳ Ｐゴシック" charset="-128"/>
          <a:sym typeface="Trebuchet MS" charset="0"/>
        </a:defRPr>
      </a:lvl6pPr>
      <a:lvl7pPr marL="2089366" indent="-160721" algn="l" rtl="0" eaLnBrk="0" fontAlgn="base" hangingPunct="0">
        <a:spcBef>
          <a:spcPct val="15000"/>
        </a:spcBef>
        <a:spcAft>
          <a:spcPct val="15000"/>
        </a:spcAft>
        <a:buClr>
          <a:schemeClr val="tx2"/>
        </a:buClr>
        <a:buFont typeface="Arial" charset="0"/>
        <a:buChar char="•"/>
        <a:defRPr>
          <a:solidFill>
            <a:srgbClr val="2C0000"/>
          </a:solidFill>
          <a:latin typeface="+mn-lt"/>
          <a:ea typeface="ＭＳ Ｐゴシック" charset="-128"/>
          <a:sym typeface="Trebuchet MS" charset="0"/>
        </a:defRPr>
      </a:lvl7pPr>
      <a:lvl8pPr marL="2410807" indent="-160721" algn="l" rtl="0" eaLnBrk="0" fontAlgn="base" hangingPunct="0">
        <a:spcBef>
          <a:spcPct val="15000"/>
        </a:spcBef>
        <a:spcAft>
          <a:spcPct val="15000"/>
        </a:spcAft>
        <a:buClr>
          <a:schemeClr val="tx2"/>
        </a:buClr>
        <a:buFont typeface="Arial" charset="0"/>
        <a:buChar char="•"/>
        <a:defRPr>
          <a:solidFill>
            <a:srgbClr val="2C0000"/>
          </a:solidFill>
          <a:latin typeface="+mn-lt"/>
          <a:ea typeface="ＭＳ Ｐゴシック" charset="-128"/>
          <a:sym typeface="Trebuchet MS" charset="0"/>
        </a:defRPr>
      </a:lvl8pPr>
      <a:lvl9pPr marL="2732247" indent="-160721" algn="l" rtl="0" eaLnBrk="0" fontAlgn="base" hangingPunct="0">
        <a:spcBef>
          <a:spcPct val="15000"/>
        </a:spcBef>
        <a:spcAft>
          <a:spcPct val="15000"/>
        </a:spcAft>
        <a:buClr>
          <a:schemeClr val="tx2"/>
        </a:buClr>
        <a:buFont typeface="Arial" charset="0"/>
        <a:buChar char="•"/>
        <a:defRPr>
          <a:solidFill>
            <a:srgbClr val="2C0000"/>
          </a:solidFill>
          <a:latin typeface="+mn-lt"/>
          <a:ea typeface="ＭＳ Ｐゴシック" charset="-128"/>
          <a:sym typeface="Trebuchet MS" charset="0"/>
        </a:defRPr>
      </a:lvl9pPr>
    </p:bodyStyle>
    <p:otherStyle>
      <a:defPPr>
        <a:defRPr lang="en-US"/>
      </a:defPPr>
      <a:lvl1pPr marL="0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40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82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323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763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205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645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086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527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561180-7037-4FF4-9075-F5B38810C4C5}" type="datetimeFigureOut">
              <a:rPr lang="en-US"/>
              <a:pPr>
                <a:defRPr/>
              </a:pPr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EB6A173-94E8-4B0E-9558-EBF85B7BB1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cs typeface="Arial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ransition spd="med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7" descr="UPS_PPT_template-01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3213" y="304800"/>
            <a:ext cx="8383587" cy="10620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35687" tIns="35687" rIns="35687" bIns="356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rebuchet MS Bold" pitchFamily="34" charset="0"/>
              </a:rPr>
              <a:t>Click to edit Master title style</a:t>
            </a:r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6172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4242" tIns="32119" rIns="64242" bIns="321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rebuchet MS" pitchFamily="34" charset="0"/>
              </a:rPr>
              <a:t>Click to edit Master text styles</a:t>
            </a:r>
          </a:p>
          <a:p>
            <a:pPr lvl="1"/>
            <a:r>
              <a:rPr lang="en-US" smtClean="0">
                <a:sym typeface="Trebuchet MS" pitchFamily="34" charset="0"/>
              </a:rPr>
              <a:t>Second level</a:t>
            </a:r>
          </a:p>
          <a:p>
            <a:pPr lvl="2"/>
            <a:r>
              <a:rPr lang="en-US" smtClean="0">
                <a:sym typeface="Trebuchet MS" pitchFamily="34" charset="0"/>
              </a:rPr>
              <a:t>Third level</a:t>
            </a:r>
          </a:p>
          <a:p>
            <a:pPr lvl="3"/>
            <a:r>
              <a:rPr lang="en-US" smtClean="0">
                <a:sym typeface="Trebuchet MS" pitchFamily="34" charset="0"/>
              </a:rPr>
              <a:t>Fourth level</a:t>
            </a:r>
          </a:p>
          <a:p>
            <a:pPr lvl="4"/>
            <a:r>
              <a:rPr lang="en-US" smtClean="0">
                <a:sym typeface="Trebuchet MS" pitchFamily="34" charset="0"/>
              </a:rPr>
              <a:t>Fifth level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290513" y="6480175"/>
            <a:ext cx="24923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64277" tIns="32139" rIns="64277" bIns="32139"/>
          <a:lstStyle/>
          <a:p>
            <a:pPr algn="ctr">
              <a:defRPr/>
            </a:pPr>
            <a:fld id="{AD7C22CB-26AD-40E5-8134-5444576BCEA2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 algn="ctr">
                <a:defRPr/>
              </a:pPr>
              <a:t>‹#›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533400" y="6480175"/>
            <a:ext cx="457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sz="700" smtClean="0">
                <a:cs typeface="+mn-cs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+mj-lt"/>
          <a:ea typeface="+mj-ea"/>
          <a:cs typeface="+mj-cs"/>
          <a:sym typeface="Trebuchet MS Bold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9pPr>
    </p:titleStyle>
    <p:bodyStyle>
      <a:lvl1pPr marL="239713" indent="-239713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Char char="•"/>
        <a:defRPr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1pPr>
      <a:lvl2pPr marL="522288" indent="-201613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─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2pPr>
      <a:lvl3pPr marL="803275" indent="-160338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Char char="•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3pPr>
      <a:lvl4pPr marL="1123950" indent="-160338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Wingdings" pitchFamily="2" charset="2"/>
        <a:buChar char="§"/>
        <a:defRPr sz="12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4pPr>
      <a:lvl5pPr marL="1446213" indent="-160338" algn="l" rtl="0" eaLnBrk="0" fontAlgn="base" hangingPunct="0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•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5pPr>
      <a:lvl6pPr marL="1903413" indent="-160338" algn="l" rtl="0" fontAlgn="base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•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6pPr>
      <a:lvl7pPr marL="2360613" indent="-160338" algn="l" rtl="0" fontAlgn="base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•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7pPr>
      <a:lvl8pPr marL="2817813" indent="-160338" algn="l" rtl="0" fontAlgn="base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•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8pPr>
      <a:lvl9pPr marL="3275013" indent="-160338" algn="l" rtl="0" fontAlgn="base">
        <a:lnSpc>
          <a:spcPct val="120000"/>
        </a:lnSpc>
        <a:spcBef>
          <a:spcPts val="363"/>
        </a:spcBef>
        <a:spcAft>
          <a:spcPts val="363"/>
        </a:spcAft>
        <a:buClr>
          <a:schemeClr val="tx2"/>
        </a:buClr>
        <a:buFont typeface="Arial" charset="0"/>
        <a:buChar char="•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01625" y="6537325"/>
            <a:ext cx="246063" cy="2555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64008" tIns="36576" rIns="64008" bIns="36576"/>
          <a:lstStyle>
            <a:lvl1pPr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78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ctr" eaLnBrk="0" hangingPunct="0">
              <a:spcBef>
                <a:spcPct val="50000"/>
              </a:spcBef>
              <a:defRPr/>
            </a:pPr>
            <a:fld id="{4E7990CE-529B-4F6A-BEC7-913F4C0B7F39}" type="slidenum">
              <a:rPr lang="en-US" sz="1300" b="0" smtClean="0">
                <a:solidFill>
                  <a:schemeClr val="tx1"/>
                </a:solidFill>
                <a:cs typeface="+mn-cs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US" sz="1300" b="0" dirty="0" smtClean="0">
              <a:solidFill>
                <a:schemeClr val="tx1"/>
              </a:solidFill>
              <a:cs typeface="+mn-cs"/>
            </a:endParaRPr>
          </a:p>
        </p:txBody>
      </p:sp>
      <p:sp>
        <p:nvSpPr>
          <p:cNvPr id="2877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3213" y="322263"/>
            <a:ext cx="8383587" cy="10620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35687" tIns="35687" rIns="35687" bIns="356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rebuchet MS Bold" pitchFamily="34" charset="0"/>
              </a:rPr>
              <a:t>Click to edit Master title style</a:t>
            </a:r>
          </a:p>
        </p:txBody>
      </p:sp>
      <p:sp>
        <p:nvSpPr>
          <p:cNvPr id="28774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382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4242" tIns="32119" rIns="64242" bIns="321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rebuchet MS" pitchFamily="34" charset="0"/>
              </a:rPr>
              <a:t>Click to edit Master text styles</a:t>
            </a:r>
          </a:p>
          <a:p>
            <a:pPr lvl="1"/>
            <a:r>
              <a:rPr lang="en-US" smtClean="0">
                <a:sym typeface="Trebuchet MS" pitchFamily="34" charset="0"/>
              </a:rPr>
              <a:t>Second level</a:t>
            </a:r>
          </a:p>
          <a:p>
            <a:pPr lvl="2"/>
            <a:r>
              <a:rPr lang="en-US" smtClean="0">
                <a:sym typeface="Trebuchet MS" pitchFamily="34" charset="0"/>
              </a:rPr>
              <a:t>Third level</a:t>
            </a:r>
          </a:p>
          <a:p>
            <a:pPr lvl="3"/>
            <a:r>
              <a:rPr lang="en-US" smtClean="0">
                <a:sym typeface="Trebuchet MS" pitchFamily="34" charset="0"/>
              </a:rPr>
              <a:t>Fourth level</a:t>
            </a:r>
          </a:p>
          <a:p>
            <a:pPr lvl="4"/>
            <a:r>
              <a:rPr lang="en-US" smtClean="0">
                <a:sym typeface="Trebuchet MS" pitchFamily="34" charset="0"/>
              </a:rPr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290513" y="6553200"/>
            <a:ext cx="249237" cy="2603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4943B3-428A-4901-A42C-BF0BEC1E1D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+mj-lt"/>
          <a:ea typeface="+mj-ea"/>
          <a:cs typeface="+mj-cs"/>
          <a:sym typeface="Trebuchet MS Bold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2C0000"/>
          </a:solidFill>
          <a:latin typeface="Arial" charset="0"/>
          <a:ea typeface="ＭＳ Ｐゴシック" pitchFamily="34" charset="-128"/>
          <a:cs typeface="Arial" charset="0"/>
          <a:sym typeface="Trebuchet MS Bold" pitchFamily="34" charset="0"/>
        </a:defRPr>
      </a:lvl9pPr>
    </p:titleStyle>
    <p:bodyStyle>
      <a:lvl1pPr marL="225425" indent="-225425" algn="l" rtl="0" fontAlgn="base">
        <a:lnSpc>
          <a:spcPct val="120000"/>
        </a:lnSpc>
        <a:spcBef>
          <a:spcPts val="700"/>
        </a:spcBef>
        <a:spcAft>
          <a:spcPct val="0"/>
        </a:spcAft>
        <a:buClr>
          <a:schemeClr val="tx2"/>
        </a:buClr>
        <a:buChar char="•"/>
        <a:defRPr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1pPr>
      <a:lvl2pPr marL="576263" indent="-236538" algn="l" rtl="0" fontAlgn="base">
        <a:lnSpc>
          <a:spcPct val="120000"/>
        </a:lnSpc>
        <a:spcBef>
          <a:spcPts val="400"/>
        </a:spcBef>
        <a:spcAft>
          <a:spcPct val="0"/>
        </a:spcAft>
        <a:buClr>
          <a:schemeClr val="tx2"/>
        </a:buClr>
        <a:buFont typeface="Arial" charset="0"/>
        <a:buChar char="─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2pPr>
      <a:lvl3pPr marL="857250" indent="-166688" algn="l" rtl="0" fontAlgn="base">
        <a:lnSpc>
          <a:spcPct val="120000"/>
        </a:lnSpc>
        <a:spcBef>
          <a:spcPts val="300"/>
        </a:spcBef>
        <a:spcAft>
          <a:spcPct val="0"/>
        </a:spcAft>
        <a:buClr>
          <a:schemeClr val="tx2"/>
        </a:buClr>
        <a:buChar char="•"/>
        <a:defRPr sz="16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3pPr>
      <a:lvl4pPr marL="1131888" indent="-160338" algn="l" rtl="0" fontAlgn="base">
        <a:lnSpc>
          <a:spcPct val="120000"/>
        </a:lnSpc>
        <a:spcBef>
          <a:spcPts val="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2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4pPr>
      <a:lvl5pPr marL="1377950" indent="-131763" algn="l" rtl="0" fontAlgn="base">
        <a:lnSpc>
          <a:spcPct val="120000"/>
        </a:lnSpc>
        <a:spcBef>
          <a:spcPts val="100"/>
        </a:spcBef>
        <a:spcAft>
          <a:spcPct val="0"/>
        </a:spcAft>
        <a:buClr>
          <a:schemeClr val="tx2"/>
        </a:buClr>
        <a:buFont typeface="Arial" charset="0"/>
        <a:buChar char="•"/>
        <a:defRPr sz="10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5pPr>
      <a:lvl6pPr marL="1835150" indent="-131763" algn="l" rtl="0" fontAlgn="base">
        <a:lnSpc>
          <a:spcPct val="120000"/>
        </a:lnSpc>
        <a:spcBef>
          <a:spcPts val="100"/>
        </a:spcBef>
        <a:spcAft>
          <a:spcPct val="0"/>
        </a:spcAft>
        <a:buClr>
          <a:schemeClr val="tx2"/>
        </a:buClr>
        <a:buFont typeface="Arial" charset="0"/>
        <a:buChar char="•"/>
        <a:defRPr sz="10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6pPr>
      <a:lvl7pPr marL="2292350" indent="-131763" algn="l" rtl="0" fontAlgn="base">
        <a:lnSpc>
          <a:spcPct val="120000"/>
        </a:lnSpc>
        <a:spcBef>
          <a:spcPts val="100"/>
        </a:spcBef>
        <a:spcAft>
          <a:spcPct val="0"/>
        </a:spcAft>
        <a:buClr>
          <a:schemeClr val="tx2"/>
        </a:buClr>
        <a:buFont typeface="Arial" charset="0"/>
        <a:buChar char="•"/>
        <a:defRPr sz="10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7pPr>
      <a:lvl8pPr marL="2749550" indent="-131763" algn="l" rtl="0" fontAlgn="base">
        <a:lnSpc>
          <a:spcPct val="120000"/>
        </a:lnSpc>
        <a:spcBef>
          <a:spcPts val="100"/>
        </a:spcBef>
        <a:spcAft>
          <a:spcPct val="0"/>
        </a:spcAft>
        <a:buClr>
          <a:schemeClr val="tx2"/>
        </a:buClr>
        <a:buFont typeface="Arial" charset="0"/>
        <a:buChar char="•"/>
        <a:defRPr sz="10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8pPr>
      <a:lvl9pPr marL="3206750" indent="-131763" algn="l" rtl="0" fontAlgn="base">
        <a:lnSpc>
          <a:spcPct val="120000"/>
        </a:lnSpc>
        <a:spcBef>
          <a:spcPts val="100"/>
        </a:spcBef>
        <a:spcAft>
          <a:spcPct val="0"/>
        </a:spcAft>
        <a:buClr>
          <a:schemeClr val="tx2"/>
        </a:buClr>
        <a:buFont typeface="Arial" charset="0"/>
        <a:buChar char="•"/>
        <a:defRPr sz="1000">
          <a:solidFill>
            <a:srgbClr val="2C0000"/>
          </a:solidFill>
          <a:latin typeface="+mn-lt"/>
          <a:ea typeface="+mn-ea"/>
          <a:cs typeface="+mn-cs"/>
          <a:sym typeface="Trebuchet MS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9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0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3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4.png"/><Relationship Id="rId4" Type="http://schemas.openxmlformats.org/officeDocument/2006/relationships/oleObject" Target="../embeddings/oleObject14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5.v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20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8.v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26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ChangeArrowheads="1"/>
          </p:cNvSpPr>
          <p:nvPr/>
        </p:nvSpPr>
        <p:spPr bwMode="auto">
          <a:xfrm>
            <a:off x="152400" y="152400"/>
            <a:ext cx="6324600" cy="4419600"/>
          </a:xfrm>
          <a:prstGeom prst="rect">
            <a:avLst/>
          </a:prstGeom>
          <a:solidFill>
            <a:srgbClr val="2C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Gill Sans"/>
            </a:endParaRPr>
          </a:p>
        </p:txBody>
      </p:sp>
      <p:sp>
        <p:nvSpPr>
          <p:cNvPr id="48130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228600" y="4800600"/>
            <a:ext cx="6096000" cy="820738"/>
          </a:xfrm>
        </p:spPr>
        <p:txBody>
          <a:bodyPr anchor="b"/>
          <a:lstStyle/>
          <a:p>
            <a:pPr eaLnBrk="1" hangingPunct="1">
              <a:buClr>
                <a:srgbClr val="2C0000"/>
              </a:buClr>
            </a:pPr>
            <a:r>
              <a:rPr lang="en-US" sz="3200" smtClean="0">
                <a:solidFill>
                  <a:schemeClr val="tx1"/>
                </a:solidFill>
                <a:ea typeface="ＭＳ Ｐゴシック" pitchFamily="34" charset="-128"/>
                <a:cs typeface="Arial" charset="0"/>
              </a:rPr>
              <a:t>Delivering Value for Endo Health</a:t>
            </a:r>
          </a:p>
        </p:txBody>
      </p:sp>
      <p:sp>
        <p:nvSpPr>
          <p:cNvPr id="48132" name="Rectangle 7"/>
          <p:cNvSpPr>
            <a:spLocks noChangeArrowheads="1"/>
          </p:cNvSpPr>
          <p:nvPr/>
        </p:nvSpPr>
        <p:spPr bwMode="auto">
          <a:xfrm>
            <a:off x="6629400" y="152400"/>
            <a:ext cx="2362200" cy="4419600"/>
          </a:xfrm>
          <a:prstGeom prst="rect">
            <a:avLst/>
          </a:prstGeom>
          <a:solidFill>
            <a:srgbClr val="00343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Gill Sans"/>
            </a:endParaRPr>
          </a:p>
        </p:txBody>
      </p:sp>
      <p:pic>
        <p:nvPicPr>
          <p:cNvPr id="48135" name="Picture 7" descr="Endo Louisville 20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14300"/>
            <a:ext cx="6400800" cy="4435475"/>
          </a:xfrm>
          <a:prstGeom prst="rect">
            <a:avLst/>
          </a:prstGeom>
          <a:noFill/>
        </p:spPr>
      </p:pic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228600" y="5562600"/>
            <a:ext cx="3079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</a:pPr>
            <a:r>
              <a:rPr lang="en-US">
                <a:solidFill>
                  <a:schemeClr val="tx1"/>
                </a:solidFill>
                <a:sym typeface="Trebuchet MS" pitchFamily="34" charset="0"/>
              </a:rPr>
              <a:t>Business Review</a:t>
            </a:r>
          </a:p>
        </p:txBody>
      </p:sp>
      <p:sp>
        <p:nvSpPr>
          <p:cNvPr id="48137" name="Rectangle 12"/>
          <p:cNvSpPr>
            <a:spLocks noChangeArrowheads="1"/>
          </p:cNvSpPr>
          <p:nvPr/>
        </p:nvSpPr>
        <p:spPr bwMode="auto">
          <a:xfrm>
            <a:off x="228600" y="6400800"/>
            <a:ext cx="5667375" cy="16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687" tIns="35687" rIns="35687" bIns="35687"/>
          <a:lstStyle/>
          <a:p>
            <a:pPr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Font typeface="Arial" charset="0"/>
              <a:buNone/>
            </a:pPr>
            <a:r>
              <a:rPr lang="en-US" sz="1400">
                <a:solidFill>
                  <a:schemeClr val="tx1"/>
                </a:solidFill>
                <a:sym typeface="Trebuchet MS" pitchFamily="34" charset="0"/>
              </a:rPr>
              <a:t>March 19, 2014</a:t>
            </a:r>
          </a:p>
        </p:txBody>
      </p:sp>
      <p:pic>
        <p:nvPicPr>
          <p:cNvPr id="48138" name="Picture 10" descr="Endo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34200" y="3810000"/>
            <a:ext cx="1790700" cy="4953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CFEC3769-D36A-4924-B9E0-EE65ABAC7234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5361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pic>
        <p:nvPicPr>
          <p:cNvPr id="50179" name="Picture 3" descr="ups_be_phila_collabo_226_200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7000" y="0"/>
            <a:ext cx="25146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0" name="Rectangle 3"/>
          <p:cNvSpPr>
            <a:spLocks noChangeArrowheads="1"/>
          </p:cNvSpPr>
          <p:nvPr/>
        </p:nvSpPr>
        <p:spPr bwMode="auto">
          <a:xfrm>
            <a:off x="301625" y="1262063"/>
            <a:ext cx="6022975" cy="451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64" tIns="32132" rIns="81231" bIns="32132"/>
          <a:lstStyle/>
          <a:p>
            <a:pPr marL="239713" indent="-239713" eaLnBrk="0" hangingPunct="0">
              <a:lnSpc>
                <a:spcPct val="120000"/>
              </a:lnSpc>
              <a:buClr>
                <a:srgbClr val="018069"/>
              </a:buClr>
            </a:pPr>
            <a:r>
              <a:rPr lang="en-US" sz="1800" b="1">
                <a:solidFill>
                  <a:schemeClr val="tx2"/>
                </a:solidFill>
                <a:sym typeface="Trebuchet MS" pitchFamily="34" charset="0"/>
              </a:rPr>
              <a:t>Endo Pharmaceuticals Team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Brian Lorte		SVP Brand Pharmaceuticals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Kevin OBrien		Senior Director Distribution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Lisa Walker		Associate Director Distribution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Mike Ivers		Senior Mgr Procurement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018069"/>
              </a:buClr>
            </a:pPr>
            <a:endParaRPr lang="en-US" sz="1800" b="1">
              <a:solidFill>
                <a:schemeClr val="tx2"/>
              </a:solidFill>
              <a:sym typeface="Trebuchet MS" pitchFamily="34" charset="0"/>
            </a:endParaRPr>
          </a:p>
          <a:p>
            <a:pPr marL="239713" indent="-239713" eaLnBrk="0" hangingPunct="0">
              <a:lnSpc>
                <a:spcPct val="120000"/>
              </a:lnSpc>
              <a:buClr>
                <a:srgbClr val="018069"/>
              </a:buClr>
            </a:pPr>
            <a:r>
              <a:rPr lang="en-US" sz="1800" b="1">
                <a:solidFill>
                  <a:schemeClr val="tx2"/>
                </a:solidFill>
                <a:sym typeface="Trebuchet MS" pitchFamily="34" charset="0"/>
              </a:rPr>
              <a:t>UPS Team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Brian Smith		VP Healthcare Sales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David Quintilio		VP US Distribution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David McLean		VP Healthcare Distribution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Jennifer Lancer		Director Enterprise Healthcare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Kim Kohler		Director OTC Operations</a:t>
            </a:r>
          </a:p>
          <a:p>
            <a:pPr marL="239713" indent="-239713" eaLnBrk="0" hangingPunct="0">
              <a:lnSpc>
                <a:spcPct val="120000"/>
              </a:lnSpc>
              <a:buClr>
                <a:srgbClr val="2C0000"/>
              </a:buClr>
              <a:buFontTx/>
              <a:buChar char="•"/>
            </a:pPr>
            <a:r>
              <a:rPr lang="en-US" sz="1800">
                <a:solidFill>
                  <a:schemeClr val="tx2"/>
                </a:solidFill>
                <a:sym typeface="Trebuchet MS" pitchFamily="34" charset="0"/>
              </a:rPr>
              <a:t>Jackie Kiefer		Manager Trans Management</a:t>
            </a:r>
          </a:p>
        </p:txBody>
      </p:sp>
      <p:sp>
        <p:nvSpPr>
          <p:cNvPr id="50181" name="Rectangle 2"/>
          <p:cNvSpPr txBox="1">
            <a:spLocks noChangeArrowheads="1"/>
          </p:cNvSpPr>
          <p:nvPr/>
        </p:nvSpPr>
        <p:spPr bwMode="auto">
          <a:xfrm>
            <a:off x="301625" y="322263"/>
            <a:ext cx="8612188" cy="106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687" tIns="35687" rIns="35687" bIns="35687"/>
          <a:lstStyle/>
          <a:p>
            <a:pPr eaLnBrk="0" hangingPunct="0"/>
            <a:r>
              <a:rPr lang="en-US" sz="2400">
                <a:solidFill>
                  <a:srgbClr val="2C0000"/>
                </a:solidFill>
                <a:sym typeface="Trebuchet MS Bold" pitchFamily="34" charset="0"/>
              </a:rPr>
              <a:t>The Teams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72B38F4D-F479-4172-AE65-CE2624B1C7BA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6385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1625" y="322263"/>
            <a:ext cx="5768975" cy="960437"/>
          </a:xfrm>
        </p:spPr>
        <p:txBody>
          <a:bodyPr lIns="64264" tIns="32132" rIns="81231" bIns="32132"/>
          <a:lstStyle/>
          <a:p>
            <a:r>
              <a:rPr lang="en-US" sz="2400" smtClean="0">
                <a:latin typeface="Arial" charset="0"/>
                <a:cs typeface="Arial" charset="0"/>
              </a:rPr>
              <a:t>Agenda</a:t>
            </a:r>
          </a:p>
        </p:txBody>
      </p:sp>
      <p:sp>
        <p:nvSpPr>
          <p:cNvPr id="52228" name="Rectangle 3"/>
          <p:cNvSpPr>
            <a:spLocks noChangeArrowheads="1"/>
          </p:cNvSpPr>
          <p:nvPr/>
        </p:nvSpPr>
        <p:spPr bwMode="auto">
          <a:xfrm>
            <a:off x="228600" y="1066800"/>
            <a:ext cx="8229600" cy="451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64" tIns="32132" rIns="81231" bIns="32132"/>
          <a:lstStyle/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UPS News</a:t>
            </a:r>
          </a:p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Endo News</a:t>
            </a:r>
          </a:p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The Teams</a:t>
            </a:r>
          </a:p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Metrics 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Small package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Order to Cash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Transportation Management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Distribution</a:t>
            </a:r>
          </a:p>
          <a:p>
            <a:pPr marL="1143000" lvl="2" indent="-228600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Memphis, Harrisburg </a:t>
            </a:r>
          </a:p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Overview of Temp True solution portfolio</a:t>
            </a:r>
          </a:p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800">
                <a:solidFill>
                  <a:srgbClr val="2C0000"/>
                </a:solidFill>
                <a:sym typeface="Trebuchet MS" pitchFamily="34" charset="0"/>
              </a:rPr>
              <a:t>Next steps; discussion timeline of “go-live” transportation, distribution </a:t>
            </a:r>
          </a:p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endParaRPr lang="en-US" sz="1800">
              <a:solidFill>
                <a:srgbClr val="2C0000"/>
              </a:solidFill>
              <a:sym typeface="Trebuchet MS" pitchFamily="34" charset="0"/>
            </a:endParaRPr>
          </a:p>
          <a:p>
            <a:pPr marL="1143000" lvl="2" indent="-228600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endParaRPr lang="en-US" sz="1800">
              <a:solidFill>
                <a:srgbClr val="2C0000"/>
              </a:solidFill>
              <a:sym typeface="Trebuchet MS" pitchFamily="34" charset="0"/>
            </a:endParaRPr>
          </a:p>
          <a:p>
            <a:pPr marL="239713" indent="-23971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endParaRPr lang="en-US" sz="1800">
              <a:solidFill>
                <a:srgbClr val="2C0000"/>
              </a:solidFill>
              <a:sym typeface="Trebuchet MS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smtClean="0">
                <a:latin typeface="Arial" charset="0"/>
              </a:rPr>
              <a:t>UPS Partnership Slide Global Enterprise Sales</a:t>
            </a:r>
          </a:p>
        </p:txBody>
      </p:sp>
      <p:graphicFrame>
        <p:nvGraphicFramePr>
          <p:cNvPr id="182277" name="Organization Chart 5"/>
          <p:cNvGraphicFramePr>
            <a:graphicFrameLocks/>
          </p:cNvGraphicFramePr>
          <p:nvPr>
            <p:ph idx="1"/>
          </p:nvPr>
        </p:nvGraphicFramePr>
        <p:xfrm>
          <a:off x="304800" y="1371600"/>
          <a:ext cx="8382000" cy="4267200"/>
        </p:xfrm>
        <a:graphic>
          <a:graphicData uri="http://schemas.openxmlformats.org/drawingml/2006/compatibility">
            <com:legacyDrawing xmlns:com="http://schemas.openxmlformats.org/drawingml/2006/compatibility" spid="_x0000_s182277"/>
          </a:graphicData>
        </a:graphic>
      </p:graphicFrame>
    </p:spTree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11"/>
          <p:cNvSpPr>
            <a:spLocks noChangeArrowheads="1"/>
          </p:cNvSpPr>
          <p:nvPr/>
        </p:nvSpPr>
        <p:spPr bwMode="auto">
          <a:xfrm>
            <a:off x="6477000" y="0"/>
            <a:ext cx="2667000" cy="6096000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</p:spPr>
        <p:txBody>
          <a:bodyPr wrap="none" lIns="35687" tIns="35687" rIns="35687" bIns="35687" anchor="ctr"/>
          <a:lstStyle/>
          <a:p>
            <a:pPr algn="ctr"/>
            <a:endParaRPr lang="en-US">
              <a:sym typeface="Arial" charset="0"/>
            </a:endParaRPr>
          </a:p>
        </p:txBody>
      </p:sp>
      <p:sp>
        <p:nvSpPr>
          <p:cNvPr id="18329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04800"/>
            <a:ext cx="6097587" cy="1062038"/>
          </a:xfrm>
        </p:spPr>
        <p:txBody>
          <a:bodyPr/>
          <a:lstStyle/>
          <a:p>
            <a:pPr eaLnBrk="1" hangingPunct="1"/>
            <a:r>
              <a:rPr lang="en-US" sz="2400" smtClean="0">
                <a:solidFill>
                  <a:schemeClr val="tx1"/>
                </a:solidFill>
              </a:rPr>
              <a:t>Healthcare Coverage Expands</a:t>
            </a:r>
            <a:br>
              <a:rPr lang="en-US" sz="2400" smtClean="0">
                <a:solidFill>
                  <a:schemeClr val="tx1"/>
                </a:solidFill>
              </a:rPr>
            </a:br>
            <a:r>
              <a:rPr lang="en-US" sz="2000" smtClean="0">
                <a:solidFill>
                  <a:schemeClr val="tx1"/>
                </a:solidFill>
              </a:rPr>
              <a:t>Distribution Network Provides </a:t>
            </a:r>
            <a:r>
              <a:rPr lang="en-GB" sz="2200" smtClean="0">
                <a:solidFill>
                  <a:schemeClr val="tx1"/>
                </a:solidFill>
                <a:sym typeface="Arial" charset="0"/>
              </a:rPr>
              <a:t>Broader Coverage in Europe for Greater Patient Access</a:t>
            </a:r>
            <a:endParaRPr lang="en-US" sz="2200" smtClean="0">
              <a:solidFill>
                <a:schemeClr val="tx1"/>
              </a:solidFill>
              <a:sym typeface="Arial" charset="0"/>
            </a:endParaRPr>
          </a:p>
        </p:txBody>
      </p:sp>
      <p:sp>
        <p:nvSpPr>
          <p:cNvPr id="183299" name="Rectangle 10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6172200" cy="4267200"/>
          </a:xfrm>
        </p:spPr>
        <p:txBody>
          <a:bodyPr/>
          <a:lstStyle/>
          <a:p>
            <a:pPr eaLnBrk="1" hangingPunct="1">
              <a:spcBef>
                <a:spcPts val="400"/>
              </a:spcBef>
              <a:spcAft>
                <a:spcPct val="0"/>
              </a:spcAft>
            </a:pPr>
            <a:r>
              <a:rPr lang="en-US" sz="1600" smtClean="0">
                <a:solidFill>
                  <a:schemeClr val="tx1"/>
                </a:solidFill>
              </a:rPr>
              <a:t>UPS</a:t>
            </a:r>
            <a:r>
              <a:rPr lang="en-US" sz="1600" baseline="30000" smtClean="0">
                <a:solidFill>
                  <a:schemeClr val="tx1"/>
                </a:solidFill>
              </a:rPr>
              <a:t>®</a:t>
            </a:r>
            <a:r>
              <a:rPr lang="en-US" sz="1600" smtClean="0">
                <a:solidFill>
                  <a:schemeClr val="tx1"/>
                </a:solidFill>
              </a:rPr>
              <a:t> has acquired Polar Speed, a leader in active temperature-controlled pharmaceutical supply chain solutions in the United Kingdom.</a:t>
            </a:r>
          </a:p>
          <a:p>
            <a:pPr lvl="1" eaLnBrk="1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charset="0"/>
              <a:buChar char="•"/>
            </a:pPr>
            <a:r>
              <a:rPr lang="en-US" smtClean="0">
                <a:solidFill>
                  <a:schemeClr val="tx1"/>
                </a:solidFill>
              </a:rPr>
              <a:t>Headquartered in Leighton Buzzard, near London, U.K., the company has three warehousing facilities in London as well as eleven forward stocking locations throughout the U.K.</a:t>
            </a:r>
          </a:p>
          <a:p>
            <a:pPr lvl="1" eaLnBrk="1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charset="0"/>
              <a:buChar char="•"/>
            </a:pPr>
            <a:r>
              <a:rPr lang="en-US" smtClean="0">
                <a:solidFill>
                  <a:schemeClr val="tx1"/>
                </a:solidFill>
              </a:rPr>
              <a:t>The company’s facilities provide about 38,000 ft</a:t>
            </a:r>
            <a:r>
              <a:rPr lang="en-US" baseline="30000" smtClean="0">
                <a:solidFill>
                  <a:schemeClr val="tx1"/>
                </a:solidFill>
              </a:rPr>
              <a:t>2</a:t>
            </a:r>
            <a:r>
              <a:rPr lang="en-US" smtClean="0">
                <a:solidFill>
                  <a:schemeClr val="tx1"/>
                </a:solidFill>
              </a:rPr>
              <a:t> (more than 3,700 m</a:t>
            </a:r>
            <a:r>
              <a:rPr lang="en-US" baseline="30000" smtClean="0">
                <a:solidFill>
                  <a:schemeClr val="tx1"/>
                </a:solidFill>
              </a:rPr>
              <a:t>2</a:t>
            </a:r>
            <a:r>
              <a:rPr lang="en-US" smtClean="0">
                <a:solidFill>
                  <a:schemeClr val="tx1"/>
                </a:solidFill>
              </a:rPr>
              <a:t>) healthcare-dedicated warehouse space, licensed by the Medicines and Healthcare Regulatory Agency (MHRA)-licensed, and ISO 9001:2008-certified </a:t>
            </a:r>
          </a:p>
          <a:p>
            <a:pPr lvl="1" eaLnBrk="1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charset="0"/>
              <a:buChar char="•"/>
            </a:pPr>
            <a:r>
              <a:rPr lang="en-US" smtClean="0">
                <a:solidFill>
                  <a:schemeClr val="tx1"/>
                </a:solidFill>
              </a:rPr>
              <a:t>Its experienced team has a focus on quality assurance compliance, unique active transportation solutions, and is well positioned in the U.K. home care market — an excellent fit with UPS</a:t>
            </a:r>
          </a:p>
        </p:txBody>
      </p:sp>
      <p:pic>
        <p:nvPicPr>
          <p:cNvPr id="183300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5038" y="228600"/>
            <a:ext cx="1096962" cy="544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34963"/>
            <a:ext cx="8383588" cy="1062037"/>
          </a:xfrm>
        </p:spPr>
        <p:txBody>
          <a:bodyPr/>
          <a:lstStyle/>
          <a:p>
            <a:pPr eaLnBrk="1" hangingPunct="1"/>
            <a:r>
              <a:rPr lang="en-US" sz="2400" smtClean="0">
                <a:solidFill>
                  <a:schemeClr val="tx1"/>
                </a:solidFill>
              </a:rPr>
              <a:t>Hi-tech Transportation</a:t>
            </a:r>
            <a:br>
              <a:rPr lang="en-US" sz="2400" smtClean="0">
                <a:solidFill>
                  <a:schemeClr val="tx1"/>
                </a:solidFill>
              </a:rPr>
            </a:br>
            <a:r>
              <a:rPr lang="en-US" sz="2200" smtClean="0">
                <a:solidFill>
                  <a:schemeClr val="tx1"/>
                </a:solidFill>
              </a:rPr>
              <a:t>Dual-Zone Vehicle Fleet Supports Sustainable Logistics</a:t>
            </a:r>
            <a:r>
              <a:rPr lang="en-US" smtClean="0">
                <a:solidFill>
                  <a:schemeClr val="tx1"/>
                </a:solidFill>
              </a:rPr>
              <a:t/>
            </a:r>
            <a:br>
              <a:rPr lang="en-US" smtClean="0">
                <a:solidFill>
                  <a:schemeClr val="tx1"/>
                </a:solidFill>
              </a:rPr>
            </a:br>
            <a:endParaRPr lang="en-US" sz="2200" smtClean="0">
              <a:solidFill>
                <a:schemeClr val="tx1"/>
              </a:solidFill>
              <a:sym typeface="Arial" charset="0"/>
            </a:endParaRPr>
          </a:p>
        </p:txBody>
      </p:sp>
      <p:sp>
        <p:nvSpPr>
          <p:cNvPr id="1853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371600"/>
            <a:ext cx="5257800" cy="4953000"/>
          </a:xfrm>
        </p:spPr>
        <p:txBody>
          <a:bodyPr/>
          <a:lstStyle/>
          <a:p>
            <a:pPr eaLnBrk="1" hangingPunct="1"/>
            <a:r>
              <a:rPr lang="en-US" sz="1600" smtClean="0">
                <a:solidFill>
                  <a:schemeClr val="tx1"/>
                </a:solidFill>
              </a:rPr>
              <a:t>Polar Speed is the premier transportation network in the U.K. for next day delivery of pharmaceutical products. </a:t>
            </a:r>
          </a:p>
          <a:p>
            <a:pPr eaLnBrk="1" hangingPunct="1"/>
            <a:r>
              <a:rPr lang="en-US" sz="1600" smtClean="0">
                <a:solidFill>
                  <a:schemeClr val="tx1"/>
                </a:solidFill>
              </a:rPr>
              <a:t>Polar Speed’s more than 118 dual temperature zone (2-8</a:t>
            </a:r>
            <a:r>
              <a:rPr lang="en-US" sz="1600" baseline="40000" smtClean="0">
                <a:solidFill>
                  <a:schemeClr val="tx1"/>
                </a:solidFill>
              </a:rPr>
              <a:t>o</a:t>
            </a:r>
            <a:r>
              <a:rPr lang="en-US" sz="1600" smtClean="0">
                <a:solidFill>
                  <a:schemeClr val="tx1"/>
                </a:solidFill>
              </a:rPr>
              <a:t>C and 15–25</a:t>
            </a:r>
            <a:r>
              <a:rPr lang="en-US" sz="1600" baseline="40000" smtClean="0">
                <a:solidFill>
                  <a:schemeClr val="tx1"/>
                </a:solidFill>
              </a:rPr>
              <a:t>o</a:t>
            </a:r>
            <a:r>
              <a:rPr lang="en-US" sz="1600" smtClean="0">
                <a:solidFill>
                  <a:schemeClr val="tx1"/>
                </a:solidFill>
              </a:rPr>
              <a:t>C) vehicles offer active (vs. passive) cold chain transportation in compliance with MHRA standards.</a:t>
            </a:r>
          </a:p>
          <a:p>
            <a:pPr eaLnBrk="1" hangingPunct="1"/>
            <a:r>
              <a:rPr lang="en-US" sz="1600" smtClean="0">
                <a:solidFill>
                  <a:schemeClr val="tx1"/>
                </a:solidFill>
              </a:rPr>
              <a:t>These vehicles provide efficient, environmentally-friendly transportation, moving pharmaceuticals that must be kept at strictly controlled temperatures, including controlled room temperature.</a:t>
            </a:r>
          </a:p>
          <a:p>
            <a:pPr eaLnBrk="1" hangingPunct="1"/>
            <a:r>
              <a:rPr lang="en-US" sz="1600" smtClean="0">
                <a:solidFill>
                  <a:schemeClr val="tx1"/>
                </a:solidFill>
              </a:rPr>
              <a:t>Polar Speed’s fleet enables the safe cold chain distribution and delivery of pharmaceuticals to hospitals, pharmacies, doctors’ offices and patients at home, right across the U.K.</a:t>
            </a:r>
            <a:endParaRPr lang="en-US" sz="1600" smtClean="0">
              <a:solidFill>
                <a:schemeClr val="tx1"/>
              </a:solidFill>
              <a:sym typeface="Arial" charset="0"/>
            </a:endParaRPr>
          </a:p>
        </p:txBody>
      </p:sp>
      <p:pic>
        <p:nvPicPr>
          <p:cNvPr id="185347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6413" y="1828800"/>
            <a:ext cx="3562350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11"/>
          <p:cNvSpPr>
            <a:spLocks noChangeArrowheads="1"/>
          </p:cNvSpPr>
          <p:nvPr/>
        </p:nvSpPr>
        <p:spPr bwMode="auto">
          <a:xfrm>
            <a:off x="6477000" y="0"/>
            <a:ext cx="2525713" cy="6096000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</p:spPr>
        <p:txBody>
          <a:bodyPr wrap="none" lIns="35687" tIns="35687" rIns="35687" bIns="35687" anchor="ctr"/>
          <a:lstStyle/>
          <a:p>
            <a:pPr algn="ctr"/>
            <a:endParaRPr lang="en-US">
              <a:sym typeface="Arial" charset="0"/>
            </a:endParaRPr>
          </a:p>
        </p:txBody>
      </p:sp>
      <p:sp>
        <p:nvSpPr>
          <p:cNvPr id="187394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chemeClr val="tx1"/>
                </a:solidFill>
              </a:rPr>
              <a:t>Built for Speed, Flexibility </a:t>
            </a:r>
            <a:br>
              <a:rPr lang="en-US" sz="2400" smtClean="0">
                <a:solidFill>
                  <a:schemeClr val="tx1"/>
                </a:solidFill>
              </a:rPr>
            </a:br>
            <a:r>
              <a:rPr lang="en-US" sz="2400" smtClean="0">
                <a:solidFill>
                  <a:schemeClr val="tx1"/>
                </a:solidFill>
              </a:rPr>
              <a:t>and Efficiency</a:t>
            </a:r>
          </a:p>
        </p:txBody>
      </p:sp>
      <p:sp>
        <p:nvSpPr>
          <p:cNvPr id="187395" name="Rectangle 11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1"/>
                </a:solidFill>
              </a:rPr>
              <a:t>UPS</a:t>
            </a:r>
            <a:r>
              <a:rPr lang="en-US" baseline="40000" smtClean="0">
                <a:solidFill>
                  <a:schemeClr val="tx1"/>
                </a:solidFill>
              </a:rPr>
              <a:t>®</a:t>
            </a:r>
            <a:r>
              <a:rPr lang="en-US" smtClean="0">
                <a:solidFill>
                  <a:schemeClr val="tx1"/>
                </a:solidFill>
              </a:rPr>
              <a:t>’s global integrated logistics network enables you to: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mtClean="0">
                <a:solidFill>
                  <a:schemeClr val="tx1"/>
                </a:solidFill>
              </a:rPr>
              <a:t>Access more than 80 percent of the world’s healthcare </a:t>
            </a:r>
            <a:br>
              <a:rPr lang="en-US" smtClean="0">
                <a:solidFill>
                  <a:schemeClr val="tx1"/>
                </a:solidFill>
              </a:rPr>
            </a:br>
            <a:r>
              <a:rPr lang="en-US" smtClean="0">
                <a:solidFill>
                  <a:schemeClr val="tx1"/>
                </a:solidFill>
              </a:rPr>
              <a:t>consumption on one transportation and technology platform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mtClean="0">
                <a:solidFill>
                  <a:schemeClr val="tx1"/>
                </a:solidFill>
              </a:rPr>
              <a:t>Save time, reduce complexities and limit hand-offs </a:t>
            </a:r>
            <a:br>
              <a:rPr lang="en-US" smtClean="0">
                <a:solidFill>
                  <a:schemeClr val="tx1"/>
                </a:solidFill>
              </a:rPr>
            </a:br>
            <a:r>
              <a:rPr lang="en-US" smtClean="0">
                <a:solidFill>
                  <a:schemeClr val="tx1"/>
                </a:solidFill>
              </a:rPr>
              <a:t>by reducing the number of providers to manage and integrate systems 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mtClean="0">
                <a:solidFill>
                  <a:schemeClr val="tx1"/>
                </a:solidFill>
              </a:rPr>
              <a:t>Increase flexibility to scale up or down with the needs </a:t>
            </a:r>
            <a:br>
              <a:rPr lang="en-US" smtClean="0">
                <a:solidFill>
                  <a:schemeClr val="tx1"/>
                </a:solidFill>
              </a:rPr>
            </a:br>
            <a:r>
              <a:rPr lang="en-US" smtClean="0">
                <a:solidFill>
                  <a:schemeClr val="tx1"/>
                </a:solidFill>
              </a:rPr>
              <a:t>of the market or your business, without significant capital </a:t>
            </a:r>
            <a:br>
              <a:rPr lang="en-US" smtClean="0">
                <a:solidFill>
                  <a:schemeClr val="tx1"/>
                </a:solidFill>
              </a:rPr>
            </a:br>
            <a:r>
              <a:rPr lang="en-US" smtClean="0">
                <a:solidFill>
                  <a:schemeClr val="tx1"/>
                </a:solidFill>
              </a:rPr>
              <a:t>investment in facilities and people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mtClean="0">
                <a:solidFill>
                  <a:schemeClr val="tx1"/>
                </a:solidFill>
              </a:rPr>
              <a:t>Execute consistent, reliable service for a better customer </a:t>
            </a:r>
            <a:br>
              <a:rPr lang="en-US" smtClean="0">
                <a:solidFill>
                  <a:schemeClr val="tx1"/>
                </a:solidFill>
              </a:rPr>
            </a:br>
            <a:r>
              <a:rPr lang="en-US" smtClean="0">
                <a:solidFill>
                  <a:schemeClr val="tx1"/>
                </a:solidFill>
              </a:rPr>
              <a:t>experience </a:t>
            </a:r>
          </a:p>
        </p:txBody>
      </p:sp>
      <p:sp>
        <p:nvSpPr>
          <p:cNvPr id="187396" name="Text Box 4"/>
          <p:cNvSpPr txBox="1">
            <a:spLocks noChangeArrowheads="1"/>
          </p:cNvSpPr>
          <p:nvPr/>
        </p:nvSpPr>
        <p:spPr bwMode="auto">
          <a:xfrm>
            <a:off x="6629400" y="457200"/>
            <a:ext cx="2362200" cy="3810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35687" rIns="0" bIns="35687"/>
          <a:lstStyle/>
          <a:p>
            <a:pPr defTabSz="912813"/>
            <a:r>
              <a:rPr lang="en-US" altLang="ja-JP" sz="1600" b="1">
                <a:solidFill>
                  <a:schemeClr val="bg1"/>
                </a:solidFill>
                <a:sym typeface="Trebuchet MS Bold" pitchFamily="34" charset="0"/>
              </a:rPr>
              <a:t>Investing in Healthcare</a:t>
            </a:r>
          </a:p>
          <a:p>
            <a:pPr defTabSz="912813"/>
            <a:endParaRPr lang="en-US" altLang="ja-JP" sz="1600" b="1">
              <a:solidFill>
                <a:schemeClr val="bg1"/>
              </a:solidFill>
              <a:sym typeface="Trebuchet MS Bold" pitchFamily="34" charset="0"/>
            </a:endParaRPr>
          </a:p>
          <a:p>
            <a:pPr defTabSz="912813"/>
            <a:endParaRPr lang="en-US" altLang="ja-JP" sz="1600">
              <a:solidFill>
                <a:schemeClr val="bg1"/>
              </a:solidFill>
              <a:sym typeface="Trebuchet MS Bold" pitchFamily="34" charset="0"/>
            </a:endParaRPr>
          </a:p>
        </p:txBody>
      </p:sp>
      <p:sp>
        <p:nvSpPr>
          <p:cNvPr id="187397" name="Text Box 13"/>
          <p:cNvSpPr txBox="1">
            <a:spLocks/>
          </p:cNvSpPr>
          <p:nvPr/>
        </p:nvSpPr>
        <p:spPr bwMode="auto">
          <a:xfrm>
            <a:off x="6477000" y="1371600"/>
            <a:ext cx="2438400" cy="32924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96875" indent="-285750">
              <a:buFontTx/>
              <a:buChar char="•"/>
            </a:pPr>
            <a:r>
              <a:rPr lang="en-US" altLang="ja-JP" sz="1600">
                <a:solidFill>
                  <a:schemeClr val="bg1"/>
                </a:solidFill>
                <a:sym typeface="Trebuchet MS Bold" pitchFamily="34" charset="0"/>
              </a:rPr>
              <a:t>More than 6.4 million ft</a:t>
            </a:r>
            <a:r>
              <a:rPr lang="en-US" altLang="ja-JP" sz="1600" baseline="30000">
                <a:solidFill>
                  <a:schemeClr val="bg1"/>
                </a:solidFill>
                <a:sym typeface="Trebuchet MS Bold" pitchFamily="34" charset="0"/>
              </a:rPr>
              <a:t>2</a:t>
            </a:r>
            <a:r>
              <a:rPr lang="en-US" altLang="ja-JP" sz="1600">
                <a:solidFill>
                  <a:schemeClr val="bg1"/>
                </a:solidFill>
                <a:sym typeface="Trebuchet MS Bold" pitchFamily="34" charset="0"/>
              </a:rPr>
              <a:t> (nearly 600,000 sq. meters) of cGMP- or CGDP-compliant, dedicated healthcare distribution space globally</a:t>
            </a:r>
          </a:p>
          <a:p>
            <a:pPr marL="396875" indent="-285750">
              <a:buFontTx/>
              <a:buChar char="•"/>
            </a:pPr>
            <a:endParaRPr lang="en-US" sz="1600">
              <a:solidFill>
                <a:schemeClr val="bg1"/>
              </a:solidFill>
              <a:sym typeface="Trebuchet MS Bold" pitchFamily="34" charset="0"/>
            </a:endParaRPr>
          </a:p>
          <a:p>
            <a:pPr marL="396875" indent="-285750">
              <a:buFontTx/>
              <a:buChar char="•"/>
            </a:pPr>
            <a:r>
              <a:rPr lang="en-US" sz="1600">
                <a:solidFill>
                  <a:schemeClr val="bg1"/>
                </a:solidFill>
                <a:sym typeface="Trebuchet MS Bold" pitchFamily="34" charset="0"/>
              </a:rPr>
              <a:t>45 dedicated healthcare facilities worldwide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1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914400"/>
            <a:ext cx="8120063" cy="443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9442" name="Rectangle 1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chemeClr val="tx1"/>
                </a:solidFill>
              </a:rPr>
              <a:t>Global Healthcare Integrated Distribution Network</a:t>
            </a:r>
          </a:p>
        </p:txBody>
      </p:sp>
      <p:sp>
        <p:nvSpPr>
          <p:cNvPr id="189443" name="Text Box 339"/>
          <p:cNvSpPr txBox="1">
            <a:spLocks noChangeArrowheads="1"/>
          </p:cNvSpPr>
          <p:nvPr/>
        </p:nvSpPr>
        <p:spPr bwMode="auto">
          <a:xfrm>
            <a:off x="1584325" y="5091113"/>
            <a:ext cx="1412875" cy="94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" b="1">
                <a:solidFill>
                  <a:schemeClr val="tx1"/>
                </a:solidFill>
                <a:sym typeface="Trebuchet MS Bold" pitchFamily="34" charset="0"/>
              </a:rPr>
              <a:t>ASIA PACIFIC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Hangzhou, CN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Int’l Air Hub – CN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Intra-Asia Air Hub – CN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Shanghai, CN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Singapore, SG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Sydney, AU</a:t>
            </a:r>
          </a:p>
        </p:txBody>
      </p:sp>
      <p:sp>
        <p:nvSpPr>
          <p:cNvPr id="189444" name="Text Box 339"/>
          <p:cNvSpPr txBox="1">
            <a:spLocks noChangeArrowheads="1"/>
          </p:cNvSpPr>
          <p:nvPr/>
        </p:nvSpPr>
        <p:spPr bwMode="auto">
          <a:xfrm>
            <a:off x="1584325" y="3810000"/>
            <a:ext cx="1641475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" b="1">
                <a:solidFill>
                  <a:schemeClr val="tx1"/>
                </a:solidFill>
                <a:sym typeface="Trebuchet MS Bold" pitchFamily="34" charset="0"/>
              </a:rPr>
              <a:t>EUROPE</a:t>
            </a:r>
          </a:p>
          <a:p>
            <a:r>
              <a:rPr lang="en-US" sz="800">
                <a:solidFill>
                  <a:schemeClr val="tx1"/>
                </a:solidFill>
                <a:sym typeface="Trebuchet MS Bold" pitchFamily="34" charset="0"/>
              </a:rPr>
              <a:t>Budapest, HU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Cologne Air Hub, DE</a:t>
            </a:r>
          </a:p>
          <a:p>
            <a:r>
              <a:rPr lang="en-US" sz="800">
                <a:solidFill>
                  <a:srgbClr val="FF7800"/>
                </a:solidFill>
                <a:sym typeface="Trebuchet MS Bold" pitchFamily="34" charset="0"/>
              </a:rPr>
              <a:t>Leighton Buzzard, UK</a:t>
            </a:r>
          </a:p>
          <a:p>
            <a:r>
              <a:rPr lang="en-US" sz="800">
                <a:solidFill>
                  <a:schemeClr val="tx1"/>
                </a:solidFill>
                <a:sym typeface="Trebuchet MS Bold" pitchFamily="34" charset="0"/>
              </a:rPr>
              <a:t>Madrid, ES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Milan, IT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Rome, IT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Roermond, NL</a:t>
            </a:r>
          </a:p>
          <a:p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Venlo, NL</a:t>
            </a:r>
          </a:p>
        </p:txBody>
      </p:sp>
      <p:sp>
        <p:nvSpPr>
          <p:cNvPr id="189445" name="Text Box 339"/>
          <p:cNvSpPr txBox="1">
            <a:spLocks noChangeArrowheads="1"/>
          </p:cNvSpPr>
          <p:nvPr/>
        </p:nvSpPr>
        <p:spPr bwMode="auto">
          <a:xfrm>
            <a:off x="304800" y="3003550"/>
            <a:ext cx="1641475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2813"/>
            <a:r>
              <a:rPr lang="en-US" sz="800" b="1">
                <a:solidFill>
                  <a:srgbClr val="2C0000"/>
                </a:solidFill>
                <a:sym typeface="Trebuchet MS Bold" pitchFamily="34" charset="0"/>
              </a:rPr>
              <a:t>AMERICAS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Atlanta, GA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Dallas, TX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Harrisburg, PA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Louisville, KY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Louisville, KY Air Hub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Memphis, TN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Miami, FL Air Hub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Mira Loma, CA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Newark, DE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Ontario, CA Air Hub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Philadelphia, PA Air Hub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Reno, NV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Suwanee, GA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Burlington, ON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Calgary, AB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Mount Pearl, NL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Toronto, ON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Winnipeg, MB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Bogota, CO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Goiania, BR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Mexico City, MX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San Juan, PR</a:t>
            </a:r>
          </a:p>
          <a:p>
            <a:pPr defTabSz="912813"/>
            <a:r>
              <a:rPr lang="en-US" sz="800">
                <a:solidFill>
                  <a:srgbClr val="2C0000"/>
                </a:solidFill>
                <a:sym typeface="Trebuchet MS Bold" pitchFamily="34" charset="0"/>
              </a:rPr>
              <a:t>Santiago, CL</a:t>
            </a:r>
          </a:p>
        </p:txBody>
      </p:sp>
      <p:sp>
        <p:nvSpPr>
          <p:cNvPr id="8199" name="Rectangle 4"/>
          <p:cNvSpPr>
            <a:spLocks noChangeArrowheads="1"/>
          </p:cNvSpPr>
          <p:nvPr/>
        </p:nvSpPr>
        <p:spPr bwMode="auto">
          <a:xfrm>
            <a:off x="5268913" y="4800600"/>
            <a:ext cx="3875087" cy="1143000"/>
          </a:xfrm>
          <a:prstGeom prst="rect">
            <a:avLst/>
          </a:prstGeom>
          <a:solidFill>
            <a:schemeClr val="bg1">
              <a:alpha val="54901"/>
            </a:schemeClr>
          </a:solidFill>
          <a:ln>
            <a:noFill/>
          </a:ln>
          <a:extLst>
            <a:ext uri="{91240B29-F687-4F45-9708-019B960494DF}"/>
          </a:extLst>
        </p:spPr>
        <p:txBody>
          <a:bodyPr wrap="none" anchor="ctr"/>
          <a:lstStyle/>
          <a:p>
            <a:pPr>
              <a:lnSpc>
                <a:spcPct val="140000"/>
              </a:lnSpc>
              <a:buFontTx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  <a:sym typeface="Arial Black" pitchFamily="34" charset="0"/>
              </a:rPr>
              <a:t> Network of 45 facilities</a:t>
            </a:r>
          </a:p>
          <a:p>
            <a:pPr>
              <a:buFontTx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  <a:sym typeface="Arial Black" pitchFamily="34" charset="0"/>
              </a:rPr>
              <a:t> More than 6.4 million ft</a:t>
            </a:r>
            <a:r>
              <a:rPr lang="en-US" sz="1200" baseline="300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  <a:sym typeface="Arial Black" pitchFamily="34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  <a:sym typeface="Arial Black" pitchFamily="34" charset="0"/>
              </a:rPr>
              <a:t> </a:t>
            </a:r>
          </a:p>
          <a:p>
            <a:pPr marL="117475">
              <a:defRPr/>
            </a:pPr>
            <a:r>
              <a:rPr lang="en-US" sz="12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  <a:sym typeface="Arial Black" pitchFamily="34" charset="0"/>
              </a:rPr>
              <a:t>(nearly 600,000 m</a:t>
            </a:r>
            <a:r>
              <a:rPr lang="en-US" sz="1200" baseline="300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  <a:sym typeface="Arial Black" pitchFamily="34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  <a:sym typeface="Arial Black" pitchFamily="34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89" name="Picture 5"/>
          <p:cNvPicPr>
            <a:picLocks noChangeAspect="1"/>
          </p:cNvPicPr>
          <p:nvPr/>
        </p:nvPicPr>
        <p:blipFill>
          <a:blip r:embed="rId3"/>
          <a:srcRect r="53647"/>
          <a:stretch>
            <a:fillRect/>
          </a:stretch>
        </p:blipFill>
        <p:spPr bwMode="auto">
          <a:xfrm>
            <a:off x="2971800" y="809625"/>
            <a:ext cx="5951538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1490" name="TextBox 113"/>
          <p:cNvSpPr txBox="1">
            <a:spLocks noChangeArrowheads="1"/>
          </p:cNvSpPr>
          <p:nvPr/>
        </p:nvSpPr>
        <p:spPr bwMode="auto">
          <a:xfrm>
            <a:off x="304800" y="1219200"/>
            <a:ext cx="38862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09538" indent="-109538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US" sz="1600">
                <a:sym typeface="Arial" charset="0"/>
              </a:rPr>
              <a:t>New U.K. network extends capabilities throughout the United Kingdom</a:t>
            </a:r>
          </a:p>
          <a:p>
            <a:pPr marL="109538" indent="-109538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US" sz="1600">
                <a:sym typeface="Arial" charset="0"/>
              </a:rPr>
              <a:t>Netherlands Campus is strategically located in the heart of Europe for access to Western and Northern Europe</a:t>
            </a:r>
          </a:p>
          <a:p>
            <a:pPr marL="109538" indent="-109538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US" sz="1600">
                <a:sym typeface="Arial" charset="0"/>
              </a:rPr>
              <a:t>Italy distribution centers are situated to serve the local Italian market and Southern Europe</a:t>
            </a:r>
          </a:p>
          <a:p>
            <a:pPr marL="109538" indent="-109538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US" sz="1600">
                <a:sym typeface="Arial" charset="0"/>
              </a:rPr>
              <a:t>UPS</a:t>
            </a:r>
            <a:r>
              <a:rPr lang="en-US" sz="1600" baseline="40000">
                <a:sym typeface="Arial" charset="0"/>
              </a:rPr>
              <a:t>®</a:t>
            </a:r>
            <a:r>
              <a:rPr lang="en-US" sz="1600">
                <a:sym typeface="Arial" charset="0"/>
              </a:rPr>
              <a:t> distribution facilities in Budapest, Hungary, serve the growing Central and Eastern European market</a:t>
            </a:r>
          </a:p>
          <a:p>
            <a:pPr marL="109538" indent="-109538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US" sz="1600">
                <a:sym typeface="Arial" charset="0"/>
              </a:rPr>
              <a:t>Madrid, Spain, facility is located for conducting business across Europe, </a:t>
            </a:r>
            <a:br>
              <a:rPr lang="en-US" sz="1600">
                <a:sym typeface="Arial" charset="0"/>
              </a:rPr>
            </a:br>
            <a:r>
              <a:rPr lang="en-US" sz="1600">
                <a:sym typeface="Arial" charset="0"/>
              </a:rPr>
              <a:t>in particular, the Iberian Peninsula</a:t>
            </a:r>
          </a:p>
        </p:txBody>
      </p:sp>
      <p:sp>
        <p:nvSpPr>
          <p:cNvPr id="191491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228600"/>
            <a:ext cx="8383587" cy="1062038"/>
          </a:xfrm>
        </p:spPr>
        <p:txBody>
          <a:bodyPr/>
          <a:lstStyle/>
          <a:p>
            <a:pPr eaLnBrk="1" hangingPunct="1"/>
            <a:r>
              <a:rPr lang="en-US" sz="2400" smtClean="0">
                <a:solidFill>
                  <a:schemeClr val="tx1"/>
                </a:solidFill>
                <a:sym typeface="Arial" charset="0"/>
              </a:rPr>
              <a:t>Compliant Healthcare Storage and Distribution Across Europe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chemeClr val="tx1"/>
                </a:solidFill>
                <a:sym typeface="Arial" charset="0"/>
              </a:rPr>
              <a:t>UPS</a:t>
            </a:r>
            <a:r>
              <a:rPr lang="en-US" sz="2400" baseline="40000" smtClean="0">
                <a:solidFill>
                  <a:schemeClr val="tx1"/>
                </a:solidFill>
                <a:sym typeface="Arial" charset="0"/>
              </a:rPr>
              <a:t>®</a:t>
            </a:r>
            <a:r>
              <a:rPr lang="en-US" sz="2400" smtClean="0">
                <a:solidFill>
                  <a:schemeClr val="tx1"/>
                </a:solidFill>
                <a:sym typeface="Arial" charset="0"/>
              </a:rPr>
              <a:t> in Europe</a:t>
            </a:r>
          </a:p>
        </p:txBody>
      </p:sp>
      <p:graphicFrame>
        <p:nvGraphicFramePr>
          <p:cNvPr id="11321" name="Group 57"/>
          <p:cNvGraphicFramePr>
            <a:graphicFrameLocks noGrp="1"/>
          </p:cNvGraphicFramePr>
          <p:nvPr/>
        </p:nvGraphicFramePr>
        <p:xfrm>
          <a:off x="304800" y="1143000"/>
          <a:ext cx="8686800" cy="4897438"/>
        </p:xfrm>
        <a:graphic>
          <a:graphicData uri="http://schemas.openxmlformats.org/drawingml/2006/table">
            <a:tbl>
              <a:tblPr/>
              <a:tblGrid>
                <a:gridCol w="2057400"/>
                <a:gridCol w="6629400"/>
              </a:tblGrid>
              <a:tr h="5158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Region headquarters: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Brussels, Belgium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2012 delivery volume: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4.1 billion packages and documents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8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Service area: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60 countries and territories (more than 120 including the Middle East and Africa)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Employees: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43,000 in Europe; nearly 400,000 worldwide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Delivery fleet: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Approximately 8,800 (package cars, vans and tractors)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4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Operating facilities: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Approximately 460 (offices, package centers, hubs, gateway offices, distribution centers and warehouses)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Daily flight segments: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Intra-Europe 251; International 107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8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Europe air hub: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Cologne/Bonn Airport, Germany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UPS access points:</a:t>
                      </a:r>
                    </a:p>
                  </a:txBody>
                  <a:tcPr marT="45713" marB="457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363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Approximately 2,500 (UPS centers, MBE centers, UPS drop-off locations and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UPS Access Point</a:t>
                      </a:r>
                      <a:r>
                        <a:rPr lang="en-US" sz="1400" kern="1200" baseline="3000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TM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locations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Arial" pitchFamily="34" charset="0"/>
                          <a:sym typeface="Trebuchet MS" pitchFamily="34" charset="0"/>
                        </a:rPr>
                        <a:t>)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Package Results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Volume, Net Spend &amp; Accessorials</a:t>
            </a:r>
          </a:p>
        </p:txBody>
      </p:sp>
      <p:sp>
        <p:nvSpPr>
          <p:cNvPr id="194562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6A06253C-8131-4FA1-8DC1-E9E161483AD1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7409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pic>
        <p:nvPicPr>
          <p:cNvPr id="194564" name="Picture 5" descr="ups_be_sandiego055_2004_LR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86000"/>
            <a:ext cx="91440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Package Volume &amp; Net Spend by Product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196610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E4CB5620-6B70-4696-8117-088259DC06DD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20481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196612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SP2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17713"/>
          <a:ext cx="8382000" cy="3017837"/>
        </p:xfrm>
        <a:graphic>
          <a:graphicData uri="http://schemas.openxmlformats.org/drawingml/2006/table">
            <a:tbl>
              <a:tblPr/>
              <a:tblGrid>
                <a:gridCol w="3042116"/>
                <a:gridCol w="1334970"/>
                <a:gridCol w="1334970"/>
                <a:gridCol w="1334970"/>
                <a:gridCol w="1334970"/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2C0000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Volume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Net Spend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Product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NEXT DAY AIR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29,357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18,169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$1,311,588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$872,025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GROUND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56,496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55,861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$592,767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$593,036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WW EXPRESS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179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265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$13,006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$25,638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2ND DAY AIR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24,143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14,446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$772,453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$601,060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 DAY SELECT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415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204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$18,134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$15,937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STANDARD GROUND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$389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$1,141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WW EXPEDITED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$4,681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$2,772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UPS EXPRESS CRITICAL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$796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Totals: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110,636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89,010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$2,713,815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$2,111,609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br>
              <a:rPr lang="en-US" sz="24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Package Volume &amp; Net Spend by Location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198658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395707EA-A107-4D57-89E3-74F9004297F7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21505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198660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SP3a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08188"/>
          <a:ext cx="8382000" cy="3840162"/>
        </p:xfrm>
        <a:graphic>
          <a:graphicData uri="http://schemas.openxmlformats.org/drawingml/2006/table">
            <a:tbl>
              <a:tblPr/>
              <a:tblGrid>
                <a:gridCol w="3278568"/>
                <a:gridCol w="1275858"/>
                <a:gridCol w="1275858"/>
                <a:gridCol w="1275858"/>
                <a:gridCol w="1275858"/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2C0000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Volume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Net Spend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Location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647A3R - MEMPHIS, TN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21,461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20,903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$1,095,586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$1,113,704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1552X5 - WEST CALDWELL, NJ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25,658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34,483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$265,668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$360,977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77AF52 - NEWARK, DE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33,951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18,037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$683,826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$292,201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8AT669 - MALVERN, PA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6,567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5,460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$189,237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$158,135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07V553 - KING OF PRUSSIA, PA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6,181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2,338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$168,107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$48,385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1846A1 - NEWARK, DE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2,244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2,424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$56,809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$35,923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W8264E - HARRISBURG, PA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283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1,413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$5,357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$18,965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6092AY - AUSTIN, TX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379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914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$6,681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$17,666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01X6E1 - CRANBURY, NJ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627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509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$19,459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$13,438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953022 - SAN JOSE, CA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492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565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$13,425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$11,443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ALL OTHERS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12,793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1,964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$209,659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$40,773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Totals: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110,636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89,010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$2,713,815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$2,111,609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5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br>
              <a:rPr lang="en-US" sz="24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Package Top Accessorials by Net Spend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00706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DE044CA4-8AE3-43D3-B9B1-542B6E203F5F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25601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00708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SP6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08188"/>
          <a:ext cx="8382000" cy="3840162"/>
        </p:xfrm>
        <a:graphic>
          <a:graphicData uri="http://schemas.openxmlformats.org/drawingml/2006/table">
            <a:tbl>
              <a:tblPr/>
              <a:tblGrid>
                <a:gridCol w="5287973"/>
                <a:gridCol w="1547013"/>
                <a:gridCol w="1547013"/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2C0000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Accessorial Spend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Description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FUEL SURCHARGE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$256,211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$157,024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HAZMAT-CLASS 1-8 INACCESSIBLE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$150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$115,913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CUSTOM DC SIGNATURE RESPONSE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$113,015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$103,618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HAZMAT-CLASS 9 INACCESSIBLE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$181,800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$95,438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ADDRESS CORRECTION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$11,407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$19,938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ACCOUNT MAINTENANCE (DLY/WKLY SVC)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$14,630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$18,095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DECLARED VALUE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$13,779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$10,558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FIRST WEEKEND DAY-SATURDAY-DELIVERY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$9,195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$9,285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GOV DUTY AMOUNT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$908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$2,502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TRANSIT/TRANSFER FEE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$114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$1,979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ALL OTHERS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$10,177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$6,893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Totals: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$611,386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$541,242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Package Accessorials Net Spend by Location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02754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DF95880B-A260-4F84-8E31-53CC563D5EB0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26625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02756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SP7a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09775"/>
          <a:ext cx="8382000" cy="3840163"/>
        </p:xfrm>
        <a:graphic>
          <a:graphicData uri="http://schemas.openxmlformats.org/drawingml/2006/table">
            <a:tbl>
              <a:tblPr/>
              <a:tblGrid>
                <a:gridCol w="4967111"/>
                <a:gridCol w="1707444"/>
                <a:gridCol w="1707444"/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2C0000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Accessorial Spend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Location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647A3R - MEMPHIS, TN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$287,747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$295,888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1552X5 - WEST CALDWELL, NJ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$108,699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$134,345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77AF52 - NEWARK, DE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$75,674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$33,989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8AT669 - MALVERN, PA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$36,173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$32,948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W8264E - HARRISBURG, PA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$2,647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$5,871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07V553 - KING OF PRUSSIA, PA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$19,736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$4,625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1846A1 - NEWARK, DE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$12,625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$4,522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01X6E1 - CRANBURY, NJ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$5,407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$3,993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6092AY - AUSTIN, TX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$1,076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$2,608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8E24A8 - WESTBURY, NY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$3,308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$2,551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ALL OTHERS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$58,294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$19,901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Totals: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$611,386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$541,242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04800"/>
            <a:ext cx="8383587" cy="1062038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Package Results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On-Time Performance</a:t>
            </a:r>
          </a:p>
        </p:txBody>
      </p:sp>
      <p:sp>
        <p:nvSpPr>
          <p:cNvPr id="204802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C1383BE9-D332-4A24-9F01-C77C6EE55918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27649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pic>
        <p:nvPicPr>
          <p:cNvPr id="204804" name="Picture 3" descr="ground_ho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86000"/>
            <a:ext cx="9144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Package On-Time Performance by Product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06850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C328824E-40C8-4F23-B127-F5F2FD568B4C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28673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06852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SP8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30413"/>
          <a:ext cx="8382000" cy="3886200"/>
        </p:xfrm>
        <a:graphic>
          <a:graphicData uri="http://schemas.openxmlformats.org/drawingml/2006/table">
            <a:tbl>
              <a:tblPr/>
              <a:tblGrid>
                <a:gridCol w="2776700"/>
                <a:gridCol w="934217"/>
                <a:gridCol w="934217"/>
                <a:gridCol w="934217"/>
                <a:gridCol w="934217"/>
                <a:gridCol w="934217"/>
                <a:gridCol w="934217"/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2C0000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Packages Measured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 On-Time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Percent On-Time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Product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NEXT DAY AIR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23,425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15,368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23,089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15,095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98.6%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98.2%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NEXT DAY AIR SAVER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1,536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1,458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1,517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1,446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98.8%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99.2%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NEXT DAY EARLY AM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384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220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371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211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96.6%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95.9%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GROUND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47,137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52,878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46,730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52,302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99.1%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98.9%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INTERNATIONAL EXPRESS SAVER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266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248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263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246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98.9%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99.2%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INTERNATIONAL EXPRESS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88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88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111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100.0%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98.2%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SECOND DAY AIR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20,776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13,903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20,578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13,718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99.0%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98.7%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SECOND DAY EARLY AM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153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111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153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110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100.0%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99.1%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THREE DAY SELECT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458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554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457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551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99.8%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99.5%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INTERNATIONAL STANDARD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100.0%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100.0%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INTERNATIONAL EXPRESS PLUS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95.5%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95.0%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INTERNATIONAL EXPEDITED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100.0%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97.9%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Totals: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94,283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84,983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93,305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83,917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99.0%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98.7%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7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Package On-Time Performance Summary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08898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0A33E5D8-6EF3-4CAE-AC65-EC16D12D30B7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29697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08900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SP9</a:t>
            </a:r>
          </a:p>
        </p:txBody>
      </p:sp>
      <p:pic>
        <p:nvPicPr>
          <p:cNvPr id="20890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213" y="2160588"/>
            <a:ext cx="8791575" cy="293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5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857F4532-BF61-4E20-ADC6-E5BDDEFC9650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45057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109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292100" y="322263"/>
            <a:ext cx="8394700" cy="1062037"/>
          </a:xfrm>
        </p:spPr>
        <p:txBody>
          <a:bodyPr/>
          <a:lstStyle/>
          <a:p>
            <a:r>
              <a:rPr lang="en-US" sz="2400" smtClean="0">
                <a:solidFill>
                  <a:schemeClr val="tx2"/>
                </a:solidFill>
                <a:latin typeface="Arial" charset="0"/>
                <a:cs typeface="Arial" charset="0"/>
              </a:rPr>
              <a:t>Freight Forwarding Results</a:t>
            </a:r>
            <a:r>
              <a:rPr lang="en-US" smtClean="0">
                <a:solidFill>
                  <a:schemeClr val="tx2"/>
                </a:solidFill>
                <a:latin typeface="Arial" charset="0"/>
                <a:cs typeface="Arial" charset="0"/>
              </a:rPr>
              <a:t/>
            </a:r>
            <a:br>
              <a:rPr lang="en-US" smtClean="0">
                <a:solidFill>
                  <a:schemeClr val="tx2"/>
                </a:solidFill>
                <a:latin typeface="Arial" charset="0"/>
                <a:cs typeface="Arial" charset="0"/>
              </a:rPr>
            </a:br>
            <a:r>
              <a:rPr lang="en-US" sz="2200" smtClean="0">
                <a:solidFill>
                  <a:schemeClr val="tx2"/>
                </a:solidFill>
                <a:latin typeface="Arial" charset="0"/>
                <a:cs typeface="Arial" charset="0"/>
              </a:rPr>
              <a:t>Volume, Net Spend &amp; On-Time Performance</a:t>
            </a:r>
          </a:p>
        </p:txBody>
      </p:sp>
      <p:pic>
        <p:nvPicPr>
          <p:cNvPr id="210948" name="Picture 2" descr="divider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86000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Freight Forwarding Volume &amp; Net Spend by Service Category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12994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AA602FC4-3E14-4989-BA65-1853E7D35C6A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46081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12996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SCS1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08188"/>
          <a:ext cx="8382000" cy="2378075"/>
        </p:xfrm>
        <a:graphic>
          <a:graphicData uri="http://schemas.openxmlformats.org/drawingml/2006/table">
            <a:tbl>
              <a:tblPr/>
              <a:tblGrid>
                <a:gridCol w="2928651"/>
                <a:gridCol w="908892"/>
                <a:gridCol w="908892"/>
                <a:gridCol w="908892"/>
                <a:gridCol w="908892"/>
                <a:gridCol w="908892"/>
                <a:gridCol w="908892"/>
              </a:tblGrid>
              <a:tr h="19882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2C0000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Shipments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Billed Weight (lbs)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 Spend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9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Description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  <a:tr h="189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INTERNATIONAL AIR FREIGHT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2,440,913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1,178,040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$8,109,033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$3,512,782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NORTH AMERICA AIR FREIGHT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1,169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4,190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$2,934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$8,260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OCEAN FREIGHT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136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195,107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2,652,480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$112,406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$1,689,058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CUSTOMS BROKERAGE SERVICES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33,226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8,719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$24,974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$77,220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DISTRIBUTION SERVICES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$8,784,629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$8,153,313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82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Totals: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67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184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2,670,415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3,843,429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$17,033,977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$13,440,633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br>
              <a:rPr lang="en-US" sz="24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Freight Forwarding Volume &amp; Net Spend by Service Level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15042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73FDF038-77CF-40B2-AFD4-5D80143B9274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47105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15044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SCS2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08188"/>
          <a:ext cx="8382000" cy="2743200"/>
        </p:xfrm>
        <a:graphic>
          <a:graphicData uri="http://schemas.openxmlformats.org/drawingml/2006/table">
            <a:tbl>
              <a:tblPr/>
              <a:tblGrid>
                <a:gridCol w="2776700"/>
                <a:gridCol w="934217"/>
                <a:gridCol w="934217"/>
                <a:gridCol w="934217"/>
                <a:gridCol w="934217"/>
                <a:gridCol w="934217"/>
                <a:gridCol w="934217"/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2C0000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Shipments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Billed Weight (lbs)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 Spend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Service Level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2013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AIR FREIGHT CONSOLIDATED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3,735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2,487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$10,743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$3,357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OCEAN FCL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136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195,107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2,652,480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$112,406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$1,689,058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OCEAN CUSTOMS BROKERAGE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33,226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8,719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$2,736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$987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AIR FREIGHT DIRECT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2,437,178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1,175,553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$8,098,290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$3,509,425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 DAY FREIGHT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44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1,102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$42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$779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2ND DAY AIR FREIGHT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1,125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$2,892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NEXT DAY AIR FREIGHT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2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3,088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2C0000"/>
                          </a:solidFill>
                          <a:effectLst/>
                          <a:latin typeface="Arial"/>
                        </a:rPr>
                        <a:t>$7,480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Totals: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67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184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2,670,415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3,843,429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$8,227,109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$5,211,086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43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9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Freight Forwarding Volume &amp; Net Spend Summary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17090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9E192703-7BC9-46EC-BD1D-0F35A2082976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48129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17092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SCS3</a:t>
            </a:r>
          </a:p>
        </p:txBody>
      </p:sp>
      <p:grpSp>
        <p:nvGrpSpPr>
          <p:cNvPr id="217093" name="Group 5"/>
          <p:cNvGrpSpPr>
            <a:grpSpLocks/>
          </p:cNvGrpSpPr>
          <p:nvPr/>
        </p:nvGrpSpPr>
        <p:grpSpPr bwMode="auto">
          <a:xfrm>
            <a:off x="182563" y="2070100"/>
            <a:ext cx="8778875" cy="2930525"/>
            <a:chOff x="0" y="0"/>
            <a:chExt cx="8780145" cy="2930842"/>
          </a:xfrm>
        </p:grpSpPr>
        <p:graphicFrame>
          <p:nvGraphicFramePr>
            <p:cNvPr id="7" name="Chart 6"/>
            <p:cNvGraphicFramePr/>
            <p:nvPr/>
          </p:nvGraphicFramePr>
          <p:xfrm>
            <a:off x="0" y="4762"/>
            <a:ext cx="4389120" cy="29260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8" name="Chart 7"/>
            <p:cNvGraphicFramePr>
              <a:graphicFrameLocks/>
            </p:cNvGraphicFramePr>
            <p:nvPr/>
          </p:nvGraphicFramePr>
          <p:xfrm>
            <a:off x="4391025" y="0"/>
            <a:ext cx="4389120" cy="29260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7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Endo Pharmaceuticals</a:t>
            </a:r>
            <a:br>
              <a:rPr lang="en-US" sz="24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Freight Forwarding On-Time Performance Summary</a:t>
            </a:r>
            <a:br>
              <a:rPr lang="en-US" sz="2200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Annual, 2012 vs. 2013</a:t>
            </a:r>
          </a:p>
        </p:txBody>
      </p:sp>
      <p:sp>
        <p:nvSpPr>
          <p:cNvPr id="219138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C380AC2D-E94C-4A56-90A9-B03DDFFC29D3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49153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19140" name="Rectangle 3"/>
          <p:cNvSpPr>
            <a:spLocks noChangeArrowheads="1"/>
          </p:cNvSpPr>
          <p:nvPr/>
        </p:nvSpPr>
        <p:spPr bwMode="auto">
          <a:xfrm>
            <a:off x="8582025" y="0"/>
            <a:ext cx="561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SCS4</a:t>
            </a:r>
          </a:p>
        </p:txBody>
      </p:sp>
      <p:pic>
        <p:nvPicPr>
          <p:cNvPr id="21914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563" y="2160588"/>
            <a:ext cx="8778875" cy="293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383587" cy="6683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Customer Service</a:t>
            </a:r>
          </a:p>
        </p:txBody>
      </p:sp>
      <p:sp>
        <p:nvSpPr>
          <p:cNvPr id="221186" name="Text Box 8"/>
          <p:cNvSpPr txBox="1">
            <a:spLocks noGrp="1" noChangeArrowheads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fld id="{9FC7F1A1-1C5B-4E74-8087-570FC42CC37B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/>
              <a:t>24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17409" name="Rectangle 7"/>
          <p:cNvSpPr txBox="1">
            <a:spLocks noGrp="1" noChangeArrowheads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r>
              <a:rPr lang="en-US" sz="700" cap="all"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pic>
        <p:nvPicPr>
          <p:cNvPr id="221188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990600"/>
            <a:ext cx="7162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233" name="SmartArt Placeholder 164866"/>
          <p:cNvGrpSpPr>
            <a:grpSpLocks/>
          </p:cNvGrpSpPr>
          <p:nvPr/>
        </p:nvGrpSpPr>
        <p:grpSpPr bwMode="auto">
          <a:xfrm>
            <a:off x="338138" y="914400"/>
            <a:ext cx="8413750" cy="4875213"/>
            <a:chOff x="269" y="669"/>
            <a:chExt cx="1872" cy="2109"/>
          </a:xfrm>
        </p:grpSpPr>
        <p:cxnSp>
          <p:nvCxnSpPr>
            <p:cNvPr id="223235" name="_s1562628"/>
            <p:cNvCxnSpPr>
              <a:cxnSpLocks noChangeShapeType="1"/>
              <a:stCxn id="4" idx="0"/>
              <a:endCxn id="3" idx="2"/>
            </p:cNvCxnSpPr>
            <p:nvPr/>
          </p:nvCxnSpPr>
          <p:spPr bwMode="auto">
            <a:xfrm rot="-5400000">
              <a:off x="1134" y="1028"/>
              <a:ext cx="144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3236" name="_s1562629"/>
            <p:cNvCxnSpPr>
              <a:cxnSpLocks noChangeShapeType="1"/>
              <a:stCxn id="8" idx="0"/>
              <a:endCxn id="6" idx="2"/>
            </p:cNvCxnSpPr>
            <p:nvPr/>
          </p:nvCxnSpPr>
          <p:spPr bwMode="auto">
            <a:xfrm rot="16200000" flipV="1">
              <a:off x="1385" y="2073"/>
              <a:ext cx="144" cy="504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23237" name="_s1562630"/>
            <p:cNvCxnSpPr>
              <a:cxnSpLocks noChangeShapeType="1"/>
              <a:stCxn id="7" idx="0"/>
              <a:endCxn id="6" idx="2"/>
            </p:cNvCxnSpPr>
            <p:nvPr/>
          </p:nvCxnSpPr>
          <p:spPr bwMode="auto">
            <a:xfrm rot="5400000" flipH="1" flipV="1">
              <a:off x="881" y="2073"/>
              <a:ext cx="144" cy="504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23238" name="_s1562631"/>
            <p:cNvCxnSpPr>
              <a:cxnSpLocks noChangeShapeType="1"/>
              <a:stCxn id="6" idx="0"/>
              <a:endCxn id="5" idx="2"/>
            </p:cNvCxnSpPr>
            <p:nvPr/>
          </p:nvCxnSpPr>
          <p:spPr bwMode="auto">
            <a:xfrm flipV="1">
              <a:off x="1205" y="1821"/>
              <a:ext cx="0" cy="1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3239" name="_s1562632"/>
            <p:cNvCxnSpPr>
              <a:cxnSpLocks noChangeShapeType="1"/>
              <a:stCxn id="5" idx="0"/>
              <a:endCxn id="4" idx="2"/>
            </p:cNvCxnSpPr>
            <p:nvPr/>
          </p:nvCxnSpPr>
          <p:spPr bwMode="auto">
            <a:xfrm flipV="1">
              <a:off x="1205" y="1389"/>
              <a:ext cx="0" cy="1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" name="_s1562633"/>
            <p:cNvSpPr>
              <a:spLocks noChangeArrowheads="1"/>
            </p:cNvSpPr>
            <p:nvPr/>
          </p:nvSpPr>
          <p:spPr bwMode="auto">
            <a:xfrm>
              <a:off x="773" y="669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David Quintilio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Vice President – Healthcare Operations</a:t>
              </a:r>
            </a:p>
          </p:txBody>
        </p:sp>
        <p:sp>
          <p:nvSpPr>
            <p:cNvPr id="4" name="_s1562634"/>
            <p:cNvSpPr>
              <a:spLocks noChangeArrowheads="1"/>
            </p:cNvSpPr>
            <p:nvPr/>
          </p:nvSpPr>
          <p:spPr bwMode="auto">
            <a:xfrm>
              <a:off x="773" y="1101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Kim Kohler 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Senior Manager  -  Order to Cash </a:t>
              </a:r>
            </a:p>
          </p:txBody>
        </p:sp>
        <p:sp>
          <p:nvSpPr>
            <p:cNvPr id="5" name="_s1562635"/>
            <p:cNvSpPr>
              <a:spLocks noChangeArrowheads="1"/>
            </p:cNvSpPr>
            <p:nvPr/>
          </p:nvSpPr>
          <p:spPr bwMode="auto">
            <a:xfrm>
              <a:off x="773" y="1533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Joanie Page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Customer Service Manager</a:t>
              </a:r>
            </a:p>
          </p:txBody>
        </p:sp>
        <p:sp>
          <p:nvSpPr>
            <p:cNvPr id="6" name="_s1562636"/>
            <p:cNvSpPr>
              <a:spLocks noChangeArrowheads="1"/>
            </p:cNvSpPr>
            <p:nvPr/>
          </p:nvSpPr>
          <p:spPr bwMode="auto">
            <a:xfrm>
              <a:off x="773" y="1965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Peter Jennings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Supervisor</a:t>
              </a:r>
            </a:p>
          </p:txBody>
        </p:sp>
        <p:sp>
          <p:nvSpPr>
            <p:cNvPr id="7" name="_s1562637"/>
            <p:cNvSpPr>
              <a:spLocks noChangeArrowheads="1"/>
            </p:cNvSpPr>
            <p:nvPr/>
          </p:nvSpPr>
          <p:spPr bwMode="auto">
            <a:xfrm>
              <a:off x="269" y="2397"/>
              <a:ext cx="864" cy="381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Dian Truitt</a:t>
              </a:r>
            </a:p>
            <a:p>
              <a:pPr algn="ctr"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Team Lead</a:t>
              </a:r>
            </a:p>
          </p:txBody>
        </p:sp>
        <p:sp>
          <p:nvSpPr>
            <p:cNvPr id="8" name="_s1562638"/>
            <p:cNvSpPr>
              <a:spLocks noChangeArrowheads="1"/>
            </p:cNvSpPr>
            <p:nvPr/>
          </p:nvSpPr>
          <p:spPr bwMode="auto">
            <a:xfrm>
              <a:off x="1277" y="2397"/>
              <a:ext cx="864" cy="381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Linda Cichocki (CMA)</a:t>
              </a:r>
            </a:p>
            <a:p>
              <a:pPr algn="ctr"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Sherie Longshore (CMA)</a:t>
              </a:r>
            </a:p>
            <a:p>
              <a:pPr algn="ctr"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Kirk Slaughter (CMA)</a:t>
              </a:r>
            </a:p>
            <a:p>
              <a:pPr algn="ctr">
                <a:defRPr/>
              </a:pPr>
              <a:r>
                <a:rPr lang="en-US" sz="1200" b="1" dirty="0" err="1">
                  <a:solidFill>
                    <a:schemeClr val="bg1"/>
                  </a:solidFill>
                  <a:latin typeface="+mj-lt"/>
                  <a:cs typeface="Arial" pitchFamily="34" charset="0"/>
                </a:rPr>
                <a:t>Babs</a:t>
              </a:r>
              <a:r>
                <a:rPr lang="en-US" sz="1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 Johnston (Returns)</a:t>
              </a:r>
            </a:p>
          </p:txBody>
        </p:sp>
      </p:grp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25413" y="268288"/>
            <a:ext cx="8626475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/>
          <a:lstStyle/>
          <a:p>
            <a:pPr algn="ctr" defTabSz="642938">
              <a:defRPr/>
            </a:pPr>
            <a:r>
              <a:rPr lang="en-US" altLang="zh-TW" sz="2400">
                <a:effectLst>
                  <a:outerShdw blurRad="38100" dist="38100" dir="2700000" algn="tl">
                    <a:srgbClr val="C0C0C0"/>
                  </a:outerShdw>
                </a:effectLst>
                <a:latin typeface="Trebuchet MS Bold" pitchFamily="34" charset="0"/>
                <a:sym typeface="Trebuchet MS Bold" pitchFamily="34" charset="0"/>
              </a:rPr>
              <a:t>Newark Customer Service Org Chart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Trebuchet MS Bold" pitchFamily="34" charset="0"/>
              <a:sym typeface="Trebuchet MS Bold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Title 1"/>
          <p:cNvSpPr>
            <a:spLocks noGrp="1"/>
          </p:cNvSpPr>
          <p:nvPr>
            <p:ph type="title" idx="4294967295"/>
          </p:nvPr>
        </p:nvSpPr>
        <p:spPr>
          <a:xfrm>
            <a:off x="228600" y="228600"/>
            <a:ext cx="8915400" cy="1319213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AVEED LAUNCH!!  March 10, 2014</a:t>
            </a:r>
            <a:br>
              <a:rPr lang="en-US" sz="2400" smtClean="0">
                <a:latin typeface="Arial" charset="0"/>
                <a:cs typeface="Arial" charset="0"/>
              </a:rPr>
            </a:br>
            <a:r>
              <a:rPr lang="en-US" sz="2400" smtClean="0">
                <a:latin typeface="Arial" charset="0"/>
                <a:cs typeface="Arial" charset="0"/>
              </a:rPr>
              <a:t>Memphis DC and Newark Customer Service with first order to Besse Medical</a:t>
            </a:r>
          </a:p>
        </p:txBody>
      </p:sp>
      <p:pic>
        <p:nvPicPr>
          <p:cNvPr id="284675" name="Chart Placeholder 5"/>
          <p:cNvPicPr>
            <a:picLocks noGrp="1" noChangeAspect="1"/>
          </p:cNvPicPr>
          <p:nvPr>
            <p:ph type="chart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725613"/>
            <a:ext cx="4724400" cy="3829050"/>
          </a:xfrm>
        </p:spPr>
      </p:pic>
      <p:sp>
        <p:nvSpPr>
          <p:cNvPr id="284676" name="Slide Number Placeholder 3"/>
          <p:cNvSpPr txBox="1">
            <a:spLocks noGrp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fld id="{3692C611-ABC5-47DD-934A-8590F532C63E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/>
              <a:t>26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5" name="Footer Placeholder 4"/>
          <p:cNvSpPr txBox="1">
            <a:spLocks noGrp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en-US" sz="700" cap="all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  <a:endParaRPr lang="en-US" sz="700" cap="all">
              <a:latin typeface="Gill Sans" charset="0"/>
              <a:ea typeface="ＭＳ Ｐゴシック" charset="-128"/>
              <a:cs typeface="ＭＳ Ｐゴシック" charset="-128"/>
              <a:sym typeface="Gill Sans" charset="0"/>
            </a:endParaRPr>
          </a:p>
        </p:txBody>
      </p:sp>
      <p:pic>
        <p:nvPicPr>
          <p:cNvPr id="284678" name="Chart Placeholder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2274888"/>
            <a:ext cx="4419600" cy="362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1524000" y="1395413"/>
          <a:ext cx="6096000" cy="4067175"/>
        </p:xfrm>
        <a:graphic>
          <a:graphicData uri="http://schemas.openxmlformats.org/presentationml/2006/ole">
            <p:oleObj spid="_x0000_s115714" name="Chart" r:id="rId4" imgW="6096075" imgH="4067089" progId="MSGraph.Chart.8">
              <p:embed followColorScheme="full"/>
            </p:oleObj>
          </a:graphicData>
        </a:graphic>
      </p:graphicFrame>
      <p:sp>
        <p:nvSpPr>
          <p:cNvPr id="115718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80975" y="155575"/>
            <a:ext cx="8594725" cy="1143000"/>
          </a:xfrm>
        </p:spPr>
        <p:txBody>
          <a:bodyPr/>
          <a:lstStyle/>
          <a:p>
            <a:pPr algn="ctr"/>
            <a:r>
              <a:rPr lang="en-US" sz="2400" b="1" i="1" smtClean="0">
                <a:solidFill>
                  <a:srgbClr val="32079F"/>
                </a:solidFill>
                <a:latin typeface="Arial" charset="0"/>
              </a:rPr>
              <a:t>Inbound Calls – Yearly Comparison</a:t>
            </a:r>
            <a:br>
              <a:rPr lang="en-US" sz="2400" b="1" i="1" smtClean="0">
                <a:solidFill>
                  <a:srgbClr val="32079F"/>
                </a:solidFill>
                <a:latin typeface="Arial" charset="0"/>
              </a:rPr>
            </a:br>
            <a:r>
              <a:rPr lang="en-US" sz="2400" smtClean="0">
                <a:latin typeface="Arial" charset="0"/>
              </a:rPr>
              <a:t/>
            </a:r>
            <a:br>
              <a:rPr lang="en-US" sz="2400" smtClean="0">
                <a:latin typeface="Arial" charset="0"/>
              </a:rPr>
            </a:br>
            <a:endParaRPr lang="en-US" sz="2400" smtClean="0">
              <a:latin typeface="Arial" charset="0"/>
            </a:endParaRPr>
          </a:p>
        </p:txBody>
      </p:sp>
      <p:graphicFrame>
        <p:nvGraphicFramePr>
          <p:cNvPr id="115716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03300" y="2587625"/>
          <a:ext cx="3681413" cy="1892300"/>
        </p:xfrm>
        <a:graphic>
          <a:graphicData uri="http://schemas.openxmlformats.org/presentationml/2006/ole">
            <p:oleObj spid="_x0000_s115716" name="Chart" r:id="rId5" imgW="7543768" imgH="4448235" progId="MSGraph.Chart.8">
              <p:embed followColorScheme="full"/>
            </p:oleObj>
          </a:graphicData>
        </a:graphic>
      </p:graphicFrame>
      <p:graphicFrame>
        <p:nvGraphicFramePr>
          <p:cNvPr id="115717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55600" y="769938"/>
          <a:ext cx="8483600" cy="5097462"/>
        </p:xfrm>
        <a:graphic>
          <a:graphicData uri="http://schemas.openxmlformats.org/presentationml/2006/ole">
            <p:oleObj spid="_x0000_s115717" name="Chart" r:id="rId6" imgW="6096075" imgH="4067089" progId="MSGraph.Chart.8">
              <p:embed followColorScheme="full"/>
            </p:oleObj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4" name="Text Box 2"/>
          <p:cNvSpPr txBox="1">
            <a:spLocks noChangeArrowheads="1"/>
          </p:cNvSpPr>
          <p:nvPr/>
        </p:nvSpPr>
        <p:spPr bwMode="auto">
          <a:xfrm>
            <a:off x="288925" y="92075"/>
            <a:ext cx="7483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0" y="1397000"/>
          <a:ext cx="8534400" cy="5080000"/>
        </p:xfrm>
        <a:graphic>
          <a:graphicData uri="http://schemas.openxmlformats.org/presentationml/2006/ole">
            <p:oleObj spid="_x0000_s117763" name="Chart" r:id="rId4" imgW="7924924" imgH="4105150" progId="MSGraph.Chart.8">
              <p:embed followColorScheme="full"/>
            </p:oleObj>
          </a:graphicData>
        </a:graphic>
      </p:graphicFrame>
      <p:sp>
        <p:nvSpPr>
          <p:cNvPr id="117765" name="Rectangle 4"/>
          <p:cNvSpPr>
            <a:spLocks noChangeArrowheads="1"/>
          </p:cNvSpPr>
          <p:nvPr/>
        </p:nvSpPr>
        <p:spPr bwMode="auto">
          <a:xfrm>
            <a:off x="2295525" y="381000"/>
            <a:ext cx="3789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b="1" i="1">
                <a:solidFill>
                  <a:srgbClr val="32079F"/>
                </a:solidFill>
              </a:rPr>
              <a:t>Overall Abandoned Calls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 Box 2"/>
          <p:cNvSpPr txBox="1">
            <a:spLocks noChangeArrowheads="1"/>
          </p:cNvSpPr>
          <p:nvPr/>
        </p:nvSpPr>
        <p:spPr bwMode="auto">
          <a:xfrm>
            <a:off x="288925" y="92075"/>
            <a:ext cx="7483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119811" name="Object 3"/>
          <p:cNvGraphicFramePr>
            <a:graphicFrameLocks noChangeAspect="1"/>
          </p:cNvGraphicFramePr>
          <p:nvPr/>
        </p:nvGraphicFramePr>
        <p:xfrm>
          <a:off x="76200" y="990600"/>
          <a:ext cx="8534400" cy="5164138"/>
        </p:xfrm>
        <a:graphic>
          <a:graphicData uri="http://schemas.openxmlformats.org/presentationml/2006/ole">
            <p:oleObj spid="_x0000_s119811" name="Chart" r:id="rId4" imgW="7924924" imgH="4105150" progId="MSGraph.Chart.8">
              <p:embed followColorScheme="full"/>
            </p:oleObj>
          </a:graphicData>
        </a:graphic>
      </p:graphicFrame>
      <p:sp>
        <p:nvSpPr>
          <p:cNvPr id="119813" name="Rectangle 4"/>
          <p:cNvSpPr>
            <a:spLocks noChangeArrowheads="1"/>
          </p:cNvSpPr>
          <p:nvPr/>
        </p:nvSpPr>
        <p:spPr bwMode="auto">
          <a:xfrm>
            <a:off x="990600" y="261938"/>
            <a:ext cx="6096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i="1">
                <a:solidFill>
                  <a:srgbClr val="32079F"/>
                </a:solidFill>
              </a:rPr>
              <a:t>Daily Average Speed of Answer (ASA)</a:t>
            </a:r>
          </a:p>
          <a:p>
            <a:pPr algn="ctr"/>
            <a:r>
              <a:rPr lang="en-US" b="1" i="1">
                <a:solidFill>
                  <a:srgbClr val="32079F"/>
                </a:solidFill>
              </a:rPr>
              <a:t>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3513" y="247650"/>
            <a:ext cx="8796337" cy="515938"/>
          </a:xfrm>
          <a:ln w="38100"/>
        </p:spPr>
        <p:txBody>
          <a:bodyPr/>
          <a:lstStyle/>
          <a:p>
            <a:pPr>
              <a:defRPr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cs typeface="Arial"/>
              </a:rPr>
              <a:t>Manual Orders (includes Cold Chain Orders)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  <a:cs typeface="Arial"/>
            </a:endParaRPr>
          </a:p>
        </p:txBody>
      </p:sp>
      <p:sp>
        <p:nvSpPr>
          <p:cNvPr id="1218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1950" y="976313"/>
            <a:ext cx="8147050" cy="4614862"/>
          </a:xfrm>
        </p:spPr>
        <p:txBody>
          <a:bodyPr/>
          <a:lstStyle/>
          <a:p>
            <a:pPr eaLnBrk="1" hangingPunct="1"/>
            <a:endParaRPr 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smtClean="0">
              <a:latin typeface="Arial" charset="0"/>
              <a:cs typeface="Arial" charset="0"/>
            </a:endParaRPr>
          </a:p>
        </p:txBody>
      </p:sp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247650" y="785813"/>
          <a:ext cx="8626475" cy="5243512"/>
        </p:xfrm>
        <a:graphic>
          <a:graphicData uri="http://schemas.openxmlformats.org/presentationml/2006/ole">
            <p:oleObj spid="_x0000_s121860" name="Worksheet" r:id="rId4" imgW="8248770" imgH="5010060" progId="Excel.Sheet.8">
              <p:embed/>
            </p:oleObj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7240587" cy="1062037"/>
          </a:xfrm>
        </p:spPr>
        <p:txBody>
          <a:bodyPr/>
          <a:lstStyle/>
          <a:p>
            <a:pPr algn="ctr"/>
            <a:r>
              <a:rPr lang="en-US" sz="2400" b="1" smtClean="0">
                <a:latin typeface="Arial" charset="0"/>
                <a:cs typeface="Arial" charset="0"/>
              </a:rPr>
              <a:t>Destructions:</a:t>
            </a:r>
            <a:br>
              <a:rPr lang="en-US" sz="2400" b="1" smtClean="0">
                <a:latin typeface="Arial" charset="0"/>
                <a:cs typeface="Arial" charset="0"/>
              </a:rPr>
            </a:br>
            <a:r>
              <a:rPr lang="en-US" sz="2400" b="1" smtClean="0">
                <a:latin typeface="Arial" charset="0"/>
                <a:cs typeface="Arial" charset="0"/>
              </a:rPr>
              <a:t>ZRE (Direct) vs. ZREI (Indirect)</a:t>
            </a:r>
          </a:p>
        </p:txBody>
      </p:sp>
      <p:graphicFrame>
        <p:nvGraphicFramePr>
          <p:cNvPr id="123907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292100" y="1295400"/>
          <a:ext cx="8415338" cy="4589463"/>
        </p:xfrm>
        <a:graphic>
          <a:graphicData uri="http://schemas.openxmlformats.org/presentationml/2006/ole">
            <p:oleObj spid="_x0000_s123907" name="Chart" r:id="rId3" imgW="7886592" imgH="4067089" progId="MSGraph.Chart.8">
              <p:embed followColorScheme="full"/>
            </p:oleObj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3" name="Rectangle 2"/>
          <p:cNvSpPr>
            <a:spLocks noChangeArrowheads="1"/>
          </p:cNvSpPr>
          <p:nvPr/>
        </p:nvSpPr>
        <p:spPr bwMode="auto">
          <a:xfrm>
            <a:off x="152400" y="152400"/>
            <a:ext cx="6324600" cy="4419600"/>
          </a:xfrm>
          <a:prstGeom prst="rect">
            <a:avLst/>
          </a:prstGeom>
          <a:solidFill>
            <a:srgbClr val="2C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>
              <a:solidFill>
                <a:schemeClr val="tx1"/>
              </a:solidFill>
              <a:latin typeface="Gill Sans"/>
            </a:endParaRPr>
          </a:p>
        </p:txBody>
      </p:sp>
      <p:sp>
        <p:nvSpPr>
          <p:cNvPr id="233474" name="Rectangle 10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2057400"/>
            <a:ext cx="6096000" cy="820738"/>
          </a:xfrm>
        </p:spPr>
        <p:txBody>
          <a:bodyPr anchor="b"/>
          <a:lstStyle/>
          <a:p>
            <a:pPr>
              <a:buClr>
                <a:srgbClr val="2C0000"/>
              </a:buClr>
            </a:pPr>
            <a:r>
              <a:rPr lang="en-US" smtClean="0">
                <a:solidFill>
                  <a:schemeClr val="bg1"/>
                </a:solidFill>
                <a:latin typeface="Arial" charset="0"/>
                <a:cs typeface="Arial" charset="0"/>
              </a:rPr>
              <a:t>UPS Transportation – ENDO </a:t>
            </a:r>
          </a:p>
        </p:txBody>
      </p:sp>
      <p:sp>
        <p:nvSpPr>
          <p:cNvPr id="233475" name="Rectangle 11"/>
          <p:cNvSpPr>
            <a:spLocks noGrp="1" noChangeArrowheads="1"/>
          </p:cNvSpPr>
          <p:nvPr>
            <p:ph type="subTitle" idx="4294967295"/>
          </p:nvPr>
        </p:nvSpPr>
        <p:spPr>
          <a:xfrm>
            <a:off x="304800" y="2943225"/>
            <a:ext cx="6096000" cy="714375"/>
          </a:xfrm>
        </p:spPr>
        <p:txBody>
          <a:bodyPr/>
          <a:lstStyle/>
          <a:p>
            <a:pPr marL="0" indent="0">
              <a:spcBef>
                <a:spcPts val="400"/>
              </a:spcBef>
              <a:spcAft>
                <a:spcPts val="400"/>
              </a:spcAft>
              <a:buFontTx/>
              <a:buNone/>
            </a:pPr>
            <a:r>
              <a:rPr lang="en-US" sz="2200" smtClean="0">
                <a:solidFill>
                  <a:schemeClr val="bg1"/>
                </a:solidFill>
                <a:latin typeface="Arial" charset="0"/>
                <a:cs typeface="Arial" charset="0"/>
              </a:rPr>
              <a:t>Business Review 2013</a:t>
            </a:r>
          </a:p>
        </p:txBody>
      </p:sp>
      <p:sp>
        <p:nvSpPr>
          <p:cNvPr id="233476" name="Rectangle 7"/>
          <p:cNvSpPr>
            <a:spLocks noChangeArrowheads="1"/>
          </p:cNvSpPr>
          <p:nvPr/>
        </p:nvSpPr>
        <p:spPr bwMode="auto">
          <a:xfrm>
            <a:off x="6629400" y="152400"/>
            <a:ext cx="2362200" cy="4419600"/>
          </a:xfrm>
          <a:prstGeom prst="rect">
            <a:avLst/>
          </a:prstGeom>
          <a:solidFill>
            <a:srgbClr val="00343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>
              <a:solidFill>
                <a:schemeClr val="tx1"/>
              </a:solidFill>
              <a:latin typeface="Gill Sans"/>
            </a:endParaRPr>
          </a:p>
        </p:txBody>
      </p:sp>
      <p:sp>
        <p:nvSpPr>
          <p:cNvPr id="233477" name="Rectangle 12"/>
          <p:cNvSpPr>
            <a:spLocks noChangeArrowheads="1"/>
          </p:cNvSpPr>
          <p:nvPr/>
        </p:nvSpPr>
        <p:spPr bwMode="auto">
          <a:xfrm>
            <a:off x="300038" y="4038600"/>
            <a:ext cx="5667375" cy="16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687" tIns="35687" rIns="35687" bIns="35687"/>
          <a:lstStyle/>
          <a:p>
            <a:pPr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Font typeface="Arial" charset="0"/>
              <a:buNone/>
            </a:pPr>
            <a:r>
              <a:rPr lang="en-US" sz="1400">
                <a:solidFill>
                  <a:schemeClr val="bg1"/>
                </a:solidFill>
                <a:latin typeface="Trebuchet MS" pitchFamily="34" charset="0"/>
                <a:sym typeface="Trebuchet MS" pitchFamily="34" charset="0"/>
              </a:rPr>
              <a:t>March, 2014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200" smtClean="0">
                <a:latin typeface="Arial" charset="0"/>
                <a:cs typeface="Arial" charset="0"/>
              </a:rPr>
              <a:t>Organizational Chart</a:t>
            </a:r>
          </a:p>
        </p:txBody>
      </p:sp>
      <p:grpSp>
        <p:nvGrpSpPr>
          <p:cNvPr id="235522" name="SmartArt Placeholder 817154"/>
          <p:cNvGrpSpPr>
            <a:grpSpLocks/>
          </p:cNvGrpSpPr>
          <p:nvPr/>
        </p:nvGrpSpPr>
        <p:grpSpPr bwMode="auto">
          <a:xfrm>
            <a:off x="1143000" y="809625"/>
            <a:ext cx="7162800" cy="5210175"/>
            <a:chOff x="2243" y="1650"/>
            <a:chExt cx="3600" cy="5040"/>
          </a:xfrm>
        </p:grpSpPr>
        <p:cxnSp>
          <p:nvCxnSpPr>
            <p:cNvPr id="235523" name="_s1028"/>
            <p:cNvCxnSpPr>
              <a:cxnSpLocks noChangeShapeType="1"/>
              <a:stCxn id="8" idx="0"/>
              <a:endCxn id="6" idx="2"/>
            </p:cNvCxnSpPr>
            <p:nvPr/>
          </p:nvCxnSpPr>
          <p:spPr bwMode="auto">
            <a:xfrm flipV="1">
              <a:off x="4403" y="4530"/>
              <a:ext cx="360" cy="180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35524" name="_s1029"/>
            <p:cNvCxnSpPr>
              <a:cxnSpLocks noChangeShapeType="1"/>
              <a:stCxn id="7" idx="0"/>
              <a:endCxn id="6" idx="2"/>
            </p:cNvCxnSpPr>
            <p:nvPr/>
          </p:nvCxnSpPr>
          <p:spPr bwMode="auto">
            <a:xfrm flipV="1">
              <a:off x="4403" y="4530"/>
              <a:ext cx="360" cy="721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35525" name="_s1030"/>
            <p:cNvCxnSpPr>
              <a:cxnSpLocks noChangeShapeType="1"/>
              <a:stCxn id="6" idx="6"/>
              <a:endCxn id="5" idx="2"/>
            </p:cNvCxnSpPr>
            <p:nvPr/>
          </p:nvCxnSpPr>
          <p:spPr bwMode="auto">
            <a:xfrm rot="-5400000">
              <a:off x="4584" y="3629"/>
              <a:ext cx="360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5526" name="_s1031"/>
            <p:cNvCxnSpPr>
              <a:cxnSpLocks noChangeShapeType="1"/>
              <a:stCxn id="5" idx="6"/>
              <a:endCxn id="4" idx="2"/>
            </p:cNvCxnSpPr>
            <p:nvPr/>
          </p:nvCxnSpPr>
          <p:spPr bwMode="auto">
            <a:xfrm rot="-5400000">
              <a:off x="4583" y="2550"/>
              <a:ext cx="361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4" name="_s1032"/>
            <p:cNvSpPr>
              <a:spLocks noChangeArrowheads="1"/>
            </p:cNvSpPr>
            <p:nvPr/>
          </p:nvSpPr>
          <p:spPr bwMode="auto">
            <a:xfrm>
              <a:off x="3683" y="1650"/>
              <a:ext cx="2160" cy="720"/>
            </a:xfrm>
            <a:prstGeom prst="bevel">
              <a:avLst>
                <a:gd name="adj" fmla="val 12500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18900000" scaled="1"/>
            </a:gra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7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Jared Ragains</a:t>
              </a:r>
            </a:p>
            <a:p>
              <a:pPr algn="ctr">
                <a:defRPr/>
              </a:pPr>
              <a:r>
                <a:rPr lang="en-US" sz="17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Division Manager</a:t>
              </a:r>
              <a:endParaRPr lang="en-US" sz="1700" b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5" name="_s1033"/>
            <p:cNvSpPr>
              <a:spLocks noChangeArrowheads="1"/>
            </p:cNvSpPr>
            <p:nvPr/>
          </p:nvSpPr>
          <p:spPr bwMode="auto">
            <a:xfrm>
              <a:off x="3683" y="2730"/>
              <a:ext cx="2160" cy="720"/>
            </a:xfrm>
            <a:prstGeom prst="bevel">
              <a:avLst>
                <a:gd name="adj" fmla="val 12500"/>
              </a:avLst>
            </a:prstGeom>
            <a:gradFill rotWithShape="0">
              <a:gsLst>
                <a:gs pos="0">
                  <a:srgbClr val="00768A"/>
                </a:gs>
                <a:gs pos="50000">
                  <a:schemeClr val="bg1"/>
                </a:gs>
                <a:gs pos="100000">
                  <a:srgbClr val="00768A"/>
                </a:gs>
              </a:gsLst>
              <a:lin ang="18900000" scaled="1"/>
            </a:gradFill>
            <a:ln w="31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defRPr/>
              </a:pPr>
              <a:endParaRPr lang="en-US" sz="17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endParaRPr>
            </a:p>
            <a:p>
              <a:pPr algn="ctr">
                <a:defRPr/>
              </a:pPr>
              <a:r>
                <a:rPr lang="en-US" sz="170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Jackie Kiefer</a:t>
              </a:r>
            </a:p>
            <a:p>
              <a:pPr algn="ctr">
                <a:defRPr/>
              </a:pPr>
              <a:r>
                <a:rPr lang="en-US" sz="170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Transportation Manager</a:t>
              </a:r>
            </a:p>
            <a:p>
              <a:pPr algn="ctr">
                <a:defRPr/>
              </a:pPr>
              <a:endParaRPr lang="en-US" sz="17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6" name="_s1034"/>
            <p:cNvSpPr>
              <a:spLocks noChangeArrowheads="1"/>
            </p:cNvSpPr>
            <p:nvPr/>
          </p:nvSpPr>
          <p:spPr bwMode="auto">
            <a:xfrm>
              <a:off x="3683" y="3811"/>
              <a:ext cx="2160" cy="719"/>
            </a:xfrm>
            <a:prstGeom prst="bevel">
              <a:avLst>
                <a:gd name="adj" fmla="val 12500"/>
              </a:avLst>
            </a:prstGeom>
            <a:gradFill rotWithShape="0">
              <a:gsLst>
                <a:gs pos="0">
                  <a:srgbClr val="00768A"/>
                </a:gs>
                <a:gs pos="50000">
                  <a:schemeClr val="bg1"/>
                </a:gs>
                <a:gs pos="100000">
                  <a:srgbClr val="00768A"/>
                </a:gs>
              </a:gsLst>
              <a:lin ang="18900000" scaled="1"/>
            </a:gradFill>
            <a:ln w="31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7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Richard Beckmann</a:t>
              </a:r>
            </a:p>
            <a:p>
              <a:pPr algn="ctr">
                <a:defRPr/>
              </a:pPr>
              <a:r>
                <a:rPr lang="en-US" sz="17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Lead Supervisor</a:t>
              </a:r>
              <a:endParaRPr lang="en-US" sz="1700" b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7" name="_s1035"/>
            <p:cNvSpPr>
              <a:spLocks noChangeArrowheads="1"/>
            </p:cNvSpPr>
            <p:nvPr/>
          </p:nvSpPr>
          <p:spPr bwMode="auto">
            <a:xfrm>
              <a:off x="2243" y="4890"/>
              <a:ext cx="2160" cy="720"/>
            </a:xfrm>
            <a:prstGeom prst="bevel">
              <a:avLst>
                <a:gd name="adj" fmla="val 12500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31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70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Jessica Fischer</a:t>
              </a:r>
            </a:p>
            <a:p>
              <a:pPr algn="ctr">
                <a:defRPr/>
              </a:pPr>
              <a:r>
                <a:rPr lang="en-US" sz="170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Transportation Coordinator</a:t>
              </a:r>
            </a:p>
          </p:txBody>
        </p:sp>
        <p:sp>
          <p:nvSpPr>
            <p:cNvPr id="8" name="_s1036"/>
            <p:cNvSpPr>
              <a:spLocks noChangeArrowheads="1"/>
            </p:cNvSpPr>
            <p:nvPr/>
          </p:nvSpPr>
          <p:spPr bwMode="auto">
            <a:xfrm>
              <a:off x="2243" y="5970"/>
              <a:ext cx="2160" cy="720"/>
            </a:xfrm>
            <a:prstGeom prst="bevel">
              <a:avLst>
                <a:gd name="adj" fmla="val 12500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31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70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Melonee Tubb</a:t>
              </a:r>
            </a:p>
            <a:p>
              <a:pPr algn="ctr">
                <a:defRPr/>
              </a:pPr>
              <a:r>
                <a:rPr lang="en-US" sz="170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rPr>
                <a:t>Transportation Back Up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2013 Dashboard Review</a:t>
            </a:r>
          </a:p>
        </p:txBody>
      </p:sp>
      <p:pic>
        <p:nvPicPr>
          <p:cNvPr id="2375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3000"/>
            <a:ext cx="916305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7571" name="TextBox 1"/>
          <p:cNvSpPr txBox="1">
            <a:spLocks noChangeArrowheads="1"/>
          </p:cNvSpPr>
          <p:nvPr/>
        </p:nvSpPr>
        <p:spPr bwMode="auto">
          <a:xfrm>
            <a:off x="5638800" y="76200"/>
            <a:ext cx="3124200" cy="9540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chemeClr val="tx1"/>
                </a:solidFill>
                <a:latin typeface="Trebuchet MS" pitchFamily="34" charset="0"/>
              </a:rPr>
              <a:t>Q1 2013 had almost double the Air Freight shipments as the following Quarters causing the spend to increase.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2013 Carrier On Time Performance</a:t>
            </a:r>
          </a:p>
        </p:txBody>
      </p:sp>
      <p:graphicFrame>
        <p:nvGraphicFramePr>
          <p:cNvPr id="94211" name="Object 1"/>
          <p:cNvGraphicFramePr>
            <a:graphicFrameLocks noChangeAspect="1"/>
          </p:cNvGraphicFramePr>
          <p:nvPr/>
        </p:nvGraphicFramePr>
        <p:xfrm>
          <a:off x="101600" y="1016000"/>
          <a:ext cx="8788400" cy="4730750"/>
        </p:xfrm>
        <a:graphic>
          <a:graphicData uri="http://schemas.openxmlformats.org/presentationml/2006/ole">
            <p:oleObj spid="_x0000_s94211" r:id="rId4" imgW="8785097" imgH="4730906" progId="Excel.Chart.8">
              <p:embed/>
            </p:oleObj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81000"/>
            <a:ext cx="8594725" cy="1143000"/>
          </a:xfrm>
        </p:spPr>
        <p:txBody>
          <a:bodyPr/>
          <a:lstStyle/>
          <a:p>
            <a:pPr marL="571500" indent="-571500"/>
            <a:r>
              <a:rPr lang="en-US" sz="2400" smtClean="0">
                <a:latin typeface="Arial" charset="0"/>
                <a:cs typeface="Arial" charset="0"/>
              </a:rPr>
              <a:t>2013 Shipment Stats by Mode – Total</a:t>
            </a:r>
          </a:p>
        </p:txBody>
      </p:sp>
      <p:graphicFrame>
        <p:nvGraphicFramePr>
          <p:cNvPr id="9219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457200" y="990600"/>
          <a:ext cx="8153400" cy="2336800"/>
        </p:xfrm>
        <a:graphic>
          <a:graphicData uri="http://schemas.openxmlformats.org/drawingml/2006/table">
            <a:tbl>
              <a:tblPr/>
              <a:tblGrid>
                <a:gridCol w="3352800"/>
                <a:gridCol w="1752600"/>
                <a:gridCol w="1522413"/>
                <a:gridCol w="1525587"/>
              </a:tblGrid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Carrier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Shipments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Spend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per </a:t>
                      </a: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lb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UPS Small Package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19,056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$ 1,190,677.75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$ 3.77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Less Than Truckload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2,144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$ 428,520.81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$ 0.18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Air Freight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1,160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$ 1,797,054.72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$ 1.80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Truckload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$ 839,359.12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$ 0.07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Grand Total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22,846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$ 4,255,612.40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$ 0.27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296" name="Object 49"/>
          <p:cNvGraphicFramePr>
            <a:graphicFrameLocks noChangeAspect="1"/>
          </p:cNvGraphicFramePr>
          <p:nvPr/>
        </p:nvGraphicFramePr>
        <p:xfrm>
          <a:off x="1016000" y="3454400"/>
          <a:ext cx="7061200" cy="2644775"/>
        </p:xfrm>
        <a:graphic>
          <a:graphicData uri="http://schemas.openxmlformats.org/presentationml/2006/ole">
            <p:oleObj spid="_x0000_s96296" r:id="rId4" imgW="7059780" imgH="2645893" progId="Excel.Chart.8">
              <p:embed/>
            </p:oleObj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81000"/>
            <a:ext cx="8594725" cy="1143000"/>
          </a:xfrm>
        </p:spPr>
        <p:txBody>
          <a:bodyPr/>
          <a:lstStyle/>
          <a:p>
            <a:pPr marL="571500" indent="-571500"/>
            <a:r>
              <a:rPr lang="en-US" sz="2400" smtClean="0">
                <a:latin typeface="Arial" charset="0"/>
                <a:cs typeface="Arial" charset="0"/>
              </a:rPr>
              <a:t>2013 Shipment Stats by Mode – Memphis</a:t>
            </a:r>
          </a:p>
        </p:txBody>
      </p:sp>
      <p:graphicFrame>
        <p:nvGraphicFramePr>
          <p:cNvPr id="9219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457200" y="990600"/>
          <a:ext cx="8153400" cy="2336800"/>
        </p:xfrm>
        <a:graphic>
          <a:graphicData uri="http://schemas.openxmlformats.org/drawingml/2006/table">
            <a:tbl>
              <a:tblPr/>
              <a:tblGrid>
                <a:gridCol w="3352800"/>
                <a:gridCol w="1752600"/>
                <a:gridCol w="1522413"/>
                <a:gridCol w="1525587"/>
              </a:tblGrid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Carrier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Shipments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Spend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per </a:t>
                      </a: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lb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UPS Small Package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17,643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$ 1,170,037.24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$ 3.97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Less Than Truckload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1,067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$ 238,304.48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$ 0.18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Air Freight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1,144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$ 1,762,066.43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$ 1.80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Truckload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$ 727,505.40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$ 0.08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Grand Total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20,215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$ 3,897,913.55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$ 0.35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344" name="Object 49"/>
          <p:cNvGraphicFramePr>
            <a:graphicFrameLocks noChangeAspect="1"/>
          </p:cNvGraphicFramePr>
          <p:nvPr/>
        </p:nvGraphicFramePr>
        <p:xfrm>
          <a:off x="1016000" y="3454400"/>
          <a:ext cx="7061200" cy="2644775"/>
        </p:xfrm>
        <a:graphic>
          <a:graphicData uri="http://schemas.openxmlformats.org/presentationml/2006/ole">
            <p:oleObj spid="_x0000_s98344" r:id="rId4" imgW="7059780" imgH="2645893" progId="Excel.Chart.8">
              <p:embed/>
            </p:oleObj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81000"/>
            <a:ext cx="8594725" cy="1143000"/>
          </a:xfrm>
        </p:spPr>
        <p:txBody>
          <a:bodyPr/>
          <a:lstStyle/>
          <a:p>
            <a:pPr marL="571500" indent="-571500"/>
            <a:r>
              <a:rPr lang="en-US" sz="2400" smtClean="0">
                <a:latin typeface="Arial" charset="0"/>
                <a:cs typeface="Arial" charset="0"/>
              </a:rPr>
              <a:t>2013 Shipment Stats by Mode – Harrisburg</a:t>
            </a:r>
          </a:p>
        </p:txBody>
      </p:sp>
      <p:graphicFrame>
        <p:nvGraphicFramePr>
          <p:cNvPr id="9219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457200" y="990600"/>
          <a:ext cx="8153400" cy="2336800"/>
        </p:xfrm>
        <a:graphic>
          <a:graphicData uri="http://schemas.openxmlformats.org/drawingml/2006/table">
            <a:tbl>
              <a:tblPr/>
              <a:tblGrid>
                <a:gridCol w="3352800"/>
                <a:gridCol w="1752600"/>
                <a:gridCol w="1522413"/>
                <a:gridCol w="1525587"/>
              </a:tblGrid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Carrier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Shipments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Spend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per </a:t>
                      </a: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lb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UPS Small Package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1,413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$ 20,640.50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$ 1.00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Less Than Truckload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1,077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$ 190,219.33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$ 0.18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Air Freight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$ 34,988.30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$ 1.97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Truckload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$ 107,749.74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$ 0.03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Grand Total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2,629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$ 353,597.87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$ 0.08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0392" name="Object 49"/>
          <p:cNvGraphicFramePr>
            <a:graphicFrameLocks noChangeAspect="1"/>
          </p:cNvGraphicFramePr>
          <p:nvPr/>
        </p:nvGraphicFramePr>
        <p:xfrm>
          <a:off x="1016000" y="3454400"/>
          <a:ext cx="7061200" cy="2644775"/>
        </p:xfrm>
        <a:graphic>
          <a:graphicData uri="http://schemas.openxmlformats.org/presentationml/2006/ole">
            <p:oleObj spid="_x0000_s100392" r:id="rId4" imgW="7059780" imgH="2645893" progId="Excel.Chart.8">
              <p:embed/>
            </p:oleObj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2013 Shipment Statistics – Damages and Shortages</a:t>
            </a:r>
            <a:r>
              <a:rPr lang="en-US" sz="2200" smtClean="0">
                <a:latin typeface="Arial" charset="0"/>
                <a:cs typeface="Arial" charset="0"/>
              </a:rPr>
              <a:t/>
            </a:r>
            <a:br>
              <a:rPr lang="en-US" sz="2200" smtClean="0">
                <a:latin typeface="Arial" charset="0"/>
                <a:cs typeface="Arial" charset="0"/>
              </a:rPr>
            </a:br>
            <a:endParaRPr lang="en-US" sz="2200" smtClean="0">
              <a:latin typeface="Arial" charset="0"/>
              <a:cs typeface="Arial" charset="0"/>
            </a:endParaRPr>
          </a:p>
        </p:txBody>
      </p:sp>
      <p:graphicFrame>
        <p:nvGraphicFramePr>
          <p:cNvPr id="102403" name="Object 2"/>
          <p:cNvGraphicFramePr>
            <a:graphicFrameLocks noChangeAspect="1"/>
          </p:cNvGraphicFramePr>
          <p:nvPr/>
        </p:nvGraphicFramePr>
        <p:xfrm>
          <a:off x="101600" y="787400"/>
          <a:ext cx="8991600" cy="5130800"/>
        </p:xfrm>
        <a:graphic>
          <a:graphicData uri="http://schemas.openxmlformats.org/presentationml/2006/ole">
            <p:oleObj spid="_x0000_s102403" r:id="rId4" imgW="8992379" imgH="5133277" progId="Excel.Chart.8">
              <p:embed/>
            </p:oleObj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612187" cy="1062037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2013 Perfect Load</a:t>
            </a:r>
          </a:p>
        </p:txBody>
      </p:sp>
      <p:graphicFrame>
        <p:nvGraphicFramePr>
          <p:cNvPr id="104451" name="Chart 1"/>
          <p:cNvGraphicFramePr>
            <a:graphicFrameLocks/>
          </p:cNvGraphicFramePr>
          <p:nvPr/>
        </p:nvGraphicFramePr>
        <p:xfrm>
          <a:off x="101600" y="1625600"/>
          <a:ext cx="6578600" cy="4165600"/>
        </p:xfrm>
        <a:graphic>
          <a:graphicData uri="http://schemas.openxmlformats.org/presentationml/2006/ole">
            <p:oleObj spid="_x0000_s104451" r:id="rId4" imgW="6578154" imgH="4163929" progId="Excel.Chart.8">
              <p:embed/>
            </p:oleObj>
          </a:graphicData>
        </a:graphic>
      </p:graphicFrame>
      <p:sp>
        <p:nvSpPr>
          <p:cNvPr id="104453" name="TextBox 2"/>
          <p:cNvSpPr txBox="1">
            <a:spLocks noChangeArrowheads="1"/>
          </p:cNvSpPr>
          <p:nvPr/>
        </p:nvSpPr>
        <p:spPr bwMode="auto">
          <a:xfrm>
            <a:off x="6172200" y="609600"/>
            <a:ext cx="2667000" cy="12001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Trebuchet MS" pitchFamily="34" charset="0"/>
              </a:rPr>
              <a:t>Total Shipments: 22,846</a:t>
            </a:r>
          </a:p>
          <a:p>
            <a:r>
              <a:rPr lang="en-US" sz="1800">
                <a:solidFill>
                  <a:schemeClr val="tx1"/>
                </a:solidFill>
                <a:latin typeface="Trebuchet MS" pitchFamily="34" charset="0"/>
              </a:rPr>
              <a:t>Total Exceptions: 337</a:t>
            </a:r>
          </a:p>
          <a:p>
            <a:r>
              <a:rPr lang="en-US" sz="1800">
                <a:solidFill>
                  <a:schemeClr val="tx1"/>
                </a:solidFill>
                <a:latin typeface="Trebuchet MS" pitchFamily="34" charset="0"/>
              </a:rPr>
              <a:t>DPE: 67.79</a:t>
            </a:r>
          </a:p>
          <a:p>
            <a:r>
              <a:rPr lang="en-US" sz="1800">
                <a:solidFill>
                  <a:schemeClr val="tx1"/>
                </a:solidFill>
                <a:latin typeface="Trebuchet MS" pitchFamily="34" charset="0"/>
              </a:rPr>
              <a:t>Effective: 98.52%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383587" cy="779462"/>
          </a:xfrm>
        </p:spPr>
        <p:txBody>
          <a:bodyPr/>
          <a:lstStyle/>
          <a:p>
            <a:r>
              <a:rPr lang="en-US" sz="2400" smtClean="0">
                <a:solidFill>
                  <a:schemeClr val="tx1"/>
                </a:solidFill>
                <a:latin typeface="Arial" charset="0"/>
                <a:cs typeface="Arial" charset="0"/>
              </a:rPr>
              <a:t>National Historic Diesel Prices</a:t>
            </a:r>
          </a:p>
        </p:txBody>
      </p:sp>
      <p:graphicFrame>
        <p:nvGraphicFramePr>
          <p:cNvPr id="106499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1524000"/>
          <a:ext cx="7142163" cy="4275138"/>
        </p:xfrm>
        <a:graphic>
          <a:graphicData uri="http://schemas.openxmlformats.org/presentationml/2006/ole">
            <p:oleObj spid="_x0000_s106499" r:id="rId4" imgW="7145131" imgH="4273666" progId="Excel.Chart.8">
              <p:embed/>
            </p:oleObj>
          </a:graphicData>
        </a:graphic>
      </p:graphicFrame>
      <p:pic>
        <p:nvPicPr>
          <p:cNvPr id="106501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27850" y="1654175"/>
            <a:ext cx="221615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152400"/>
            <a:ext cx="8612188" cy="1062038"/>
          </a:xfrm>
        </p:spPr>
        <p:txBody>
          <a:bodyPr/>
          <a:lstStyle/>
          <a:p>
            <a:r>
              <a:rPr lang="en-US" sz="2400" smtClean="0">
                <a:latin typeface="Arial" charset="0"/>
                <a:cs typeface="Arial" charset="0"/>
              </a:rPr>
              <a:t>2013 Transportation Review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38200" y="1066800"/>
          <a:ext cx="7010400" cy="4860925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</a:tblGrid>
              <a:tr h="4860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Looking Back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sng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sng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ABC Tracking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Started tracking all ABC Shipments in August to ensure on time delivery per ABCs delivery requirements.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There were 40 shipments that delivered past the ABC Lead Times – 20 of these were late due to uncontrollable exceptions.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On-Time Percentage: 99.35%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Looking Forward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sng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sng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New Truckload Business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  <a:ea typeface="ＭＳ Ｐゴシック" pitchFamily="34" charset="-128"/>
                          <a:cs typeface="Arial" charset="0"/>
                        </a:rPr>
                        <a:t>Scheduling approximately 100 trailers round trip between Allentown, PA and Easton, MD.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1" name="Rectangle 4"/>
          <p:cNvSpPr>
            <a:spLocks noChangeArrowheads="1"/>
          </p:cNvSpPr>
          <p:nvPr/>
        </p:nvSpPr>
        <p:spPr bwMode="auto">
          <a:xfrm>
            <a:off x="762000" y="152400"/>
            <a:ext cx="7924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/>
          <a:lstStyle/>
          <a:p>
            <a:pPr defTabSz="642938"/>
            <a:r>
              <a:rPr lang="en-US" altLang="zh-TW" sz="2400">
                <a:solidFill>
                  <a:schemeClr val="tx1"/>
                </a:solidFill>
                <a:sym typeface="Trebuchet MS Bold" pitchFamily="34" charset="0"/>
              </a:rPr>
              <a:t>Endo Executive Summary – Memphis and Harrisburg DC’s</a:t>
            </a:r>
            <a:endParaRPr lang="en-US" sz="2400">
              <a:solidFill>
                <a:schemeClr val="tx1"/>
              </a:solidFill>
              <a:sym typeface="Trebuchet MS Bold" pitchFamily="34" charset="0"/>
            </a:endParaRPr>
          </a:p>
        </p:txBody>
      </p:sp>
      <p:sp>
        <p:nvSpPr>
          <p:cNvPr id="256002" name="Rectangle 9"/>
          <p:cNvSpPr>
            <a:spLocks noChangeArrowheads="1"/>
          </p:cNvSpPr>
          <p:nvPr/>
        </p:nvSpPr>
        <p:spPr bwMode="auto">
          <a:xfrm>
            <a:off x="914400" y="990600"/>
            <a:ext cx="3429000" cy="2819400"/>
          </a:xfrm>
          <a:prstGeom prst="rect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defTabSz="642938"/>
            <a:endParaRPr lang="en-US">
              <a:latin typeface="Gill Sans"/>
            </a:endParaRPr>
          </a:p>
        </p:txBody>
      </p:sp>
      <p:sp>
        <p:nvSpPr>
          <p:cNvPr id="256003" name="Rectangle 10"/>
          <p:cNvSpPr>
            <a:spLocks noChangeArrowheads="1"/>
          </p:cNvSpPr>
          <p:nvPr/>
        </p:nvSpPr>
        <p:spPr bwMode="auto">
          <a:xfrm>
            <a:off x="914400" y="3962400"/>
            <a:ext cx="3429000" cy="2590800"/>
          </a:xfrm>
          <a:prstGeom prst="rect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defTabSz="642938"/>
            <a:endParaRPr lang="en-US">
              <a:latin typeface="Gill Sans"/>
            </a:endParaRPr>
          </a:p>
        </p:txBody>
      </p:sp>
      <p:sp>
        <p:nvSpPr>
          <p:cNvPr id="256004" name="Rectangle 11"/>
          <p:cNvSpPr>
            <a:spLocks noChangeArrowheads="1"/>
          </p:cNvSpPr>
          <p:nvPr/>
        </p:nvSpPr>
        <p:spPr bwMode="auto">
          <a:xfrm>
            <a:off x="4648200" y="3962400"/>
            <a:ext cx="3505200" cy="2590800"/>
          </a:xfrm>
          <a:prstGeom prst="rect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defTabSz="642938"/>
            <a:endParaRPr lang="en-US">
              <a:latin typeface="Gill Sans"/>
            </a:endParaRPr>
          </a:p>
        </p:txBody>
      </p:sp>
      <p:sp>
        <p:nvSpPr>
          <p:cNvPr id="256005" name="Rectangle 12"/>
          <p:cNvSpPr>
            <a:spLocks noChangeArrowheads="1"/>
          </p:cNvSpPr>
          <p:nvPr/>
        </p:nvSpPr>
        <p:spPr bwMode="auto">
          <a:xfrm>
            <a:off x="4648200" y="990600"/>
            <a:ext cx="3505200" cy="2819400"/>
          </a:xfrm>
          <a:prstGeom prst="rect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defTabSz="642938"/>
            <a:endParaRPr lang="en-US">
              <a:latin typeface="Gill Sans"/>
            </a:endParaRPr>
          </a:p>
        </p:txBody>
      </p:sp>
      <p:sp>
        <p:nvSpPr>
          <p:cNvPr id="256006" name="TextBox 17"/>
          <p:cNvSpPr txBox="1">
            <a:spLocks noChangeArrowheads="1"/>
          </p:cNvSpPr>
          <p:nvPr/>
        </p:nvSpPr>
        <p:spPr bwMode="auto">
          <a:xfrm>
            <a:off x="1447800" y="1143000"/>
            <a:ext cx="2222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pPr algn="ctr" defTabSz="642938"/>
            <a:r>
              <a:rPr lang="en-US" sz="2000" b="1">
                <a:solidFill>
                  <a:schemeClr val="tx1"/>
                </a:solidFill>
              </a:rPr>
              <a:t>Highlights</a:t>
            </a:r>
          </a:p>
        </p:txBody>
      </p:sp>
      <p:sp>
        <p:nvSpPr>
          <p:cNvPr id="256007" name="TextBox 18"/>
          <p:cNvSpPr txBox="1">
            <a:spLocks noChangeArrowheads="1"/>
          </p:cNvSpPr>
          <p:nvPr/>
        </p:nvSpPr>
        <p:spPr bwMode="auto">
          <a:xfrm>
            <a:off x="5029200" y="1371600"/>
            <a:ext cx="2362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pPr algn="ctr" defTabSz="642938"/>
            <a:r>
              <a:rPr lang="en-US" sz="2000" b="1">
                <a:solidFill>
                  <a:schemeClr val="tx1"/>
                </a:solidFill>
              </a:rPr>
              <a:t>Challenges</a:t>
            </a:r>
          </a:p>
        </p:txBody>
      </p:sp>
      <p:sp>
        <p:nvSpPr>
          <p:cNvPr id="256008" name="TextBox 19"/>
          <p:cNvSpPr txBox="1">
            <a:spLocks noChangeArrowheads="1"/>
          </p:cNvSpPr>
          <p:nvPr/>
        </p:nvSpPr>
        <p:spPr bwMode="auto">
          <a:xfrm>
            <a:off x="1371600" y="4114800"/>
            <a:ext cx="21431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4291" tIns="32146" rIns="64291" bIns="32146">
            <a:spAutoFit/>
          </a:bodyPr>
          <a:lstStyle/>
          <a:p>
            <a:pPr algn="ctr" defTabSz="642938"/>
            <a:r>
              <a:rPr lang="en-US" sz="2000" b="1">
                <a:solidFill>
                  <a:schemeClr val="tx1"/>
                </a:solidFill>
              </a:rPr>
              <a:t>Implementations</a:t>
            </a:r>
          </a:p>
        </p:txBody>
      </p:sp>
      <p:sp>
        <p:nvSpPr>
          <p:cNvPr id="256009" name="TextBox 20"/>
          <p:cNvSpPr txBox="1">
            <a:spLocks noChangeArrowheads="1"/>
          </p:cNvSpPr>
          <p:nvPr/>
        </p:nvSpPr>
        <p:spPr bwMode="auto">
          <a:xfrm>
            <a:off x="4800600" y="4114800"/>
            <a:ext cx="2857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pPr algn="ctr" defTabSz="642938"/>
            <a:r>
              <a:rPr lang="en-US" sz="2000" b="1">
                <a:solidFill>
                  <a:schemeClr val="tx1"/>
                </a:solidFill>
              </a:rPr>
              <a:t>Opportunities</a:t>
            </a:r>
          </a:p>
        </p:txBody>
      </p:sp>
      <p:sp>
        <p:nvSpPr>
          <p:cNvPr id="256010" name="TextBox 14"/>
          <p:cNvSpPr txBox="1">
            <a:spLocks noChangeArrowheads="1"/>
          </p:cNvSpPr>
          <p:nvPr/>
        </p:nvSpPr>
        <p:spPr bwMode="auto">
          <a:xfrm>
            <a:off x="1066800" y="1524000"/>
            <a:ext cx="3027363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Hazmat shipments- assisted Endo with the change from Class III to Limited Quantity due to government changes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Huntsville- created ambient overflow space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ANDA – picked specific lots and arranged transportation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Deloitte and Touche- passed successful year end audit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Quarter End Push- worked two Saturdays during heavy qtr end volume activity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Opana Returns- Special shipment to Sharp (created 222 forms).</a:t>
            </a:r>
          </a:p>
        </p:txBody>
      </p:sp>
      <p:sp>
        <p:nvSpPr>
          <p:cNvPr id="256011" name="TextBox 14"/>
          <p:cNvSpPr txBox="1">
            <a:spLocks noChangeArrowheads="1"/>
          </p:cNvSpPr>
          <p:nvPr/>
        </p:nvSpPr>
        <p:spPr bwMode="auto">
          <a:xfrm>
            <a:off x="1066800" y="4343400"/>
            <a:ext cx="3027363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pPr defTabSz="642938">
              <a:buFont typeface="Wingdings" pitchFamily="2" charset="2"/>
              <a:buChar char="Ø"/>
            </a:pPr>
            <a:endParaRPr lang="en-US" sz="1100" b="1">
              <a:solidFill>
                <a:schemeClr val="tx1"/>
              </a:solidFill>
            </a:endParaRPr>
          </a:p>
          <a:p>
            <a:pPr defTabSz="642938">
              <a:buFont typeface="Wingdings" pitchFamily="2" charset="2"/>
              <a:buChar char="Ø"/>
            </a:pPr>
            <a:endParaRPr lang="en-US" sz="1100" b="1">
              <a:solidFill>
                <a:schemeClr val="tx1"/>
              </a:solidFill>
            </a:endParaRP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Aveed Hazmat- new product worked Sunday to process material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Started Inspection and Sample Process in September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Cranbury Returns- recovered plastic pallets associated with Vantes and Supperlin</a:t>
            </a:r>
          </a:p>
          <a:p>
            <a:pPr defTabSz="642938">
              <a:buFont typeface="Wingdings" pitchFamily="2" charset="2"/>
              <a:buChar char="Ø"/>
            </a:pPr>
            <a:endParaRPr lang="en-US" sz="1100" b="1">
              <a:solidFill>
                <a:schemeClr val="tx1"/>
              </a:solidFill>
            </a:endParaRPr>
          </a:p>
          <a:p>
            <a:pPr defTabSz="642938">
              <a:buFont typeface="Wingdings" pitchFamily="2" charset="2"/>
              <a:buNone/>
            </a:pPr>
            <a:endParaRPr lang="en-US" sz="1100" b="1">
              <a:solidFill>
                <a:schemeClr val="tx1"/>
              </a:solidFill>
            </a:endParaRPr>
          </a:p>
          <a:p>
            <a:pPr defTabSz="642938">
              <a:buFont typeface="Wingdings" pitchFamily="2" charset="2"/>
              <a:buNone/>
            </a:pPr>
            <a:endParaRPr lang="en-US" sz="1100" b="1">
              <a:solidFill>
                <a:schemeClr val="tx1"/>
              </a:solidFill>
            </a:endParaRPr>
          </a:p>
          <a:p>
            <a:pPr defTabSz="642938">
              <a:buFont typeface="Wingdings" pitchFamily="2" charset="2"/>
              <a:buChar char="Ø"/>
            </a:pPr>
            <a:endParaRPr lang="en-US" sz="1100">
              <a:solidFill>
                <a:srgbClr val="FF0000"/>
              </a:solidFill>
            </a:endParaRPr>
          </a:p>
        </p:txBody>
      </p:sp>
      <p:sp>
        <p:nvSpPr>
          <p:cNvPr id="256012" name="TextBox 14"/>
          <p:cNvSpPr txBox="1">
            <a:spLocks noChangeArrowheads="1"/>
          </p:cNvSpPr>
          <p:nvPr/>
        </p:nvSpPr>
        <p:spPr bwMode="auto">
          <a:xfrm>
            <a:off x="4857750" y="4495800"/>
            <a:ext cx="2686050" cy="206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pPr defTabSz="642938">
              <a:buFont typeface="Wingdings" pitchFamily="2" charset="2"/>
              <a:buNone/>
            </a:pPr>
            <a:endParaRPr lang="en-US" sz="1100" b="1">
              <a:solidFill>
                <a:schemeClr val="tx1"/>
              </a:solidFill>
            </a:endParaRP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Cage expansion- creating more than 600 pallet positions of DEA CIII-CV space.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Cold Chain packaging opportunity 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GWS Implementation- Cardinal pallet content labels</a:t>
            </a:r>
          </a:p>
          <a:p>
            <a:pPr defTabSz="642938">
              <a:buFont typeface="Wingdings" pitchFamily="2" charset="2"/>
              <a:buChar char="Ø"/>
            </a:pPr>
            <a:endParaRPr lang="en-US" sz="1100" b="1">
              <a:solidFill>
                <a:schemeClr val="tx1"/>
              </a:solidFill>
            </a:endParaRPr>
          </a:p>
          <a:p>
            <a:pPr marL="457200" lvl="1" indent="0" defTabSz="642938">
              <a:buFont typeface="Wingdings" pitchFamily="2" charset="2"/>
              <a:buChar char="Ø"/>
            </a:pPr>
            <a:endParaRPr lang="en-US" sz="1100" b="1">
              <a:solidFill>
                <a:schemeClr val="tx1"/>
              </a:solidFill>
            </a:endParaRPr>
          </a:p>
          <a:p>
            <a:pPr marL="457200" lvl="1" indent="0" defTabSz="642938">
              <a:buFont typeface="Wingdings" pitchFamily="2" charset="2"/>
              <a:buChar char="Ø"/>
            </a:pPr>
            <a:endParaRPr lang="en-US" sz="1000"/>
          </a:p>
          <a:p>
            <a:pPr defTabSz="642938">
              <a:buFont typeface="Wingdings" pitchFamily="2" charset="2"/>
              <a:buNone/>
            </a:pPr>
            <a:endParaRPr lang="en-US" sz="1200"/>
          </a:p>
          <a:p>
            <a:pPr defTabSz="642938">
              <a:buFont typeface="Wingdings" pitchFamily="2" charset="2"/>
              <a:buChar char="ü"/>
            </a:pPr>
            <a:endParaRPr lang="en-US" sz="1000">
              <a:latin typeface="Gill Sans"/>
            </a:endParaRPr>
          </a:p>
        </p:txBody>
      </p:sp>
      <p:sp>
        <p:nvSpPr>
          <p:cNvPr id="256013" name="TextBox 14"/>
          <p:cNvSpPr txBox="1">
            <a:spLocks noChangeArrowheads="1"/>
          </p:cNvSpPr>
          <p:nvPr/>
        </p:nvSpPr>
        <p:spPr bwMode="auto">
          <a:xfrm>
            <a:off x="4953000" y="1981200"/>
            <a:ext cx="3027363" cy="124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 ABC Orders- customer changed distribution strategy from multi DC to centralize inbound processing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GWS Implementation scheduled in August</a:t>
            </a:r>
          </a:p>
          <a:p>
            <a:pPr defTabSz="642938">
              <a:buFont typeface="Wingdings" pitchFamily="2" charset="2"/>
              <a:buChar char="Ø"/>
            </a:pPr>
            <a:r>
              <a:rPr lang="en-US" sz="1100" b="1">
                <a:solidFill>
                  <a:schemeClr val="tx1"/>
                </a:solidFill>
              </a:rPr>
              <a:t>Endo’s SAP upgrade</a:t>
            </a:r>
          </a:p>
          <a:p>
            <a:pPr defTabSz="642938">
              <a:buFont typeface="Wingdings" pitchFamily="2" charset="2"/>
              <a:buNone/>
            </a:pPr>
            <a:endParaRPr lang="en-US" sz="11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00" name="Title 5"/>
          <p:cNvSpPr>
            <a:spLocks noGrp="1"/>
          </p:cNvSpPr>
          <p:nvPr>
            <p:ph type="title" sz="quarter" idx="4294967295"/>
          </p:nvPr>
        </p:nvSpPr>
        <p:spPr>
          <a:xfrm>
            <a:off x="1279525" y="155575"/>
            <a:ext cx="6445250" cy="560388"/>
          </a:xfrm>
        </p:spPr>
        <p:txBody>
          <a:bodyPr lIns="35687" tIns="35687" rIns="35687" bIns="35687"/>
          <a:lstStyle/>
          <a:p>
            <a:pPr eaLnBrk="1" hangingPunct="1"/>
            <a:r>
              <a:rPr lang="en-US" sz="2400" smtClean="0"/>
              <a:t>2012 vs. 2013 Comparison - Memphis</a:t>
            </a:r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1314450" y="838200"/>
          <a:ext cx="3214688" cy="2286000"/>
        </p:xfrm>
        <a:graphic>
          <a:graphicData uri="http://schemas.openxmlformats.org/presentationml/2006/ole">
            <p:oleObj spid="_x0000_s140291" name="Chart" r:id="rId3" imgW="4305287" imgH="2562210" progId="MSGraph.Chart.8">
              <p:embed followColorScheme="full"/>
            </p:oleObj>
          </a:graphicData>
        </a:graphic>
      </p:graphicFrame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1322388" y="3352800"/>
          <a:ext cx="3198812" cy="2505075"/>
        </p:xfrm>
        <a:graphic>
          <a:graphicData uri="http://schemas.openxmlformats.org/presentationml/2006/ole">
            <p:oleObj spid="_x0000_s140292" name="Chart" r:id="rId4" imgW="4295839" imgH="2524149" progId="MSGraph.Chart.8">
              <p:embed followColorScheme="full"/>
            </p:oleObj>
          </a:graphicData>
        </a:graphic>
      </p:graphicFrame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4657725" y="3389313"/>
          <a:ext cx="3214688" cy="2505075"/>
        </p:xfrm>
        <a:graphic>
          <a:graphicData uri="http://schemas.openxmlformats.org/presentationml/2006/ole">
            <p:oleObj spid="_x0000_s140293" name="Chart" r:id="rId5" imgW="4295839" imgH="2533597" progId="MSGraph.Chart.8">
              <p:embed followColorScheme="full"/>
            </p:oleObj>
          </a:graphicData>
        </a:graphic>
      </p:graphicFrame>
      <p:grpSp>
        <p:nvGrpSpPr>
          <p:cNvPr id="140301" name="Gruppe 72"/>
          <p:cNvGrpSpPr>
            <a:grpSpLocks/>
          </p:cNvGrpSpPr>
          <p:nvPr/>
        </p:nvGrpSpPr>
        <p:grpSpPr bwMode="auto">
          <a:xfrm rot="-2774846" flipH="1" flipV="1">
            <a:off x="5525294" y="4080669"/>
            <a:ext cx="1366838" cy="349250"/>
            <a:chOff x="5297934" y="2657497"/>
            <a:chExt cx="2809714" cy="1941985"/>
          </a:xfrm>
        </p:grpSpPr>
        <p:sp>
          <p:nvSpPr>
            <p:cNvPr id="140318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0319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4" name="Freeform 19"/>
              <p:cNvSpPr>
                <a:spLocks/>
              </p:cNvSpPr>
              <p:nvPr/>
            </p:nvSpPr>
            <p:spPr bwMode="auto">
              <a:xfrm rot="1059341">
                <a:off x="5300526" y="2769233"/>
                <a:ext cx="2796661" cy="1262293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40321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140299" name="Object 11"/>
          <p:cNvGraphicFramePr>
            <a:graphicFrameLocks noChangeAspect="1"/>
          </p:cNvGraphicFramePr>
          <p:nvPr/>
        </p:nvGraphicFramePr>
        <p:xfrm>
          <a:off x="4686300" y="838200"/>
          <a:ext cx="3155950" cy="2281238"/>
        </p:xfrm>
        <a:graphic>
          <a:graphicData uri="http://schemas.openxmlformats.org/presentationml/2006/ole">
            <p:oleObj spid="_x0000_s140299" name="Chart" r:id="rId6" imgW="4295839" imgH="2524149" progId="MSGraph.Chart.8">
              <p:embed followColorScheme="full"/>
            </p:oleObj>
          </a:graphicData>
        </a:graphic>
      </p:graphicFrame>
      <p:grpSp>
        <p:nvGrpSpPr>
          <p:cNvPr id="140302" name="Gruppe 72"/>
          <p:cNvGrpSpPr>
            <a:grpSpLocks/>
          </p:cNvGrpSpPr>
          <p:nvPr/>
        </p:nvGrpSpPr>
        <p:grpSpPr bwMode="auto">
          <a:xfrm rot="-460551" flipH="1" flipV="1">
            <a:off x="2628900" y="3925888"/>
            <a:ext cx="889000" cy="377825"/>
            <a:chOff x="5297934" y="2657497"/>
            <a:chExt cx="2809714" cy="1941985"/>
          </a:xfrm>
        </p:grpSpPr>
        <p:sp>
          <p:nvSpPr>
            <p:cNvPr id="140314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0315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5" name="Freeform 19"/>
              <p:cNvSpPr>
                <a:spLocks/>
              </p:cNvSpPr>
              <p:nvPr/>
            </p:nvSpPr>
            <p:spPr bwMode="auto">
              <a:xfrm rot="1059341">
                <a:off x="5306128" y="2778597"/>
                <a:ext cx="2799679" cy="1256581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40317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40303" name="Gruppe 72"/>
          <p:cNvGrpSpPr>
            <a:grpSpLocks/>
          </p:cNvGrpSpPr>
          <p:nvPr/>
        </p:nvGrpSpPr>
        <p:grpSpPr bwMode="auto">
          <a:xfrm rot="-658818" flipH="1" flipV="1">
            <a:off x="2511425" y="1219200"/>
            <a:ext cx="1106488" cy="600075"/>
            <a:chOff x="5297934" y="2657497"/>
            <a:chExt cx="2809714" cy="1941985"/>
          </a:xfrm>
        </p:grpSpPr>
        <p:sp>
          <p:nvSpPr>
            <p:cNvPr id="140310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0311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3" name="Freeform 19"/>
              <p:cNvSpPr>
                <a:spLocks/>
              </p:cNvSpPr>
              <p:nvPr/>
            </p:nvSpPr>
            <p:spPr bwMode="auto">
              <a:xfrm rot="1059341">
                <a:off x="5312308" y="2747290"/>
                <a:ext cx="2797619" cy="1248416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40313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40304" name="Gruppe 72"/>
          <p:cNvGrpSpPr>
            <a:grpSpLocks/>
          </p:cNvGrpSpPr>
          <p:nvPr/>
        </p:nvGrpSpPr>
        <p:grpSpPr bwMode="auto">
          <a:xfrm rot="-3048012" flipH="1" flipV="1">
            <a:off x="5537200" y="1541463"/>
            <a:ext cx="1258888" cy="360362"/>
            <a:chOff x="5297934" y="2657497"/>
            <a:chExt cx="2809714" cy="1941985"/>
          </a:xfrm>
        </p:grpSpPr>
        <p:sp>
          <p:nvSpPr>
            <p:cNvPr id="140306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0307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2" name="Freeform 19"/>
              <p:cNvSpPr>
                <a:spLocks/>
              </p:cNvSpPr>
              <p:nvPr/>
            </p:nvSpPr>
            <p:spPr bwMode="auto">
              <a:xfrm rot="1059341">
                <a:off x="5302648" y="2770295"/>
                <a:ext cx="2799083" cy="1266142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40309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40305" name="Text Box 27"/>
          <p:cNvSpPr txBox="1">
            <a:spLocks noChangeArrowheads="1"/>
          </p:cNvSpPr>
          <p:nvPr/>
        </p:nvSpPr>
        <p:spPr bwMode="auto">
          <a:xfrm>
            <a:off x="1303338" y="5927725"/>
            <a:ext cx="2895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Calibri" pitchFamily="34" charset="0"/>
              </a:rPr>
              <a:t>Measurement period – January through Dec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38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1657350" y="990600"/>
          <a:ext cx="5895975" cy="4267200"/>
        </p:xfrm>
        <a:graphic>
          <a:graphicData uri="http://schemas.openxmlformats.org/presentationml/2006/ole">
            <p:oleObj spid="_x0000_s142338" name="Chart" r:id="rId3" imgW="8543899" imgH="4467131" progId="MSGraph.Chart.8">
              <p:embed followColorScheme="full"/>
            </p:oleObj>
          </a:graphicData>
        </a:graphic>
      </p:graphicFrame>
      <p:sp>
        <p:nvSpPr>
          <p:cNvPr id="142339" name="Text Box 3"/>
          <p:cNvSpPr>
            <a:spLocks noGrp="1" noChangeArrowheads="1"/>
          </p:cNvSpPr>
          <p:nvPr>
            <p:ph type="title" idx="4294967295"/>
          </p:nvPr>
        </p:nvSpPr>
        <p:spPr>
          <a:xfrm>
            <a:off x="180975" y="155575"/>
            <a:ext cx="8594725" cy="1143000"/>
          </a:xfrm>
        </p:spPr>
        <p:txBody>
          <a:bodyPr/>
          <a:lstStyle/>
          <a:p>
            <a:pPr algn="ctr" eaLnBrk="1" hangingPunct="1"/>
            <a:r>
              <a:rPr lang="en-US" sz="2400" smtClean="0"/>
              <a:t>Memphis Total Orders Shipped</a:t>
            </a:r>
            <a:br>
              <a:rPr lang="en-US" sz="2400" smtClean="0"/>
            </a:br>
            <a:r>
              <a:rPr lang="en-US" sz="2400" smtClean="0"/>
              <a:t/>
            </a:r>
            <a:br>
              <a:rPr lang="en-US" sz="2400" smtClean="0"/>
            </a:br>
            <a:endParaRPr lang="en-US" sz="2400" smtClean="0"/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560513" y="5257800"/>
            <a:ext cx="6110287" cy="102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rgbClr val="FF0000"/>
                </a:solidFill>
                <a:latin typeface="Calibri" pitchFamily="34" charset="0"/>
              </a:rPr>
              <a:t>2012 Monthly Average = 1,445</a:t>
            </a:r>
          </a:p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rgbClr val="FF0000"/>
                </a:solidFill>
                <a:latin typeface="Calibri" pitchFamily="34" charset="0"/>
              </a:rPr>
              <a:t>2013 Monthly Average = 1,283</a:t>
            </a:r>
          </a:p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chemeClr val="accent2"/>
                </a:solidFill>
                <a:latin typeface="Calibri" pitchFamily="34" charset="0"/>
              </a:rPr>
              <a:t>Orders Shipped on Time Average  = 100.00%</a:t>
            </a: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3119438" y="820738"/>
            <a:ext cx="317023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Calibri" pitchFamily="34" charset="0"/>
              </a:rPr>
              <a:t>Measurement period – January- December 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9525" y="155575"/>
            <a:ext cx="6445250" cy="473075"/>
          </a:xfrm>
        </p:spPr>
        <p:txBody>
          <a:bodyPr/>
          <a:lstStyle/>
          <a:p>
            <a:pPr algn="ctr" eaLnBrk="1" hangingPunct="1"/>
            <a:r>
              <a:rPr lang="en-US" sz="2400" smtClean="0"/>
              <a:t>KPI’s - Memphis</a:t>
            </a:r>
          </a:p>
        </p:txBody>
      </p:sp>
      <p:sp>
        <p:nvSpPr>
          <p:cNvPr id="260098" name="Rectangle 3"/>
          <p:cNvSpPr>
            <a:spLocks noChangeArrowheads="1"/>
          </p:cNvSpPr>
          <p:nvPr/>
        </p:nvSpPr>
        <p:spPr bwMode="auto">
          <a:xfrm>
            <a:off x="-350838" y="2268538"/>
            <a:ext cx="539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5687" tIns="35687" rIns="35687" bIns="35687">
            <a:spAutoFit/>
          </a:bodyPr>
          <a:lstStyle/>
          <a:p>
            <a:endParaRPr lang="en-US" sz="180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260099" name="Rectangle 4"/>
          <p:cNvSpPr>
            <a:spLocks noChangeArrowheads="1"/>
          </p:cNvSpPr>
          <p:nvPr/>
        </p:nvSpPr>
        <p:spPr bwMode="auto">
          <a:xfrm>
            <a:off x="3455988" y="2281238"/>
            <a:ext cx="730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687" tIns="35687" rIns="35687" bIns="35687" anchor="b"/>
          <a:lstStyle/>
          <a:p>
            <a:pPr>
              <a:spcBef>
                <a:spcPct val="50000"/>
              </a:spcBef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60100" name="Rectangle 10"/>
          <p:cNvSpPr>
            <a:spLocks noChangeArrowheads="1"/>
          </p:cNvSpPr>
          <p:nvPr/>
        </p:nvSpPr>
        <p:spPr bwMode="auto">
          <a:xfrm>
            <a:off x="-350838" y="2268538"/>
            <a:ext cx="539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5687" tIns="35687" rIns="35687" bIns="35687">
            <a:spAutoFit/>
          </a:bodyPr>
          <a:lstStyle/>
          <a:p>
            <a:endParaRPr lang="en-US" sz="180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260101" name="Rectangle 6"/>
          <p:cNvSpPr>
            <a:spLocks noChangeArrowheads="1"/>
          </p:cNvSpPr>
          <p:nvPr/>
        </p:nvSpPr>
        <p:spPr bwMode="auto">
          <a:xfrm>
            <a:off x="3455988" y="2281238"/>
            <a:ext cx="730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687" tIns="35687" rIns="35687" bIns="35687" anchor="b"/>
          <a:lstStyle/>
          <a:p>
            <a:pPr>
              <a:spcBef>
                <a:spcPct val="50000"/>
              </a:spcBef>
            </a:pPr>
            <a:endParaRPr lang="en-US" sz="1800">
              <a:solidFill>
                <a:schemeClr val="tx1"/>
              </a:solidFill>
            </a:endParaRPr>
          </a:p>
        </p:txBody>
      </p:sp>
      <p:graphicFrame>
        <p:nvGraphicFramePr>
          <p:cNvPr id="143367" name="Group 7"/>
          <p:cNvGraphicFramePr>
            <a:graphicFrameLocks noGrp="1"/>
          </p:cNvGraphicFramePr>
          <p:nvPr/>
        </p:nvGraphicFramePr>
        <p:xfrm>
          <a:off x="1143000" y="2122488"/>
          <a:ext cx="6858000" cy="3894137"/>
        </p:xfrm>
        <a:graphic>
          <a:graphicData uri="http://schemas.openxmlformats.org/drawingml/2006/table">
            <a:tbl>
              <a:tblPr/>
              <a:tblGrid>
                <a:gridCol w="908050"/>
                <a:gridCol w="920750"/>
                <a:gridCol w="400050"/>
                <a:gridCol w="514350"/>
                <a:gridCol w="40005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514350"/>
              </a:tblGrid>
              <a:tr h="107791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Ref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Element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Goal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KPI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Q1 2012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Q2 2012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Q3 2012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Q4 2012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Q1 2013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Q2 2013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Q3 2013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Q4 2013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YTD 2013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Contractual KPI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Order Accuracy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99.80%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99.96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99.96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99.88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99.95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99.98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99.97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99.92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99.95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Contractual KPI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On-time Shipping Performance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99.50%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99.88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99.97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99.95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99.98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Contractual KPI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Inventory Accuracy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99.00%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99.92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99.996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99.999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99.92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99.86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99.996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99.94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99.95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Contractual KPI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Returns Processed Timely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100%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260188" name="Rectangle 103"/>
          <p:cNvSpPr>
            <a:spLocks noChangeArrowheads="1"/>
          </p:cNvSpPr>
          <p:nvPr/>
        </p:nvSpPr>
        <p:spPr bwMode="auto">
          <a:xfrm>
            <a:off x="1600200" y="2879725"/>
            <a:ext cx="539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5687" tIns="35687" rIns="35687" bIns="35687">
            <a:spAutoFit/>
          </a:bodyPr>
          <a:lstStyle/>
          <a:p>
            <a:endParaRPr lang="en-US" sz="1800">
              <a:solidFill>
                <a:schemeClr val="tx1"/>
              </a:solidFill>
              <a:latin typeface="Calibri" pitchFamily="34" charset="0"/>
            </a:endParaRPr>
          </a:p>
        </p:txBody>
      </p:sp>
      <p:graphicFrame>
        <p:nvGraphicFramePr>
          <p:cNvPr id="143454" name="Group 94"/>
          <p:cNvGraphicFramePr>
            <a:graphicFrameLocks noGrp="1"/>
          </p:cNvGraphicFramePr>
          <p:nvPr/>
        </p:nvGraphicFramePr>
        <p:xfrm>
          <a:off x="1143000" y="762000"/>
          <a:ext cx="6858000" cy="1295400"/>
        </p:xfrm>
        <a:graphic>
          <a:graphicData uri="http://schemas.openxmlformats.org/drawingml/2006/table">
            <a:tbl>
              <a:tblPr/>
              <a:tblGrid>
                <a:gridCol w="6858000"/>
              </a:tblGrid>
              <a:tr h="12954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en-US" sz="2400" smtClean="0"/>
              <a:t>Memphis DC Error Recap </a:t>
            </a:r>
            <a:br>
              <a:rPr lang="en-US" sz="2400" smtClean="0"/>
            </a:br>
            <a:r>
              <a:rPr lang="en-US" sz="2400" smtClean="0">
                <a:solidFill>
                  <a:srgbClr val="000000"/>
                </a:solidFill>
                <a:latin typeface="MS Sans Serif"/>
              </a:rPr>
              <a:t>Error Summary </a:t>
            </a:r>
            <a:br>
              <a:rPr lang="en-US" sz="2400" smtClean="0">
                <a:solidFill>
                  <a:srgbClr val="000000"/>
                </a:solidFill>
                <a:latin typeface="MS Sans Serif"/>
              </a:rPr>
            </a:br>
            <a:r>
              <a:rPr lang="en-US" sz="2400" smtClean="0">
                <a:solidFill>
                  <a:srgbClr val="000000"/>
                </a:solidFill>
                <a:latin typeface="MS Sans Serif"/>
              </a:rPr>
              <a:t>January </a:t>
            </a:r>
            <a:r>
              <a:rPr lang="en-US" sz="2400" smtClean="0">
                <a:solidFill>
                  <a:srgbClr val="000000"/>
                </a:solidFill>
              </a:rPr>
              <a:t>–</a:t>
            </a:r>
            <a:r>
              <a:rPr lang="en-US" sz="2400" smtClean="0">
                <a:solidFill>
                  <a:srgbClr val="000000"/>
                </a:solidFill>
                <a:latin typeface="MS Sans Serif"/>
              </a:rPr>
              <a:t> December 2013</a:t>
            </a:r>
            <a:endParaRPr lang="en-US" sz="2400" smtClean="0">
              <a:latin typeface="Times New Roman" pitchFamily="18" charset="0"/>
            </a:endParaRPr>
          </a:p>
        </p:txBody>
      </p:sp>
      <p:graphicFrame>
        <p:nvGraphicFramePr>
          <p:cNvPr id="144387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09800" y="2097088"/>
          <a:ext cx="4724400" cy="4370387"/>
        </p:xfrm>
        <a:graphic>
          <a:graphicData uri="http://schemas.openxmlformats.org/presentationml/2006/ole">
            <p:oleObj spid="_x0000_s144387" name="Worksheet" r:id="rId4" imgW="4076767" imgH="2828857" progId="Excel.Sheet.8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40" name="Title 5"/>
          <p:cNvSpPr>
            <a:spLocks noGrp="1"/>
          </p:cNvSpPr>
          <p:nvPr>
            <p:ph type="title" sz="quarter" idx="4294967295"/>
          </p:nvPr>
        </p:nvSpPr>
        <p:spPr>
          <a:xfrm>
            <a:off x="1279525" y="155575"/>
            <a:ext cx="6445250" cy="560388"/>
          </a:xfrm>
        </p:spPr>
        <p:txBody>
          <a:bodyPr anchor="ctr"/>
          <a:lstStyle/>
          <a:p>
            <a:r>
              <a:rPr lang="en-US" sz="2400" smtClean="0">
                <a:latin typeface="Arial" charset="0"/>
              </a:rPr>
              <a:t>2012 vs. 2013 Comparison</a:t>
            </a:r>
            <a:r>
              <a:rPr lang="en-US" sz="1800" smtClean="0">
                <a:latin typeface="Arial" charset="0"/>
              </a:rPr>
              <a:t> </a:t>
            </a:r>
            <a:r>
              <a:rPr lang="en-US" sz="2400" smtClean="0">
                <a:latin typeface="Arial" charset="0"/>
              </a:rPr>
              <a:t>- Harrisburg</a:t>
            </a:r>
          </a:p>
        </p:txBody>
      </p:sp>
      <p:graphicFrame>
        <p:nvGraphicFramePr>
          <p:cNvPr id="124931" name="Object 3"/>
          <p:cNvGraphicFramePr>
            <a:graphicFrameLocks noChangeAspect="1"/>
          </p:cNvGraphicFramePr>
          <p:nvPr/>
        </p:nvGraphicFramePr>
        <p:xfrm>
          <a:off x="1314450" y="838200"/>
          <a:ext cx="3214688" cy="2286000"/>
        </p:xfrm>
        <a:graphic>
          <a:graphicData uri="http://schemas.openxmlformats.org/presentationml/2006/ole">
            <p:oleObj spid="_x0000_s124931" name="Chart" r:id="rId3" imgW="4305287" imgH="2524149" progId="MSGraph.Chart.8">
              <p:embed followColorScheme="full"/>
            </p:oleObj>
          </a:graphicData>
        </a:graphic>
      </p:graphicFrame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1314450" y="3352800"/>
          <a:ext cx="3214688" cy="2505075"/>
        </p:xfrm>
        <a:graphic>
          <a:graphicData uri="http://schemas.openxmlformats.org/presentationml/2006/ole">
            <p:oleObj spid="_x0000_s124932" name="Chart" r:id="rId4" imgW="4295839" imgH="2524149" progId="MSGraph.Chart.8">
              <p:embed followColorScheme="full"/>
            </p:oleObj>
          </a:graphicData>
        </a:graphic>
      </p:graphicFrame>
      <p:graphicFrame>
        <p:nvGraphicFramePr>
          <p:cNvPr id="124933" name="Object 5"/>
          <p:cNvGraphicFramePr>
            <a:graphicFrameLocks noChangeAspect="1"/>
          </p:cNvGraphicFramePr>
          <p:nvPr/>
        </p:nvGraphicFramePr>
        <p:xfrm>
          <a:off x="4686300" y="3375025"/>
          <a:ext cx="3214688" cy="2505075"/>
        </p:xfrm>
        <a:graphic>
          <a:graphicData uri="http://schemas.openxmlformats.org/presentationml/2006/ole">
            <p:oleObj spid="_x0000_s124933" name="Chart" r:id="rId5" imgW="4305287" imgH="2524149" progId="MSGraph.Chart.8">
              <p:embed followColorScheme="full"/>
            </p:oleObj>
          </a:graphicData>
        </a:graphic>
      </p:graphicFrame>
      <p:grpSp>
        <p:nvGrpSpPr>
          <p:cNvPr id="124941" name="Gruppe 72"/>
          <p:cNvGrpSpPr>
            <a:grpSpLocks/>
          </p:cNvGrpSpPr>
          <p:nvPr/>
        </p:nvGrpSpPr>
        <p:grpSpPr bwMode="auto">
          <a:xfrm rot="-252642" flipH="1" flipV="1">
            <a:off x="6000750" y="3810000"/>
            <a:ext cx="1168400" cy="304800"/>
            <a:chOff x="5297934" y="2657497"/>
            <a:chExt cx="2809714" cy="1941985"/>
          </a:xfrm>
        </p:grpSpPr>
        <p:sp>
          <p:nvSpPr>
            <p:cNvPr id="124958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59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4" name="Freeform 19"/>
              <p:cNvSpPr>
                <a:spLocks/>
              </p:cNvSpPr>
              <p:nvPr/>
            </p:nvSpPr>
            <p:spPr bwMode="auto">
              <a:xfrm rot="1059341">
                <a:off x="5315538" y="2780585"/>
                <a:ext cx="2798263" cy="1254198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24961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124939" name="Object 11"/>
          <p:cNvGraphicFramePr>
            <a:graphicFrameLocks noChangeAspect="1"/>
          </p:cNvGraphicFramePr>
          <p:nvPr/>
        </p:nvGraphicFramePr>
        <p:xfrm>
          <a:off x="4675188" y="835025"/>
          <a:ext cx="3155950" cy="2281238"/>
        </p:xfrm>
        <a:graphic>
          <a:graphicData uri="http://schemas.openxmlformats.org/presentationml/2006/ole">
            <p:oleObj spid="_x0000_s124939" name="Chart" r:id="rId6" imgW="4295839" imgH="2524149" progId="MSGraph.Chart.8">
              <p:embed followColorScheme="full"/>
            </p:oleObj>
          </a:graphicData>
        </a:graphic>
      </p:graphicFrame>
      <p:grpSp>
        <p:nvGrpSpPr>
          <p:cNvPr id="124942" name="Gruppe 72"/>
          <p:cNvGrpSpPr>
            <a:grpSpLocks/>
          </p:cNvGrpSpPr>
          <p:nvPr/>
        </p:nvGrpSpPr>
        <p:grpSpPr bwMode="auto">
          <a:xfrm rot="-460551" flipH="1" flipV="1">
            <a:off x="2600325" y="3830638"/>
            <a:ext cx="1000125" cy="377825"/>
            <a:chOff x="5297934" y="2657497"/>
            <a:chExt cx="2809714" cy="1941985"/>
          </a:xfrm>
        </p:grpSpPr>
        <p:sp>
          <p:nvSpPr>
            <p:cNvPr id="124954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55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5" name="Freeform 19"/>
              <p:cNvSpPr>
                <a:spLocks/>
              </p:cNvSpPr>
              <p:nvPr/>
            </p:nvSpPr>
            <p:spPr bwMode="auto">
              <a:xfrm rot="1059341">
                <a:off x="5304642" y="2786136"/>
                <a:ext cx="2796333" cy="1256581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24957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4943" name="Gruppe 72"/>
          <p:cNvGrpSpPr>
            <a:grpSpLocks/>
          </p:cNvGrpSpPr>
          <p:nvPr/>
        </p:nvGrpSpPr>
        <p:grpSpPr bwMode="auto">
          <a:xfrm rot="-658818" flipH="1" flipV="1">
            <a:off x="2514600" y="1219200"/>
            <a:ext cx="1106488" cy="652463"/>
            <a:chOff x="5297934" y="2657497"/>
            <a:chExt cx="2809714" cy="1941985"/>
          </a:xfrm>
        </p:grpSpPr>
        <p:sp>
          <p:nvSpPr>
            <p:cNvPr id="124950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51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3" name="Freeform 19"/>
              <p:cNvSpPr>
                <a:spLocks/>
              </p:cNvSpPr>
              <p:nvPr/>
            </p:nvSpPr>
            <p:spPr bwMode="auto">
              <a:xfrm rot="1059341">
                <a:off x="5316147" y="2745237"/>
                <a:ext cx="2797619" cy="1247406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24953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4944" name="Gruppe 72"/>
          <p:cNvGrpSpPr>
            <a:grpSpLocks/>
          </p:cNvGrpSpPr>
          <p:nvPr/>
        </p:nvGrpSpPr>
        <p:grpSpPr bwMode="auto">
          <a:xfrm rot="-660406" flipH="1" flipV="1">
            <a:off x="5886450" y="1219200"/>
            <a:ext cx="1150938" cy="479425"/>
            <a:chOff x="5297934" y="2657497"/>
            <a:chExt cx="2809714" cy="1941985"/>
          </a:xfrm>
        </p:grpSpPr>
        <p:sp>
          <p:nvSpPr>
            <p:cNvPr id="124946" name="Freeform 19"/>
            <p:cNvSpPr>
              <a:spLocks/>
            </p:cNvSpPr>
            <p:nvPr/>
          </p:nvSpPr>
          <p:spPr bwMode="auto">
            <a:xfrm rot="-753875">
              <a:off x="5865053" y="4046852"/>
              <a:ext cx="1921027" cy="552630"/>
            </a:xfrm>
            <a:custGeom>
              <a:avLst/>
              <a:gdLst>
                <a:gd name="T0" fmla="*/ 2147483647 w 2732"/>
                <a:gd name="T1" fmla="*/ 2147483647 h 1794"/>
                <a:gd name="T2" fmla="*/ 2147483647 w 2732"/>
                <a:gd name="T3" fmla="*/ 2147483647 h 1794"/>
                <a:gd name="T4" fmla="*/ 2147483647 w 2732"/>
                <a:gd name="T5" fmla="*/ 2147483647 h 1794"/>
                <a:gd name="T6" fmla="*/ 2147483647 w 2732"/>
                <a:gd name="T7" fmla="*/ 2147483647 h 1794"/>
                <a:gd name="T8" fmla="*/ 2147483647 w 2732"/>
                <a:gd name="T9" fmla="*/ 2147483647 h 1794"/>
                <a:gd name="T10" fmla="*/ 2147483647 w 2732"/>
                <a:gd name="T11" fmla="*/ 2147483647 h 1794"/>
                <a:gd name="T12" fmla="*/ 2147483647 w 2732"/>
                <a:gd name="T13" fmla="*/ 2147483647 h 1794"/>
                <a:gd name="T14" fmla="*/ 2147483647 w 2732"/>
                <a:gd name="T15" fmla="*/ 2147483647 h 1794"/>
                <a:gd name="T16" fmla="*/ 2147483647 w 2732"/>
                <a:gd name="T17" fmla="*/ 2147483647 h 1794"/>
                <a:gd name="T18" fmla="*/ 2147483647 w 2732"/>
                <a:gd name="T19" fmla="*/ 2147483647 h 1794"/>
                <a:gd name="T20" fmla="*/ 2147483647 w 2732"/>
                <a:gd name="T21" fmla="*/ 2147483647 h 1794"/>
                <a:gd name="T22" fmla="*/ 2147483647 w 2732"/>
                <a:gd name="T23" fmla="*/ 2147483647 h 1794"/>
                <a:gd name="T24" fmla="*/ 2147483647 w 2732"/>
                <a:gd name="T25" fmla="*/ 2147483647 h 1794"/>
                <a:gd name="T26" fmla="*/ 2147483647 w 2732"/>
                <a:gd name="T27" fmla="*/ 2147483647 h 1794"/>
                <a:gd name="T28" fmla="*/ 2147483647 w 2732"/>
                <a:gd name="T29" fmla="*/ 2147483647 h 1794"/>
                <a:gd name="T30" fmla="*/ 2147483647 w 2732"/>
                <a:gd name="T31" fmla="*/ 2147483647 h 1794"/>
                <a:gd name="T32" fmla="*/ 2147483647 w 2732"/>
                <a:gd name="T33" fmla="*/ 0 h 1794"/>
                <a:gd name="T34" fmla="*/ 2147483647 w 2732"/>
                <a:gd name="T35" fmla="*/ 2147483647 h 1794"/>
                <a:gd name="T36" fmla="*/ 2147483647 w 2732"/>
                <a:gd name="T37" fmla="*/ 2147483647 h 1794"/>
                <a:gd name="T38" fmla="*/ 2147483647 w 2732"/>
                <a:gd name="T39" fmla="*/ 2147483647 h 1794"/>
                <a:gd name="T40" fmla="*/ 2147483647 w 2732"/>
                <a:gd name="T41" fmla="*/ 2147483647 h 1794"/>
                <a:gd name="T42" fmla="*/ 2147483647 w 2732"/>
                <a:gd name="T43" fmla="*/ 2147483647 h 1794"/>
                <a:gd name="T44" fmla="*/ 2147483647 w 2732"/>
                <a:gd name="T45" fmla="*/ 2147483647 h 1794"/>
                <a:gd name="T46" fmla="*/ 2147483647 w 2732"/>
                <a:gd name="T47" fmla="*/ 2147483647 h 1794"/>
                <a:gd name="T48" fmla="*/ 2147483647 w 2732"/>
                <a:gd name="T49" fmla="*/ 2147483647 h 1794"/>
                <a:gd name="T50" fmla="*/ 2147483647 w 2732"/>
                <a:gd name="T51" fmla="*/ 2147483647 h 1794"/>
                <a:gd name="T52" fmla="*/ 2147483647 w 2732"/>
                <a:gd name="T53" fmla="*/ 2147483647 h 1794"/>
                <a:gd name="T54" fmla="*/ 2147483647 w 2732"/>
                <a:gd name="T55" fmla="*/ 2147483647 h 1794"/>
                <a:gd name="T56" fmla="*/ 2147483647 w 2732"/>
                <a:gd name="T57" fmla="*/ 2147483647 h 1794"/>
                <a:gd name="T58" fmla="*/ 2147483647 w 2732"/>
                <a:gd name="T59" fmla="*/ 2147483647 h 1794"/>
                <a:gd name="T60" fmla="*/ 2147483647 w 2732"/>
                <a:gd name="T61" fmla="*/ 2147483647 h 1794"/>
                <a:gd name="T62" fmla="*/ 2147483647 w 2732"/>
                <a:gd name="T63" fmla="*/ 2147483647 h 1794"/>
                <a:gd name="T64" fmla="*/ 2147483647 w 2732"/>
                <a:gd name="T65" fmla="*/ 2147483647 h 17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2"/>
                <a:gd name="T100" fmla="*/ 0 h 1794"/>
                <a:gd name="T101" fmla="*/ 2732 w 2732"/>
                <a:gd name="T102" fmla="*/ 1794 h 17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2" h="1794">
                  <a:moveTo>
                    <a:pt x="2732" y="1794"/>
                  </a:moveTo>
                  <a:lnTo>
                    <a:pt x="2732" y="1794"/>
                  </a:lnTo>
                  <a:lnTo>
                    <a:pt x="2678" y="1728"/>
                  </a:lnTo>
                  <a:lnTo>
                    <a:pt x="2614" y="1654"/>
                  </a:lnTo>
                  <a:lnTo>
                    <a:pt x="2528" y="1556"/>
                  </a:lnTo>
                  <a:lnTo>
                    <a:pt x="2422" y="1440"/>
                  </a:lnTo>
                  <a:lnTo>
                    <a:pt x="2300" y="1310"/>
                  </a:lnTo>
                  <a:lnTo>
                    <a:pt x="2232" y="1242"/>
                  </a:lnTo>
                  <a:lnTo>
                    <a:pt x="2160" y="1172"/>
                  </a:lnTo>
                  <a:lnTo>
                    <a:pt x="2086" y="1102"/>
                  </a:lnTo>
                  <a:lnTo>
                    <a:pt x="2010" y="1030"/>
                  </a:lnTo>
                  <a:lnTo>
                    <a:pt x="1930" y="958"/>
                  </a:lnTo>
                  <a:lnTo>
                    <a:pt x="1848" y="886"/>
                  </a:lnTo>
                  <a:lnTo>
                    <a:pt x="1764" y="816"/>
                  </a:lnTo>
                  <a:lnTo>
                    <a:pt x="1678" y="748"/>
                  </a:lnTo>
                  <a:lnTo>
                    <a:pt x="1590" y="682"/>
                  </a:lnTo>
                  <a:lnTo>
                    <a:pt x="1500" y="618"/>
                  </a:lnTo>
                  <a:lnTo>
                    <a:pt x="1410" y="558"/>
                  </a:lnTo>
                  <a:lnTo>
                    <a:pt x="1320" y="500"/>
                  </a:lnTo>
                  <a:lnTo>
                    <a:pt x="1230" y="448"/>
                  </a:lnTo>
                  <a:lnTo>
                    <a:pt x="1138" y="402"/>
                  </a:lnTo>
                  <a:lnTo>
                    <a:pt x="1092" y="380"/>
                  </a:lnTo>
                  <a:lnTo>
                    <a:pt x="1046" y="360"/>
                  </a:lnTo>
                  <a:lnTo>
                    <a:pt x="1002" y="342"/>
                  </a:lnTo>
                  <a:lnTo>
                    <a:pt x="956" y="324"/>
                  </a:lnTo>
                  <a:lnTo>
                    <a:pt x="912" y="310"/>
                  </a:lnTo>
                  <a:lnTo>
                    <a:pt x="866" y="296"/>
                  </a:lnTo>
                  <a:lnTo>
                    <a:pt x="822" y="284"/>
                  </a:lnTo>
                  <a:lnTo>
                    <a:pt x="778" y="274"/>
                  </a:lnTo>
                  <a:lnTo>
                    <a:pt x="734" y="266"/>
                  </a:lnTo>
                  <a:lnTo>
                    <a:pt x="690" y="260"/>
                  </a:lnTo>
                  <a:lnTo>
                    <a:pt x="646" y="256"/>
                  </a:lnTo>
                  <a:lnTo>
                    <a:pt x="604" y="254"/>
                  </a:lnTo>
                  <a:lnTo>
                    <a:pt x="604" y="0"/>
                  </a:lnTo>
                  <a:lnTo>
                    <a:pt x="0" y="724"/>
                  </a:lnTo>
                  <a:lnTo>
                    <a:pt x="590" y="1460"/>
                  </a:lnTo>
                  <a:lnTo>
                    <a:pt x="590" y="1124"/>
                  </a:lnTo>
                  <a:lnTo>
                    <a:pt x="598" y="1122"/>
                  </a:lnTo>
                  <a:lnTo>
                    <a:pt x="626" y="1114"/>
                  </a:lnTo>
                  <a:lnTo>
                    <a:pt x="672" y="1106"/>
                  </a:lnTo>
                  <a:lnTo>
                    <a:pt x="734" y="1096"/>
                  </a:lnTo>
                  <a:lnTo>
                    <a:pt x="772" y="1092"/>
                  </a:lnTo>
                  <a:lnTo>
                    <a:pt x="814" y="1088"/>
                  </a:lnTo>
                  <a:lnTo>
                    <a:pt x="860" y="1086"/>
                  </a:lnTo>
                  <a:lnTo>
                    <a:pt x="912" y="1086"/>
                  </a:lnTo>
                  <a:lnTo>
                    <a:pt x="966" y="1088"/>
                  </a:lnTo>
                  <a:lnTo>
                    <a:pt x="1024" y="1090"/>
                  </a:lnTo>
                  <a:lnTo>
                    <a:pt x="1088" y="1096"/>
                  </a:lnTo>
                  <a:lnTo>
                    <a:pt x="1154" y="1104"/>
                  </a:lnTo>
                  <a:lnTo>
                    <a:pt x="1224" y="1114"/>
                  </a:lnTo>
                  <a:lnTo>
                    <a:pt x="1300" y="1128"/>
                  </a:lnTo>
                  <a:lnTo>
                    <a:pt x="1378" y="1144"/>
                  </a:lnTo>
                  <a:lnTo>
                    <a:pt x="1460" y="1164"/>
                  </a:lnTo>
                  <a:lnTo>
                    <a:pt x="1546" y="1190"/>
                  </a:lnTo>
                  <a:lnTo>
                    <a:pt x="1636" y="1218"/>
                  </a:lnTo>
                  <a:lnTo>
                    <a:pt x="1730" y="1252"/>
                  </a:lnTo>
                  <a:lnTo>
                    <a:pt x="1828" y="1288"/>
                  </a:lnTo>
                  <a:lnTo>
                    <a:pt x="1928" y="1332"/>
                  </a:lnTo>
                  <a:lnTo>
                    <a:pt x="2032" y="1380"/>
                  </a:lnTo>
                  <a:lnTo>
                    <a:pt x="2140" y="1434"/>
                  </a:lnTo>
                  <a:lnTo>
                    <a:pt x="2252" y="1492"/>
                  </a:lnTo>
                  <a:lnTo>
                    <a:pt x="2368" y="1558"/>
                  </a:lnTo>
                  <a:lnTo>
                    <a:pt x="2486" y="1630"/>
                  </a:lnTo>
                  <a:lnTo>
                    <a:pt x="2608" y="1710"/>
                  </a:lnTo>
                  <a:lnTo>
                    <a:pt x="2732" y="1794"/>
                  </a:ln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47" name="Gruppe 63"/>
            <p:cNvGrpSpPr>
              <a:grpSpLocks/>
            </p:cNvGrpSpPr>
            <p:nvPr/>
          </p:nvGrpSpPr>
          <p:grpSpPr bwMode="auto">
            <a:xfrm>
              <a:off x="5297934" y="2657497"/>
              <a:ext cx="2809714" cy="1305487"/>
              <a:chOff x="5297934" y="2657497"/>
              <a:chExt cx="2809714" cy="1305487"/>
            </a:xfrm>
          </p:grpSpPr>
          <p:sp>
            <p:nvSpPr>
              <p:cNvPr id="2" name="Freeform 19"/>
              <p:cNvSpPr>
                <a:spLocks/>
              </p:cNvSpPr>
              <p:nvPr/>
            </p:nvSpPr>
            <p:spPr bwMode="auto">
              <a:xfrm rot="1059341">
                <a:off x="5309727" y="2731588"/>
                <a:ext cx="2798086" cy="1253930"/>
              </a:xfrm>
              <a:custGeom>
                <a:avLst/>
                <a:gdLst/>
                <a:ahLst/>
                <a:cxnLst>
                  <a:cxn ang="0">
                    <a:pos x="2732" y="1794"/>
                  </a:cxn>
                  <a:cxn ang="0">
                    <a:pos x="2614" y="1654"/>
                  </a:cxn>
                  <a:cxn ang="0">
                    <a:pos x="2422" y="1440"/>
                  </a:cxn>
                  <a:cxn ang="0">
                    <a:pos x="2232" y="1242"/>
                  </a:cxn>
                  <a:cxn ang="0">
                    <a:pos x="2086" y="1102"/>
                  </a:cxn>
                  <a:cxn ang="0">
                    <a:pos x="1930" y="958"/>
                  </a:cxn>
                  <a:cxn ang="0">
                    <a:pos x="1764" y="816"/>
                  </a:cxn>
                  <a:cxn ang="0">
                    <a:pos x="1590" y="682"/>
                  </a:cxn>
                  <a:cxn ang="0">
                    <a:pos x="1410" y="558"/>
                  </a:cxn>
                  <a:cxn ang="0">
                    <a:pos x="1230" y="448"/>
                  </a:cxn>
                  <a:cxn ang="0">
                    <a:pos x="1092" y="380"/>
                  </a:cxn>
                  <a:cxn ang="0">
                    <a:pos x="1002" y="342"/>
                  </a:cxn>
                  <a:cxn ang="0">
                    <a:pos x="912" y="310"/>
                  </a:cxn>
                  <a:cxn ang="0">
                    <a:pos x="822" y="284"/>
                  </a:cxn>
                  <a:cxn ang="0">
                    <a:pos x="734" y="266"/>
                  </a:cxn>
                  <a:cxn ang="0">
                    <a:pos x="646" y="256"/>
                  </a:cxn>
                  <a:cxn ang="0">
                    <a:pos x="604" y="0"/>
                  </a:cxn>
                  <a:cxn ang="0">
                    <a:pos x="590" y="1460"/>
                  </a:cxn>
                  <a:cxn ang="0">
                    <a:pos x="590" y="1124"/>
                  </a:cxn>
                  <a:cxn ang="0">
                    <a:pos x="626" y="1114"/>
                  </a:cxn>
                  <a:cxn ang="0">
                    <a:pos x="734" y="1096"/>
                  </a:cxn>
                  <a:cxn ang="0">
                    <a:pos x="814" y="1088"/>
                  </a:cxn>
                  <a:cxn ang="0">
                    <a:pos x="912" y="1086"/>
                  </a:cxn>
                  <a:cxn ang="0">
                    <a:pos x="1024" y="1090"/>
                  </a:cxn>
                  <a:cxn ang="0">
                    <a:pos x="1154" y="1104"/>
                  </a:cxn>
                  <a:cxn ang="0">
                    <a:pos x="1300" y="1128"/>
                  </a:cxn>
                  <a:cxn ang="0">
                    <a:pos x="1460" y="1164"/>
                  </a:cxn>
                  <a:cxn ang="0">
                    <a:pos x="1636" y="1218"/>
                  </a:cxn>
                  <a:cxn ang="0">
                    <a:pos x="1828" y="1288"/>
                  </a:cxn>
                  <a:cxn ang="0">
                    <a:pos x="2032" y="1380"/>
                  </a:cxn>
                  <a:cxn ang="0">
                    <a:pos x="2252" y="1492"/>
                  </a:cxn>
                  <a:cxn ang="0">
                    <a:pos x="2486" y="1630"/>
                  </a:cxn>
                  <a:cxn ang="0">
                    <a:pos x="2732" y="1794"/>
                  </a:cxn>
                </a:cxnLst>
                <a:rect l="0" t="0" r="r" b="b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lnTo>
                      <a:pt x="2732" y="179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sz="1800">
                  <a:solidFill>
                    <a:schemeClr val="tx1"/>
                  </a:solidFill>
                  <a:ea typeface="ＭＳ Ｐゴシック" pitchFamily="-97" charset="-128"/>
                  <a:cs typeface="+mn-cs"/>
                  <a:sym typeface="Trebuchet MS" pitchFamily="34" charset="0"/>
                </a:endParaRPr>
              </a:p>
            </p:txBody>
          </p:sp>
          <p:sp>
            <p:nvSpPr>
              <p:cNvPr id="124949" name="Freeform 19"/>
              <p:cNvSpPr>
                <a:spLocks/>
              </p:cNvSpPr>
              <p:nvPr/>
            </p:nvSpPr>
            <p:spPr bwMode="auto">
              <a:xfrm rot="1163127">
                <a:off x="5310473" y="2657497"/>
                <a:ext cx="2797175" cy="1254698"/>
              </a:xfrm>
              <a:custGeom>
                <a:avLst/>
                <a:gdLst>
                  <a:gd name="T0" fmla="*/ 2147483647 w 2732"/>
                  <a:gd name="T1" fmla="*/ 2147483647 h 1794"/>
                  <a:gd name="T2" fmla="*/ 2147483647 w 2732"/>
                  <a:gd name="T3" fmla="*/ 2147483647 h 1794"/>
                  <a:gd name="T4" fmla="*/ 2147483647 w 2732"/>
                  <a:gd name="T5" fmla="*/ 2147483647 h 1794"/>
                  <a:gd name="T6" fmla="*/ 2147483647 w 2732"/>
                  <a:gd name="T7" fmla="*/ 2147483647 h 1794"/>
                  <a:gd name="T8" fmla="*/ 2147483647 w 2732"/>
                  <a:gd name="T9" fmla="*/ 2147483647 h 1794"/>
                  <a:gd name="T10" fmla="*/ 2147483647 w 2732"/>
                  <a:gd name="T11" fmla="*/ 2147483647 h 1794"/>
                  <a:gd name="T12" fmla="*/ 2147483647 w 2732"/>
                  <a:gd name="T13" fmla="*/ 2147483647 h 1794"/>
                  <a:gd name="T14" fmla="*/ 2147483647 w 2732"/>
                  <a:gd name="T15" fmla="*/ 2147483647 h 1794"/>
                  <a:gd name="T16" fmla="*/ 2147483647 w 2732"/>
                  <a:gd name="T17" fmla="*/ 2147483647 h 1794"/>
                  <a:gd name="T18" fmla="*/ 2147483647 w 2732"/>
                  <a:gd name="T19" fmla="*/ 2147483647 h 1794"/>
                  <a:gd name="T20" fmla="*/ 2147483647 w 2732"/>
                  <a:gd name="T21" fmla="*/ 2147483647 h 1794"/>
                  <a:gd name="T22" fmla="*/ 2147483647 w 2732"/>
                  <a:gd name="T23" fmla="*/ 2147483647 h 1794"/>
                  <a:gd name="T24" fmla="*/ 2147483647 w 2732"/>
                  <a:gd name="T25" fmla="*/ 2147483647 h 1794"/>
                  <a:gd name="T26" fmla="*/ 2147483647 w 2732"/>
                  <a:gd name="T27" fmla="*/ 2147483647 h 1794"/>
                  <a:gd name="T28" fmla="*/ 2147483647 w 2732"/>
                  <a:gd name="T29" fmla="*/ 2147483647 h 1794"/>
                  <a:gd name="T30" fmla="*/ 2147483647 w 2732"/>
                  <a:gd name="T31" fmla="*/ 2147483647 h 1794"/>
                  <a:gd name="T32" fmla="*/ 2147483647 w 2732"/>
                  <a:gd name="T33" fmla="*/ 0 h 1794"/>
                  <a:gd name="T34" fmla="*/ 2147483647 w 2732"/>
                  <a:gd name="T35" fmla="*/ 2147483647 h 1794"/>
                  <a:gd name="T36" fmla="*/ 2147483647 w 2732"/>
                  <a:gd name="T37" fmla="*/ 2147483647 h 1794"/>
                  <a:gd name="T38" fmla="*/ 2147483647 w 2732"/>
                  <a:gd name="T39" fmla="*/ 2147483647 h 1794"/>
                  <a:gd name="T40" fmla="*/ 2147483647 w 2732"/>
                  <a:gd name="T41" fmla="*/ 2147483647 h 1794"/>
                  <a:gd name="T42" fmla="*/ 2147483647 w 2732"/>
                  <a:gd name="T43" fmla="*/ 2147483647 h 1794"/>
                  <a:gd name="T44" fmla="*/ 2147483647 w 2732"/>
                  <a:gd name="T45" fmla="*/ 2147483647 h 1794"/>
                  <a:gd name="T46" fmla="*/ 2147483647 w 2732"/>
                  <a:gd name="T47" fmla="*/ 2147483647 h 1794"/>
                  <a:gd name="T48" fmla="*/ 2147483647 w 2732"/>
                  <a:gd name="T49" fmla="*/ 2147483647 h 1794"/>
                  <a:gd name="T50" fmla="*/ 2147483647 w 2732"/>
                  <a:gd name="T51" fmla="*/ 2147483647 h 1794"/>
                  <a:gd name="T52" fmla="*/ 2147483647 w 2732"/>
                  <a:gd name="T53" fmla="*/ 2147483647 h 1794"/>
                  <a:gd name="T54" fmla="*/ 2147483647 w 2732"/>
                  <a:gd name="T55" fmla="*/ 2147483647 h 1794"/>
                  <a:gd name="T56" fmla="*/ 2147483647 w 2732"/>
                  <a:gd name="T57" fmla="*/ 2147483647 h 1794"/>
                  <a:gd name="T58" fmla="*/ 2147483647 w 2732"/>
                  <a:gd name="T59" fmla="*/ 2147483647 h 1794"/>
                  <a:gd name="T60" fmla="*/ 2147483647 w 2732"/>
                  <a:gd name="T61" fmla="*/ 2147483647 h 1794"/>
                  <a:gd name="T62" fmla="*/ 2147483647 w 2732"/>
                  <a:gd name="T63" fmla="*/ 2147483647 h 1794"/>
                  <a:gd name="T64" fmla="*/ 2147483647 w 2732"/>
                  <a:gd name="T65" fmla="*/ 2147483647 h 17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732"/>
                  <a:gd name="T100" fmla="*/ 0 h 1794"/>
                  <a:gd name="T101" fmla="*/ 2732 w 2732"/>
                  <a:gd name="T102" fmla="*/ 1794 h 17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732" h="1794">
                    <a:moveTo>
                      <a:pt x="2732" y="1794"/>
                    </a:moveTo>
                    <a:lnTo>
                      <a:pt x="2732" y="1794"/>
                    </a:lnTo>
                    <a:lnTo>
                      <a:pt x="2678" y="1728"/>
                    </a:lnTo>
                    <a:lnTo>
                      <a:pt x="2614" y="1654"/>
                    </a:lnTo>
                    <a:lnTo>
                      <a:pt x="2528" y="1556"/>
                    </a:lnTo>
                    <a:lnTo>
                      <a:pt x="2422" y="1440"/>
                    </a:lnTo>
                    <a:lnTo>
                      <a:pt x="2300" y="1310"/>
                    </a:lnTo>
                    <a:lnTo>
                      <a:pt x="2232" y="1242"/>
                    </a:lnTo>
                    <a:lnTo>
                      <a:pt x="2160" y="1172"/>
                    </a:lnTo>
                    <a:lnTo>
                      <a:pt x="2086" y="1102"/>
                    </a:lnTo>
                    <a:lnTo>
                      <a:pt x="2010" y="1030"/>
                    </a:lnTo>
                    <a:lnTo>
                      <a:pt x="1930" y="958"/>
                    </a:lnTo>
                    <a:lnTo>
                      <a:pt x="1848" y="886"/>
                    </a:lnTo>
                    <a:lnTo>
                      <a:pt x="1764" y="816"/>
                    </a:lnTo>
                    <a:lnTo>
                      <a:pt x="1678" y="748"/>
                    </a:lnTo>
                    <a:lnTo>
                      <a:pt x="1590" y="682"/>
                    </a:lnTo>
                    <a:lnTo>
                      <a:pt x="1500" y="618"/>
                    </a:lnTo>
                    <a:lnTo>
                      <a:pt x="1410" y="558"/>
                    </a:lnTo>
                    <a:lnTo>
                      <a:pt x="1320" y="500"/>
                    </a:lnTo>
                    <a:lnTo>
                      <a:pt x="1230" y="448"/>
                    </a:lnTo>
                    <a:lnTo>
                      <a:pt x="1138" y="402"/>
                    </a:lnTo>
                    <a:lnTo>
                      <a:pt x="1092" y="380"/>
                    </a:lnTo>
                    <a:lnTo>
                      <a:pt x="1046" y="360"/>
                    </a:lnTo>
                    <a:lnTo>
                      <a:pt x="1002" y="342"/>
                    </a:lnTo>
                    <a:lnTo>
                      <a:pt x="956" y="324"/>
                    </a:lnTo>
                    <a:lnTo>
                      <a:pt x="912" y="310"/>
                    </a:lnTo>
                    <a:lnTo>
                      <a:pt x="866" y="296"/>
                    </a:lnTo>
                    <a:lnTo>
                      <a:pt x="822" y="284"/>
                    </a:lnTo>
                    <a:lnTo>
                      <a:pt x="778" y="274"/>
                    </a:lnTo>
                    <a:lnTo>
                      <a:pt x="734" y="266"/>
                    </a:lnTo>
                    <a:lnTo>
                      <a:pt x="690" y="260"/>
                    </a:lnTo>
                    <a:lnTo>
                      <a:pt x="646" y="256"/>
                    </a:lnTo>
                    <a:lnTo>
                      <a:pt x="604" y="254"/>
                    </a:lnTo>
                    <a:lnTo>
                      <a:pt x="604" y="0"/>
                    </a:lnTo>
                    <a:lnTo>
                      <a:pt x="0" y="724"/>
                    </a:lnTo>
                    <a:lnTo>
                      <a:pt x="590" y="1460"/>
                    </a:lnTo>
                    <a:lnTo>
                      <a:pt x="590" y="1124"/>
                    </a:lnTo>
                    <a:lnTo>
                      <a:pt x="598" y="1122"/>
                    </a:lnTo>
                    <a:lnTo>
                      <a:pt x="626" y="1114"/>
                    </a:lnTo>
                    <a:lnTo>
                      <a:pt x="672" y="1106"/>
                    </a:lnTo>
                    <a:lnTo>
                      <a:pt x="734" y="1096"/>
                    </a:lnTo>
                    <a:lnTo>
                      <a:pt x="772" y="1092"/>
                    </a:lnTo>
                    <a:lnTo>
                      <a:pt x="814" y="1088"/>
                    </a:lnTo>
                    <a:lnTo>
                      <a:pt x="860" y="1086"/>
                    </a:lnTo>
                    <a:lnTo>
                      <a:pt x="912" y="1086"/>
                    </a:lnTo>
                    <a:lnTo>
                      <a:pt x="966" y="1088"/>
                    </a:lnTo>
                    <a:lnTo>
                      <a:pt x="1024" y="1090"/>
                    </a:lnTo>
                    <a:lnTo>
                      <a:pt x="1088" y="1096"/>
                    </a:lnTo>
                    <a:lnTo>
                      <a:pt x="1154" y="1104"/>
                    </a:lnTo>
                    <a:lnTo>
                      <a:pt x="1224" y="1114"/>
                    </a:lnTo>
                    <a:lnTo>
                      <a:pt x="1300" y="1128"/>
                    </a:lnTo>
                    <a:lnTo>
                      <a:pt x="1378" y="1144"/>
                    </a:lnTo>
                    <a:lnTo>
                      <a:pt x="1460" y="1164"/>
                    </a:lnTo>
                    <a:lnTo>
                      <a:pt x="1546" y="1190"/>
                    </a:lnTo>
                    <a:lnTo>
                      <a:pt x="1636" y="1218"/>
                    </a:lnTo>
                    <a:lnTo>
                      <a:pt x="1730" y="1252"/>
                    </a:lnTo>
                    <a:lnTo>
                      <a:pt x="1828" y="1288"/>
                    </a:lnTo>
                    <a:lnTo>
                      <a:pt x="1928" y="1332"/>
                    </a:lnTo>
                    <a:lnTo>
                      <a:pt x="2032" y="1380"/>
                    </a:lnTo>
                    <a:lnTo>
                      <a:pt x="2140" y="1434"/>
                    </a:lnTo>
                    <a:lnTo>
                      <a:pt x="2252" y="1492"/>
                    </a:lnTo>
                    <a:lnTo>
                      <a:pt x="2368" y="1558"/>
                    </a:lnTo>
                    <a:lnTo>
                      <a:pt x="2486" y="1630"/>
                    </a:lnTo>
                    <a:lnTo>
                      <a:pt x="2608" y="1710"/>
                    </a:lnTo>
                    <a:lnTo>
                      <a:pt x="2732" y="17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F4FF"/>
                  </a:gs>
                  <a:gs pos="100000">
                    <a:srgbClr val="124B9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24945" name="Text Box 27"/>
          <p:cNvSpPr txBox="1">
            <a:spLocks noChangeArrowheads="1"/>
          </p:cNvSpPr>
          <p:nvPr/>
        </p:nvSpPr>
        <p:spPr bwMode="auto">
          <a:xfrm>
            <a:off x="1303338" y="5927725"/>
            <a:ext cx="33083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Calibri" pitchFamily="34" charset="0"/>
              </a:rPr>
              <a:t>Measurement period – January through December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4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1657350" y="1143000"/>
          <a:ext cx="5895975" cy="4114800"/>
        </p:xfrm>
        <a:graphic>
          <a:graphicData uri="http://schemas.openxmlformats.org/presentationml/2006/ole">
            <p:oleObj spid="_x0000_s125954" name="Chart" r:id="rId3" imgW="8543899" imgH="4467131" progId="MSGraph.Chart.8">
              <p:embed followColorScheme="full"/>
            </p:oleObj>
          </a:graphicData>
        </a:graphic>
      </p:graphicFrame>
      <p:sp>
        <p:nvSpPr>
          <p:cNvPr id="125955" name="Text Box 3"/>
          <p:cNvSpPr>
            <a:spLocks noGrp="1" noChangeArrowheads="1"/>
          </p:cNvSpPr>
          <p:nvPr>
            <p:ph type="title" idx="4294967295"/>
          </p:nvPr>
        </p:nvSpPr>
        <p:spPr>
          <a:xfrm>
            <a:off x="180975" y="155575"/>
            <a:ext cx="8594725" cy="1143000"/>
          </a:xfrm>
        </p:spPr>
        <p:txBody>
          <a:bodyPr lIns="91440" tIns="45720" rIns="91440" bIns="45720" anchor="ctr"/>
          <a:lstStyle/>
          <a:p>
            <a:pPr algn="ctr"/>
            <a:r>
              <a:rPr lang="en-US" sz="2400" smtClean="0">
                <a:latin typeface="Arial" charset="0"/>
              </a:rPr>
              <a:t>Harrisburg Total Orders Shipped</a:t>
            </a:r>
            <a:br>
              <a:rPr lang="en-US" sz="2400" smtClean="0">
                <a:latin typeface="Arial" charset="0"/>
              </a:rPr>
            </a:br>
            <a:r>
              <a:rPr lang="en-US" sz="2400" smtClean="0">
                <a:latin typeface="Arial" charset="0"/>
              </a:rPr>
              <a:t>2012 vs. 2013</a:t>
            </a:r>
            <a:br>
              <a:rPr lang="en-US" sz="2400" smtClean="0">
                <a:latin typeface="Arial" charset="0"/>
              </a:rPr>
            </a:br>
            <a:endParaRPr lang="en-US" sz="2400" smtClean="0">
              <a:latin typeface="Arial" charset="0"/>
            </a:endParaRP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1560513" y="5257800"/>
            <a:ext cx="6110287" cy="103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rgbClr val="FF0000"/>
                </a:solidFill>
                <a:latin typeface="Calibri" pitchFamily="34" charset="0"/>
              </a:rPr>
              <a:t>2012 Monthly Average = 88</a:t>
            </a:r>
          </a:p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rgbClr val="FF0000"/>
                </a:solidFill>
                <a:latin typeface="Calibri" pitchFamily="34" charset="0"/>
              </a:rPr>
              <a:t>2013 Monthly Average = 119</a:t>
            </a:r>
          </a:p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chemeClr val="accent2"/>
                </a:solidFill>
                <a:latin typeface="Calibri" pitchFamily="34" charset="0"/>
              </a:rPr>
              <a:t>Orders Shipped on Time Average  = 100.00%</a:t>
            </a: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2857500" y="990600"/>
            <a:ext cx="33083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Calibri" pitchFamily="34" charset="0"/>
              </a:rPr>
              <a:t>Measurement period – January through December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9525" y="155575"/>
            <a:ext cx="6445250" cy="473075"/>
          </a:xfrm>
        </p:spPr>
        <p:txBody>
          <a:bodyPr lIns="91440" tIns="45720" rIns="91440" bIns="45720" anchor="ctr"/>
          <a:lstStyle/>
          <a:p>
            <a:pPr algn="ctr"/>
            <a:r>
              <a:rPr lang="en-US" sz="2400" smtClean="0">
                <a:latin typeface="Arial" charset="0"/>
              </a:rPr>
              <a:t>KPI’s - Harrisburg</a:t>
            </a:r>
          </a:p>
        </p:txBody>
      </p:sp>
      <p:sp>
        <p:nvSpPr>
          <p:cNvPr id="265218" name="Rectangle 3"/>
          <p:cNvSpPr>
            <a:spLocks noChangeArrowheads="1"/>
          </p:cNvSpPr>
          <p:nvPr/>
        </p:nvSpPr>
        <p:spPr bwMode="auto">
          <a:xfrm>
            <a:off x="-350838" y="2268538"/>
            <a:ext cx="539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5687" tIns="35687" rIns="35687" bIns="35687">
            <a:spAutoFit/>
          </a:bodyPr>
          <a:lstStyle/>
          <a:p>
            <a:endParaRPr lang="en-US" sz="1800">
              <a:solidFill>
                <a:schemeClr val="tx1"/>
              </a:solidFill>
              <a:latin typeface="Calibri" pitchFamily="34" charset="0"/>
            </a:endParaRPr>
          </a:p>
        </p:txBody>
      </p:sp>
      <p:graphicFrame>
        <p:nvGraphicFramePr>
          <p:cNvPr id="1520644" name="Group 4"/>
          <p:cNvGraphicFramePr>
            <a:graphicFrameLocks noGrp="1"/>
          </p:cNvGraphicFramePr>
          <p:nvPr/>
        </p:nvGraphicFramePr>
        <p:xfrm>
          <a:off x="3455988" y="2281238"/>
          <a:ext cx="96837" cy="304800"/>
        </p:xfrm>
        <a:graphic>
          <a:graphicData uri="http://schemas.openxmlformats.org/drawingml/2006/table">
            <a:tbl>
              <a:tblPr/>
              <a:tblGrid>
                <a:gridCol w="96774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2C0000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5221" name="Rectangle 10"/>
          <p:cNvSpPr>
            <a:spLocks noChangeArrowheads="1"/>
          </p:cNvSpPr>
          <p:nvPr/>
        </p:nvSpPr>
        <p:spPr bwMode="auto">
          <a:xfrm>
            <a:off x="-350838" y="2268538"/>
            <a:ext cx="539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5687" tIns="35687" rIns="35687" bIns="35687">
            <a:spAutoFit/>
          </a:bodyPr>
          <a:lstStyle/>
          <a:p>
            <a:endParaRPr lang="en-US" sz="1800">
              <a:solidFill>
                <a:schemeClr val="tx1"/>
              </a:solidFill>
              <a:latin typeface="Calibri" pitchFamily="34" charset="0"/>
            </a:endParaRPr>
          </a:p>
        </p:txBody>
      </p:sp>
      <p:graphicFrame>
        <p:nvGraphicFramePr>
          <p:cNvPr id="1520651" name="Group 11"/>
          <p:cNvGraphicFramePr>
            <a:graphicFrameLocks noGrp="1"/>
          </p:cNvGraphicFramePr>
          <p:nvPr/>
        </p:nvGraphicFramePr>
        <p:xfrm>
          <a:off x="3455988" y="2281238"/>
          <a:ext cx="96837" cy="304800"/>
        </p:xfrm>
        <a:graphic>
          <a:graphicData uri="http://schemas.openxmlformats.org/drawingml/2006/table">
            <a:tbl>
              <a:tblPr/>
              <a:tblGrid>
                <a:gridCol w="96774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2C0000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20657" name="Group 17"/>
          <p:cNvGraphicFramePr>
            <a:graphicFrameLocks noGrp="1"/>
          </p:cNvGraphicFramePr>
          <p:nvPr/>
        </p:nvGraphicFramePr>
        <p:xfrm>
          <a:off x="1143000" y="2122488"/>
          <a:ext cx="6858000" cy="3744912"/>
        </p:xfrm>
        <a:graphic>
          <a:graphicData uri="http://schemas.openxmlformats.org/drawingml/2006/table">
            <a:tbl>
              <a:tblPr/>
              <a:tblGrid>
                <a:gridCol w="908050"/>
                <a:gridCol w="920750"/>
                <a:gridCol w="400050"/>
                <a:gridCol w="514350"/>
                <a:gridCol w="40005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514350"/>
              </a:tblGrid>
              <a:tr h="1077913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Ref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Element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Goal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KPI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Q1 2012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Q2 2012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Q3 2012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Q4 2012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Q1 2013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Q2 2013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Q3 2013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Q4 2013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YTD 2013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 Contractual KPI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On Time Receiving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99.00%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99.9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99.99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 Contractual KPI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Client Order Accuracy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98.00%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 Contractual KPI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Order Shipped on Time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98.00%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 Contractual KPI</a:t>
                      </a: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Inventory Accuracy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100%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Times New Roman" pitchFamily="18" charset="0"/>
                          <a:sym typeface="Trebuchet MS" pitchFamily="34" charset="0"/>
                        </a:rPr>
                        <a:t>99.00%</a:t>
                      </a: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100</a:t>
                      </a: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265310" name="Rectangle 103"/>
          <p:cNvSpPr>
            <a:spLocks noChangeArrowheads="1"/>
          </p:cNvSpPr>
          <p:nvPr/>
        </p:nvSpPr>
        <p:spPr bwMode="auto">
          <a:xfrm>
            <a:off x="1600200" y="2879725"/>
            <a:ext cx="539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5687" tIns="35687" rIns="35687" bIns="35687">
            <a:spAutoFit/>
          </a:bodyPr>
          <a:lstStyle/>
          <a:p>
            <a:endParaRPr lang="en-US" sz="1800">
              <a:solidFill>
                <a:schemeClr val="tx1"/>
              </a:solidFill>
              <a:latin typeface="Calibri" pitchFamily="34" charset="0"/>
            </a:endParaRPr>
          </a:p>
        </p:txBody>
      </p:sp>
      <p:graphicFrame>
        <p:nvGraphicFramePr>
          <p:cNvPr id="1520744" name="Group 104"/>
          <p:cNvGraphicFramePr>
            <a:graphicFrameLocks noGrp="1"/>
          </p:cNvGraphicFramePr>
          <p:nvPr/>
        </p:nvGraphicFramePr>
        <p:xfrm>
          <a:off x="1143000" y="762000"/>
          <a:ext cx="6858000" cy="1295400"/>
        </p:xfrm>
        <a:graphic>
          <a:graphicData uri="http://schemas.openxmlformats.org/drawingml/2006/table">
            <a:tbl>
              <a:tblPr/>
              <a:tblGrid>
                <a:gridCol w="6858000"/>
              </a:tblGrid>
              <a:tr h="12954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363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C0000"/>
                          </a:solidFill>
                          <a:effectLst/>
                          <a:latin typeface="Arial" charset="0"/>
                          <a:ea typeface="ＭＳ Ｐゴシック" pitchFamily="34" charset="-128"/>
                          <a:cs typeface="Arial" charset="0"/>
                          <a:sym typeface="Trebuchet MS" pitchFamily="34" charset="0"/>
                        </a:rPr>
                        <a:t> 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2C0000"/>
                        </a:solidFill>
                        <a:effectLst/>
                        <a:latin typeface="Arial" charset="0"/>
                        <a:ea typeface="ＭＳ Ｐゴシック" pitchFamily="34" charset="-128"/>
                        <a:cs typeface="Arial" charset="0"/>
                        <a:sym typeface="Trebuchet MS" pitchFamily="34" charset="0"/>
                      </a:endParaRPr>
                    </a:p>
                  </a:txBody>
                  <a:tcPr marL="35687" marR="35687" marT="35687" marB="3568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52400"/>
            <a:ext cx="8383588" cy="1062038"/>
          </a:xfrm>
        </p:spPr>
        <p:txBody>
          <a:bodyPr lIns="91440" tIns="45720" rIns="91440" bIns="45720" anchor="ctr"/>
          <a:lstStyle/>
          <a:p>
            <a:pPr algn="ctr"/>
            <a:r>
              <a:rPr lang="en-US" sz="2400" smtClean="0">
                <a:latin typeface="Arial" charset="0"/>
              </a:rPr>
              <a:t>Harrisburg DC Error Recap </a:t>
            </a:r>
            <a:br>
              <a:rPr lang="en-US" sz="2400" smtClean="0">
                <a:latin typeface="Arial" charset="0"/>
              </a:rPr>
            </a:br>
            <a:r>
              <a:rPr lang="en-US" sz="2400" smtClean="0">
                <a:solidFill>
                  <a:srgbClr val="000000"/>
                </a:solidFill>
                <a:latin typeface="MS Sans Serif"/>
              </a:rPr>
              <a:t>Error Summary </a:t>
            </a:r>
            <a:br>
              <a:rPr lang="en-US" sz="2400" smtClean="0">
                <a:solidFill>
                  <a:srgbClr val="000000"/>
                </a:solidFill>
                <a:latin typeface="MS Sans Serif"/>
              </a:rPr>
            </a:br>
            <a:r>
              <a:rPr lang="en-US" sz="2400" smtClean="0">
                <a:solidFill>
                  <a:srgbClr val="000000"/>
                </a:solidFill>
                <a:latin typeface="MS Sans Serif"/>
              </a:rPr>
              <a:t>March</a:t>
            </a:r>
            <a:r>
              <a:rPr lang="en-US" sz="2400" smtClean="0">
                <a:solidFill>
                  <a:srgbClr val="000000"/>
                </a:solidFill>
                <a:latin typeface="Arial" charset="0"/>
              </a:rPr>
              <a:t>–</a:t>
            </a:r>
            <a:r>
              <a:rPr lang="en-US" sz="2400" smtClean="0">
                <a:solidFill>
                  <a:srgbClr val="000000"/>
                </a:solidFill>
                <a:latin typeface="MS Sans Serif"/>
              </a:rPr>
              <a:t> February 2013</a:t>
            </a:r>
            <a:endParaRPr lang="en-US" sz="2400" smtClean="0">
              <a:latin typeface="Times New Roman" pitchFamily="18" charset="0"/>
            </a:endParaRPr>
          </a:p>
        </p:txBody>
      </p:sp>
      <p:graphicFrame>
        <p:nvGraphicFramePr>
          <p:cNvPr id="128003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892300" y="1214438"/>
          <a:ext cx="4889500" cy="4524375"/>
        </p:xfrm>
        <a:graphic>
          <a:graphicData uri="http://schemas.openxmlformats.org/presentationml/2006/ole">
            <p:oleObj spid="_x0000_s128003" name="Worksheet" r:id="rId4" imgW="4076789" imgH="2828904" progId="Excel.Sheet.8">
              <p:embed/>
            </p:oleObj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89" name="Rectangle 3"/>
          <p:cNvSpPr>
            <a:spLocks noGrp="1" noChangeArrowheads="1"/>
          </p:cNvSpPr>
          <p:nvPr>
            <p:ph type="title"/>
          </p:nvPr>
        </p:nvSpPr>
        <p:spPr>
          <a:xfrm>
            <a:off x="303213" y="322263"/>
            <a:ext cx="8535987" cy="1062037"/>
          </a:xfrm>
        </p:spPr>
        <p:txBody>
          <a:bodyPr/>
          <a:lstStyle/>
          <a:p>
            <a:r>
              <a:rPr lang="en-US" smtClean="0">
                <a:latin typeface="Arial" charset="0"/>
              </a:rPr>
              <a:t>UPS and Endo Pharmaceuticals</a:t>
            </a:r>
            <a:br>
              <a:rPr lang="en-US" smtClean="0">
                <a:latin typeface="Arial" charset="0"/>
              </a:rPr>
            </a:br>
            <a:r>
              <a:rPr lang="en-US" sz="2200" smtClean="0">
                <a:latin typeface="Arial" charset="0"/>
              </a:rPr>
              <a:t>Building Our Strategic Partnership</a:t>
            </a:r>
          </a:p>
        </p:txBody>
      </p:sp>
      <p:sp>
        <p:nvSpPr>
          <p:cNvPr id="53249" name="Footer Placeholder 2"/>
          <p:cNvSpPr>
            <a:spLocks noGrp="1"/>
          </p:cNvSpPr>
          <p:nvPr>
            <p:ph type="ftr" sz="quarter" idx="10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6829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 w="9525"/>
        </p:spPr>
        <p:txBody>
          <a:bodyPr/>
          <a:lstStyle/>
          <a:p>
            <a:fld id="{AC622656-22CF-4106-894E-419EB106CEDF}" type="slidenum">
              <a:rPr lang="en-US" smtClean="0"/>
              <a:pPr/>
              <a:t>52</a:t>
            </a:fld>
            <a:endParaRPr lang="en-US" smtClean="0"/>
          </a:p>
        </p:txBody>
      </p:sp>
      <p:pic>
        <p:nvPicPr>
          <p:cNvPr id="268292" name="Picture 2" descr="divider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86000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8293" name="Rectangle 3"/>
          <p:cNvSpPr>
            <a:spLocks noChangeArrowheads="1"/>
          </p:cNvSpPr>
          <p:nvPr/>
        </p:nvSpPr>
        <p:spPr bwMode="auto">
          <a:xfrm>
            <a:off x="8153400" y="0"/>
            <a:ext cx="914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Transition 8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7" name="Rectangle 10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105400"/>
            <a:ext cx="7772400" cy="612775"/>
          </a:xfrm>
        </p:spPr>
        <p:txBody>
          <a:bodyPr anchor="b"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UPS Temperature True</a:t>
            </a:r>
            <a:r>
              <a:rPr lang="en-US" baseline="40000" smtClean="0">
                <a:latin typeface="Arial" charset="0"/>
                <a:cs typeface="Arial" charset="0"/>
              </a:rPr>
              <a:t>®</a:t>
            </a:r>
          </a:p>
        </p:txBody>
      </p:sp>
      <p:sp>
        <p:nvSpPr>
          <p:cNvPr id="270338" name="Rectangle 12"/>
          <p:cNvSpPr>
            <a:spLocks noChangeArrowheads="1"/>
          </p:cNvSpPr>
          <p:nvPr/>
        </p:nvSpPr>
        <p:spPr bwMode="auto">
          <a:xfrm>
            <a:off x="339725" y="6215063"/>
            <a:ext cx="5667375" cy="338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5687" tIns="35687" rIns="35687" bIns="35687"/>
          <a:lstStyle/>
          <a:p>
            <a:pPr eaLnBrk="0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</a:pPr>
            <a:r>
              <a:rPr lang="en-US" sz="1400">
                <a:solidFill>
                  <a:srgbClr val="2C0000"/>
                </a:solidFill>
                <a:sym typeface="Trebuchet MS" pitchFamily="34" charset="0"/>
              </a:rPr>
              <a:t>March 2014</a:t>
            </a:r>
          </a:p>
        </p:txBody>
      </p:sp>
      <p:pic>
        <p:nvPicPr>
          <p:cNvPr id="270339" name="Picture 10"/>
          <p:cNvPicPr>
            <a:picLocks noChangeAspect="1" noChangeArrowheads="1"/>
          </p:cNvPicPr>
          <p:nvPr/>
        </p:nvPicPr>
        <p:blipFill>
          <a:blip r:embed="rId2"/>
          <a:srcRect l="1425" r="13043" b="-294"/>
          <a:stretch>
            <a:fillRect/>
          </a:stretch>
        </p:blipFill>
        <p:spPr bwMode="auto">
          <a:xfrm>
            <a:off x="-14288" y="0"/>
            <a:ext cx="9144001" cy="438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1" name="Text Box 8"/>
          <p:cNvSpPr txBox="1">
            <a:spLocks noGrp="1" noChangeArrowheads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pPr algn="ctr"/>
            <a:fld id="{47E20E0C-8B36-43C4-8D86-817C2BF1F424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 algn="ctr"/>
              <a:t>54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271362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6173787" cy="1430337"/>
          </a:xfrm>
        </p:spPr>
        <p:txBody>
          <a:bodyPr lIns="35701" tIns="35701" rIns="35701" bIns="35701"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UPS Temperature True</a:t>
            </a:r>
            <a:r>
              <a:rPr lang="en-US" baseline="40000" smtClean="0">
                <a:latin typeface="Arial" charset="0"/>
                <a:cs typeface="Arial" charset="0"/>
              </a:rPr>
              <a:t>®</a:t>
            </a:r>
            <a:r>
              <a:rPr lang="en-US" smtClean="0">
                <a:latin typeface="Arial" charset="0"/>
                <a:cs typeface="Arial" charset="0"/>
              </a:rPr>
              <a:t/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latin typeface="Arial" charset="0"/>
                <a:cs typeface="Arial" charset="0"/>
              </a:rPr>
              <a:t>Assessing the pain in your temperature-sensitive supply chain</a:t>
            </a:r>
          </a:p>
        </p:txBody>
      </p:sp>
      <p:sp>
        <p:nvSpPr>
          <p:cNvPr id="271363" name="Rectangle 1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76400"/>
            <a:ext cx="6096000" cy="4267200"/>
          </a:xfrm>
        </p:spPr>
        <p:txBody>
          <a:bodyPr lIns="64264" tIns="32132" rIns="64264" bIns="32132"/>
          <a:lstStyle/>
          <a:p>
            <a:pPr>
              <a:lnSpc>
                <a:spcPct val="100000"/>
              </a:lnSpc>
            </a:pPr>
            <a:r>
              <a:rPr lang="en-US" smtClean="0">
                <a:latin typeface="Arial" charset="0"/>
                <a:cs typeface="Arial" charset="0"/>
              </a:rPr>
              <a:t>Managing cost while staying compliant both at home and abroad can present daily challenges for you to: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latin typeface="Arial" charset="0"/>
                <a:cs typeface="Arial" charset="0"/>
              </a:rPr>
              <a:t>Ensure your products arrive intact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latin typeface="Arial" charset="0"/>
                <a:cs typeface="Arial" charset="0"/>
              </a:rPr>
              <a:t>Maintain 24/7 shipment visibility to prevent packout expiry before delivery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latin typeface="Arial" charset="0"/>
                <a:cs typeface="Arial" charset="0"/>
              </a:rPr>
              <a:t>Stay up to date on multi-country healthcare and customs regulations and other laws affecting transportation of healthcare goods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latin typeface="Arial" charset="0"/>
                <a:cs typeface="Arial" charset="0"/>
              </a:rPr>
              <a:t>Access the latest technology to protect your shipments from various vendors around the globe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latin typeface="Arial" charset="0"/>
                <a:cs typeface="Arial" charset="0"/>
              </a:rPr>
              <a:t>Expand supply chains to emerging markets and manage multi-country providers, vendors and  carriers</a:t>
            </a:r>
          </a:p>
          <a:p>
            <a:pPr>
              <a:lnSpc>
                <a:spcPct val="100000"/>
              </a:lnSpc>
            </a:pPr>
            <a:r>
              <a:rPr lang="en-US" smtClean="0">
                <a:latin typeface="Arial" charset="0"/>
                <a:cs typeface="Arial" charset="0"/>
              </a:rPr>
              <a:t>Find a holistic global logistics partner who understands the complexity of your world </a:t>
            </a:r>
          </a:p>
        </p:txBody>
      </p:sp>
      <p:pic>
        <p:nvPicPr>
          <p:cNvPr id="271364" name="Picture 6" descr="scs_ve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0"/>
            <a:ext cx="22098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7"/>
          <p:cNvSpPr txBox="1">
            <a:spLocks noGrp="1" noChangeArrowheads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</p:spPr>
        <p:txBody>
          <a:bodyPr/>
          <a:lstStyle>
            <a:lvl1pPr algn="l" eaLnBrk="0" hangingPunct="0">
              <a:defRPr lang="en-US" sz="700" cap="all" smtClean="0"/>
            </a:lvl1pPr>
          </a:lstStyle>
          <a:p>
            <a:pPr>
              <a:defRPr/>
            </a:pPr>
            <a:r>
              <a:rPr dirty="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5" name="Text Box 8"/>
          <p:cNvSpPr txBox="1">
            <a:spLocks noGrp="1" noChangeArrowheads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pPr algn="ctr"/>
            <a:fld id="{47BD2BB8-076D-4D00-A979-A24F2BAA077E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 algn="ctr"/>
              <a:t>55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27238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394700" cy="1062037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Temperature True</a:t>
            </a:r>
            <a:r>
              <a:rPr lang="en-US" baseline="40000" smtClean="0">
                <a:solidFill>
                  <a:schemeClr val="tx1"/>
                </a:solidFill>
                <a:latin typeface="Arial" charset="0"/>
                <a:cs typeface="Arial" charset="0"/>
              </a:rPr>
              <a:t>®</a:t>
            </a: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 Plus</a:t>
            </a:r>
            <a:b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2200" smtClean="0">
                <a:solidFill>
                  <a:schemeClr val="tx1"/>
                </a:solidFill>
                <a:latin typeface="Arial" charset="0"/>
                <a:cs typeface="Arial" charset="0"/>
              </a:rPr>
              <a:t>When you shipments require the highest degree of control</a:t>
            </a:r>
          </a:p>
        </p:txBody>
      </p:sp>
      <p:pic>
        <p:nvPicPr>
          <p:cNvPr id="272387" name="Picture 5" descr="air_h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67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7"/>
          <p:cNvSpPr txBox="1">
            <a:spLocks noGrp="1" noChangeArrowheads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</p:spPr>
        <p:txBody>
          <a:bodyPr/>
          <a:lstStyle>
            <a:lvl1pPr algn="l" eaLnBrk="0" hangingPunct="0">
              <a:defRPr lang="en-US" sz="700" cap="all" smtClean="0"/>
            </a:lvl1pPr>
          </a:lstStyle>
          <a:p>
            <a:pPr>
              <a:defRPr/>
            </a:pPr>
            <a:r>
              <a:rPr dirty="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72389" name="Content Placeholder 2"/>
          <p:cNvSpPr txBox="1">
            <a:spLocks/>
          </p:cNvSpPr>
          <p:nvPr/>
        </p:nvSpPr>
        <p:spPr bwMode="auto">
          <a:xfrm>
            <a:off x="533400" y="1219200"/>
            <a:ext cx="7315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42" tIns="32119" rIns="64242" bIns="32119"/>
          <a:lstStyle/>
          <a:p>
            <a:pPr marL="239713" indent="-239713" eaLnBrk="0" hangingPunct="0">
              <a:spcBef>
                <a:spcPts val="600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600">
                <a:solidFill>
                  <a:schemeClr val="tx1"/>
                </a:solidFill>
                <a:sym typeface="Trebuchet MS" pitchFamily="34" charset="0"/>
              </a:rPr>
              <a:t>For biologics, vaccines and sensitive pharmaceuticals requiring tight temperature control to maintain stability, you need a robust process with the highest level of risk mitigation</a:t>
            </a:r>
          </a:p>
          <a:p>
            <a:pPr marL="239713" indent="-239713" eaLnBrk="0" hangingPunct="0">
              <a:spcBef>
                <a:spcPts val="600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600">
                <a:solidFill>
                  <a:schemeClr val="tx1"/>
                </a:solidFill>
                <a:sym typeface="Trebuchet MS" pitchFamily="34" charset="0"/>
              </a:rPr>
              <a:t>By partnering with qualified carriers that offer specialized pharma service, your shipments receive the expert care they require</a:t>
            </a:r>
          </a:p>
          <a:p>
            <a:pPr marL="239713" indent="-239713" eaLnBrk="0" hangingPunct="0">
              <a:spcBef>
                <a:spcPts val="600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600">
                <a:solidFill>
                  <a:schemeClr val="tx1"/>
                </a:solidFill>
                <a:sym typeface="Trebuchet MS" pitchFamily="34" charset="0"/>
              </a:rPr>
              <a:t>As an added layer of protection, we provide access to the latest technology in active containers and passive packaging</a:t>
            </a:r>
          </a:p>
          <a:p>
            <a:pPr marL="239713" indent="-239713" eaLnBrk="0" hangingPunct="0">
              <a:spcBef>
                <a:spcPts val="600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600">
                <a:solidFill>
                  <a:schemeClr val="tx1"/>
                </a:solidFill>
                <a:sym typeface="Trebuchet MS" pitchFamily="34" charset="0"/>
              </a:rPr>
              <a:t>And we provide proactive support along the way to make it easier to protect your products, like container preconditioning and repositioning, re-icing and battery replenishment</a:t>
            </a:r>
          </a:p>
          <a:p>
            <a:pPr marL="574675" lvl="1" indent="-22066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 typeface="Arial" charset="0"/>
              <a:buChar char="─"/>
            </a:pPr>
            <a:endParaRPr lang="en-US" sz="1600">
              <a:solidFill>
                <a:srgbClr val="2C0000"/>
              </a:solidFill>
              <a:sym typeface="Trebuchet MS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09" name="Text Box 8"/>
          <p:cNvSpPr txBox="1">
            <a:spLocks noGrp="1" noChangeArrowheads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pPr algn="ctr"/>
            <a:fld id="{CF50031C-69F8-4599-80BB-86B26BA024C8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 algn="ctr"/>
              <a:t>56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27341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322263"/>
            <a:ext cx="8394700" cy="1062037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Temperature True</a:t>
            </a:r>
            <a:r>
              <a:rPr lang="en-US" baseline="40000" smtClean="0">
                <a:solidFill>
                  <a:schemeClr val="tx1"/>
                </a:solidFill>
                <a:latin typeface="Arial" charset="0"/>
                <a:cs typeface="Arial" charset="0"/>
              </a:rPr>
              <a:t>®</a:t>
            </a: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 Plus</a:t>
            </a:r>
            <a:b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2200" smtClean="0">
                <a:solidFill>
                  <a:schemeClr val="tx1"/>
                </a:solidFill>
                <a:latin typeface="Arial" charset="0"/>
                <a:cs typeface="Arial" charset="0"/>
              </a:rPr>
              <a:t>When you shipments require the highest degree of control</a:t>
            </a:r>
          </a:p>
        </p:txBody>
      </p:sp>
      <p:pic>
        <p:nvPicPr>
          <p:cNvPr id="273411" name="Picture 5" descr="air_h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67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7"/>
          <p:cNvSpPr txBox="1">
            <a:spLocks noGrp="1" noChangeArrowheads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</p:spPr>
        <p:txBody>
          <a:bodyPr/>
          <a:lstStyle>
            <a:lvl1pPr algn="l" eaLnBrk="0" hangingPunct="0">
              <a:defRPr lang="en-US" sz="700" cap="all" smtClean="0"/>
            </a:lvl1pPr>
          </a:lstStyle>
          <a:p>
            <a:pPr>
              <a:defRPr/>
            </a:pPr>
            <a:r>
              <a:rPr dirty="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73413" name="Content Placeholder 2"/>
          <p:cNvSpPr txBox="1">
            <a:spLocks/>
          </p:cNvSpPr>
          <p:nvPr/>
        </p:nvSpPr>
        <p:spPr bwMode="auto">
          <a:xfrm>
            <a:off x="533400" y="1219200"/>
            <a:ext cx="7315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42" tIns="32119" rIns="64242" bIns="32119"/>
          <a:lstStyle/>
          <a:p>
            <a:pPr marL="239713" indent="-239713" eaLnBrk="0" hangingPunct="0">
              <a:lnSpc>
                <a:spcPct val="120000"/>
              </a:lnSpc>
              <a:spcBef>
                <a:spcPct val="50000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600">
                <a:solidFill>
                  <a:srgbClr val="2C0000"/>
                </a:solidFill>
                <a:sym typeface="Trebuchet MS" pitchFamily="34" charset="0"/>
              </a:rPr>
              <a:t>Our experienced healthcare control towers actively monitor shipments from </a:t>
            </a:r>
            <a:br>
              <a:rPr lang="en-US" sz="1600">
                <a:solidFill>
                  <a:srgbClr val="2C0000"/>
                </a:solidFill>
                <a:sym typeface="Trebuchet MS" pitchFamily="34" charset="0"/>
              </a:rPr>
            </a:br>
            <a:r>
              <a:rPr lang="en-US" sz="1600">
                <a:solidFill>
                  <a:srgbClr val="2C0000"/>
                </a:solidFill>
                <a:sym typeface="Trebuchet MS" pitchFamily="34" charset="0"/>
              </a:rPr>
              <a:t>the first pre-alert that a temperature-sensitive product is entering our system through the final destination, and every critical milestone in between</a:t>
            </a:r>
          </a:p>
          <a:p>
            <a:pPr marL="239713" indent="-239713" eaLnBrk="0" hangingPunct="0">
              <a:lnSpc>
                <a:spcPct val="120000"/>
              </a:lnSpc>
              <a:spcBef>
                <a:spcPct val="50000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600">
                <a:solidFill>
                  <a:srgbClr val="2C0000"/>
                </a:solidFill>
                <a:sym typeface="Trebuchet MS" pitchFamily="34" charset="0"/>
              </a:rPr>
              <a:t>Immediate intervention begins if there is any indication of a potential shipment </a:t>
            </a:r>
            <a:br>
              <a:rPr lang="en-US" sz="1600">
                <a:solidFill>
                  <a:srgbClr val="2C0000"/>
                </a:solidFill>
                <a:sym typeface="Trebuchet MS" pitchFamily="34" charset="0"/>
              </a:rPr>
            </a:br>
            <a:r>
              <a:rPr lang="en-US" sz="1600">
                <a:solidFill>
                  <a:srgbClr val="2C0000"/>
                </a:solidFill>
                <a:sym typeface="Trebuchet MS" pitchFamily="34" charset="0"/>
              </a:rPr>
              <a:t>in distress</a:t>
            </a:r>
          </a:p>
          <a:p>
            <a:pPr marL="239713" indent="-239713" eaLnBrk="0" hangingPunct="0">
              <a:lnSpc>
                <a:spcPct val="120000"/>
              </a:lnSpc>
              <a:spcBef>
                <a:spcPct val="50000"/>
              </a:spcBef>
              <a:spcAft>
                <a:spcPts val="363"/>
              </a:spcAft>
              <a:buClr>
                <a:schemeClr val="tx2"/>
              </a:buClr>
              <a:buFontTx/>
              <a:buChar char="•"/>
            </a:pPr>
            <a:r>
              <a:rPr lang="en-US" sz="1600">
                <a:solidFill>
                  <a:schemeClr val="tx1"/>
                </a:solidFill>
                <a:sym typeface="Trebuchet MS" pitchFamily="34" charset="0"/>
              </a:rPr>
              <a:t>Robust contingency plans include: preselected redundant flight routings, access to on-airport cold storage areas to extend packouts in case of delay, container re-icing, and documented escalation paths</a:t>
            </a:r>
          </a:p>
          <a:p>
            <a:pPr marL="574675" lvl="1" indent="-220663" eaLnBrk="0" hangingPunct="0">
              <a:lnSpc>
                <a:spcPct val="120000"/>
              </a:lnSpc>
              <a:spcBef>
                <a:spcPts val="363"/>
              </a:spcBef>
              <a:spcAft>
                <a:spcPts val="363"/>
              </a:spcAft>
              <a:buClr>
                <a:schemeClr val="tx2"/>
              </a:buClr>
              <a:buFont typeface="Arial" charset="0"/>
              <a:buChar char="─"/>
            </a:pPr>
            <a:endParaRPr lang="en-US" sz="1600">
              <a:solidFill>
                <a:srgbClr val="2C0000"/>
              </a:solidFill>
              <a:sym typeface="Trebuchet MS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3" name="Picture 2" descr="divider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4434" name="Text Box 8"/>
          <p:cNvSpPr txBox="1">
            <a:spLocks noGrp="1" noChangeArrowheads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pPr algn="ctr"/>
            <a:fld id="{2635D483-D95A-4C5B-BBEB-24119566A0B4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 algn="ctr"/>
              <a:t>57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</a:rPr>
              <a:t>Temperature True</a:t>
            </a:r>
            <a:r>
              <a:rPr lang="en-US" baseline="40000" smtClean="0">
                <a:latin typeface="Arial" charset="0"/>
              </a:rPr>
              <a:t>®</a:t>
            </a:r>
            <a:r>
              <a:rPr lang="en-US" smtClean="0">
                <a:latin typeface="Arial" charset="0"/>
              </a:rPr>
              <a:t> Standard</a:t>
            </a:r>
            <a:br>
              <a:rPr lang="en-US" smtClean="0">
                <a:latin typeface="Arial" charset="0"/>
              </a:rPr>
            </a:br>
            <a:r>
              <a:rPr lang="en-US" sz="2200" smtClean="0">
                <a:latin typeface="Arial" charset="0"/>
              </a:rPr>
              <a:t>When timing is simply everything</a:t>
            </a:r>
          </a:p>
        </p:txBody>
      </p:sp>
      <p:sp>
        <p:nvSpPr>
          <p:cNvPr id="7" name="Rectangle 7"/>
          <p:cNvSpPr txBox="1">
            <a:spLocks noGrp="1" noChangeArrowheads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</p:spPr>
        <p:txBody>
          <a:bodyPr/>
          <a:lstStyle>
            <a:lvl1pPr algn="l" eaLnBrk="0" hangingPunct="0">
              <a:defRPr lang="en-US" sz="700" cap="all" smtClean="0"/>
            </a:lvl1pPr>
          </a:lstStyle>
          <a:p>
            <a:pPr>
              <a:defRPr/>
            </a:pPr>
            <a:r>
              <a:rPr dirty="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74437" name="Rectangle 7"/>
          <p:cNvSpPr txBox="1">
            <a:spLocks noChangeArrowheads="1"/>
          </p:cNvSpPr>
          <p:nvPr/>
        </p:nvSpPr>
        <p:spPr bwMode="auto">
          <a:xfrm>
            <a:off x="274638" y="1295400"/>
            <a:ext cx="8561387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Tx/>
              <a:buChar char="•"/>
            </a:pPr>
            <a:r>
              <a:rPr lang="en-US" sz="1800"/>
              <a:t>For robust pharmaceuticals, consumer health products, nutraceuticals and more with stability data and/or passive packaging* that eliminate the need for added control, we monitor to ensure shipments arrive on-time</a:t>
            </a:r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r>
              <a:rPr lang="en-US" sz="1600"/>
              <a:t>You tell us when your pack-out expires and  we find the optimal routing through our preferred providers</a:t>
            </a:r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r>
              <a:rPr lang="en-US" sz="1600"/>
              <a:t>Our global control towers monitor milestones to enable shipments travel unimpeded</a:t>
            </a:r>
          </a:p>
          <a:p>
            <a:pPr marL="342900" indent="-3429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Tx/>
              <a:buChar char="•"/>
            </a:pPr>
            <a:r>
              <a:rPr lang="en-US" sz="1800"/>
              <a:t>The same healthcare experts in control towers, solutions, implementations and quality follow a single Global Master Operating </a:t>
            </a:r>
            <a:r>
              <a:rPr lang="en-US" sz="1800">
                <a:solidFill>
                  <a:srgbClr val="2C0000"/>
                </a:solidFill>
              </a:rPr>
              <a:t>Plan </a:t>
            </a:r>
            <a:r>
              <a:rPr lang="en-US" sz="1800"/>
              <a:t>to deliver reliable results </a:t>
            </a:r>
          </a:p>
          <a:p>
            <a:pPr marL="342900" indent="-3429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</a:pPr>
            <a:r>
              <a:rPr lang="en-US" sz="1400" i="1"/>
              <a:t>*</a:t>
            </a:r>
            <a:r>
              <a:rPr lang="en-US" sz="1200" i="1"/>
              <a:t>Active containers and some passively packed shipments with tight transportation temperature requirements are not accepted on UPS Temperature True Standard”</a:t>
            </a:r>
          </a:p>
          <a:p>
            <a:pPr marL="342900" indent="-3429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Tx/>
              <a:buChar char="•"/>
            </a:pPr>
            <a:endParaRPr lang="en-US" sz="1600"/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endParaRPr lang="en-US" sz="1400"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457" name="Picture 2" descr="divider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5458" name="Text Box 8"/>
          <p:cNvSpPr txBox="1">
            <a:spLocks noGrp="1" noChangeArrowheads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pPr algn="ctr"/>
            <a:fld id="{048CEE18-67CE-4C1B-99F9-8B941527AA75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 algn="ctr"/>
              <a:t>58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</a:rPr>
              <a:t>Temperature True</a:t>
            </a:r>
            <a:r>
              <a:rPr lang="en-US" baseline="40000" smtClean="0">
                <a:latin typeface="Arial" charset="0"/>
              </a:rPr>
              <a:t>®</a:t>
            </a:r>
            <a:r>
              <a:rPr lang="en-US" smtClean="0">
                <a:latin typeface="Arial" charset="0"/>
              </a:rPr>
              <a:t> Standard</a:t>
            </a:r>
            <a:br>
              <a:rPr lang="en-US" smtClean="0">
                <a:latin typeface="Arial" charset="0"/>
              </a:rPr>
            </a:br>
            <a:r>
              <a:rPr lang="en-US" sz="2200" smtClean="0">
                <a:latin typeface="Arial" charset="0"/>
              </a:rPr>
              <a:t>When timing is simply everything</a:t>
            </a:r>
          </a:p>
        </p:txBody>
      </p:sp>
      <p:sp>
        <p:nvSpPr>
          <p:cNvPr id="7" name="Rectangle 7"/>
          <p:cNvSpPr txBox="1">
            <a:spLocks noGrp="1" noChangeArrowheads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</p:spPr>
        <p:txBody>
          <a:bodyPr/>
          <a:lstStyle>
            <a:lvl1pPr algn="l" eaLnBrk="0" hangingPunct="0">
              <a:defRPr lang="en-US" sz="700" cap="all" smtClean="0"/>
            </a:lvl1pPr>
          </a:lstStyle>
          <a:p>
            <a:pPr>
              <a:defRPr/>
            </a:pPr>
            <a:r>
              <a:rPr dirty="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75461" name="Rectangle 7"/>
          <p:cNvSpPr txBox="1">
            <a:spLocks noChangeArrowheads="1"/>
          </p:cNvSpPr>
          <p:nvPr/>
        </p:nvSpPr>
        <p:spPr bwMode="auto">
          <a:xfrm>
            <a:off x="274638" y="1295400"/>
            <a:ext cx="8561387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Tx/>
              <a:buChar char="•"/>
            </a:pPr>
            <a:r>
              <a:rPr lang="en-US" sz="2000">
                <a:solidFill>
                  <a:schemeClr val="tx1"/>
                </a:solidFill>
              </a:rPr>
              <a:t>For added control we offer additional services including:</a:t>
            </a:r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r>
              <a:rPr lang="en-US" sz="1800">
                <a:solidFill>
                  <a:schemeClr val="tx1"/>
                </a:solidFill>
              </a:rPr>
              <a:t>Freight  pickup and delivery in refrigerated vehicles to extend packout expiration</a:t>
            </a:r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r>
              <a:rPr lang="en-US" sz="1800">
                <a:solidFill>
                  <a:schemeClr val="tx1"/>
                </a:solidFill>
              </a:rPr>
              <a:t>Expert clearance and last mile delivery to help avoid destination delays</a:t>
            </a:r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r>
              <a:rPr lang="en-US" sz="1800">
                <a:solidFill>
                  <a:schemeClr val="tx1"/>
                </a:solidFill>
              </a:rPr>
              <a:t>Contingency options for unavoidable delays including:</a:t>
            </a:r>
          </a:p>
          <a:p>
            <a:pPr marL="1143000" lvl="2" indent="-2286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Tx/>
              <a:buChar char="•"/>
            </a:pPr>
            <a:r>
              <a:rPr lang="en-US" sz="1600">
                <a:solidFill>
                  <a:schemeClr val="tx1"/>
                </a:solidFill>
              </a:rPr>
              <a:t>Shipment rescue or rerouting</a:t>
            </a:r>
          </a:p>
          <a:p>
            <a:pPr marL="1143000" lvl="2" indent="-2286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Tx/>
              <a:buChar char="•"/>
            </a:pPr>
            <a:r>
              <a:rPr lang="en-US" sz="1600">
                <a:solidFill>
                  <a:schemeClr val="tx1"/>
                </a:solidFill>
              </a:rPr>
              <a:t>Prearranged temporary storage in a controlled environment (where available)</a:t>
            </a:r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r>
              <a:rPr lang="en-US" sz="1800">
                <a:solidFill>
                  <a:schemeClr val="tx1"/>
                </a:solidFill>
              </a:rPr>
              <a:t>Access to the latest options in passive thermal control packaging</a:t>
            </a:r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r>
              <a:rPr lang="en-US" sz="1800">
                <a:solidFill>
                  <a:schemeClr val="tx1"/>
                </a:solidFill>
              </a:rPr>
              <a:t>Help qualifying lanes and temperature profiling studies</a:t>
            </a:r>
          </a:p>
          <a:p>
            <a:pPr marL="342900" indent="-34290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Tx/>
              <a:buChar char="•"/>
            </a:pPr>
            <a:endParaRPr lang="en-US" sz="1600"/>
          </a:p>
          <a:p>
            <a:pPr marL="742950" lvl="1" indent="-285750" defTabSz="457200">
              <a:lnSpc>
                <a:spcPct val="125000"/>
              </a:lnSpc>
              <a:spcBef>
                <a:spcPts val="600"/>
              </a:spcBef>
              <a:buClr>
                <a:srgbClr val="33231B"/>
              </a:buClr>
              <a:buFont typeface="Arial" charset="0"/>
              <a:buChar char="–"/>
            </a:pPr>
            <a:endParaRPr lang="en-US" sz="1400"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81" name="Picture 5" descr="ocean_h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6975"/>
            <a:ext cx="9144000" cy="185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482" name="Text Box 8"/>
          <p:cNvSpPr txBox="1">
            <a:spLocks noGrp="1" noChangeArrowheads="1"/>
          </p:cNvSpPr>
          <p:nvPr/>
        </p:nvSpPr>
        <p:spPr bwMode="auto">
          <a:xfrm>
            <a:off x="290513" y="6477000"/>
            <a:ext cx="249237" cy="260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4277" tIns="32139" rIns="64277" bIns="32139"/>
          <a:lstStyle/>
          <a:p>
            <a:pPr algn="ctr"/>
            <a:fld id="{653D513F-909C-40FD-826E-920EF1D0E551}" type="slidenum">
              <a:rPr lang="en-US" sz="1300">
                <a:solidFill>
                  <a:schemeClr val="tx2"/>
                </a:solidFill>
                <a:latin typeface="Trebuchet MS" pitchFamily="34" charset="0"/>
                <a:sym typeface="Trebuchet MS" pitchFamily="34" charset="0"/>
              </a:rPr>
              <a:pPr algn="ctr"/>
              <a:t>59</a:t>
            </a:fld>
            <a:endParaRPr lang="en-US" sz="1300">
              <a:solidFill>
                <a:schemeClr val="tx2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276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228600"/>
            <a:ext cx="8394700" cy="1062038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Temperature True</a:t>
            </a:r>
            <a:r>
              <a:rPr lang="en-US" baseline="40000" smtClean="0">
                <a:latin typeface="Arial" charset="0"/>
                <a:cs typeface="Arial" charset="0"/>
              </a:rPr>
              <a:t>®</a:t>
            </a:r>
            <a:r>
              <a:rPr lang="en-US" smtClean="0">
                <a:latin typeface="Arial" charset="0"/>
                <a:cs typeface="Arial" charset="0"/>
              </a:rPr>
              <a:t> Saver – New for 2014</a:t>
            </a:r>
            <a:br>
              <a:rPr lang="en-US" smtClean="0">
                <a:latin typeface="Arial" charset="0"/>
                <a:cs typeface="Arial" charset="0"/>
              </a:rPr>
            </a:br>
            <a:r>
              <a:rPr lang="en-US" sz="2200" smtClean="0">
                <a:solidFill>
                  <a:schemeClr val="tx1"/>
                </a:solidFill>
                <a:latin typeface="Arial" charset="0"/>
                <a:cs typeface="Arial" charset="0"/>
              </a:rPr>
              <a:t>When cost is priority</a:t>
            </a:r>
          </a:p>
        </p:txBody>
      </p:sp>
      <p:sp>
        <p:nvSpPr>
          <p:cNvPr id="276484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369888" y="1143000"/>
            <a:ext cx="8404225" cy="3886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Because global expansion and cost containment are challenging you  to move high volume shipments overseas while managing your supply chain budget, we are developing a new level of service to meet this challenge</a:t>
            </a:r>
          </a:p>
          <a:p>
            <a:pPr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Currently in pilot, UPS Temperature True Saver will offer: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Global carrier relationship management to ensure your shipments receive the attention and level of support they require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Access to reefers to support temperature controlled shipments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Inland pickup and delivery of containers, and repositioning empty containers to the ports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Customs clearance for expedited release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Support from trained personnel on global procedures designed to mitigate risk</a:t>
            </a:r>
          </a:p>
          <a:p>
            <a:pPr lvl="1">
              <a:lnSpc>
                <a:spcPct val="100000"/>
              </a:lnSpc>
            </a:pPr>
            <a:r>
              <a:rPr lang="en-US" smtClean="0">
                <a:solidFill>
                  <a:schemeClr val="tx1"/>
                </a:solidFill>
                <a:latin typeface="Arial" charset="0"/>
                <a:cs typeface="Arial" charset="0"/>
              </a:rPr>
              <a:t>24x7x365 shipment milestone tracking</a:t>
            </a:r>
          </a:p>
          <a:p>
            <a:pPr>
              <a:lnSpc>
                <a:spcPct val="100000"/>
              </a:lnSpc>
            </a:pPr>
            <a:endParaRPr lang="en-US" smtClean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Footer Placeholder 7"/>
          <p:cNvSpPr txBox="1">
            <a:spLocks noGrp="1" noChangeArrowheads="1"/>
          </p:cNvSpPr>
          <p:nvPr/>
        </p:nvSpPr>
        <p:spPr>
          <a:xfrm>
            <a:off x="533400" y="6477000"/>
            <a:ext cx="4572000" cy="381000"/>
          </a:xfrm>
          <a:prstGeom prst="rect">
            <a:avLst/>
          </a:prstGeom>
          <a:noFill/>
        </p:spPr>
        <p:txBody>
          <a:bodyPr/>
          <a:lstStyle>
            <a:lvl1pPr algn="l" eaLnBrk="0" hangingPunct="0">
              <a:defRPr lang="en-US" sz="700" cap="all" smtClean="0"/>
            </a:lvl1pPr>
          </a:lstStyle>
          <a:p>
            <a:pPr>
              <a:defRPr/>
            </a:pPr>
            <a:r>
              <a:rPr dirty="0">
                <a:latin typeface="Gill Sans" charset="0"/>
                <a:ea typeface="ＭＳ Ｐゴシック" charset="-128"/>
                <a:cs typeface="ＭＳ Ｐゴシック" charset="-128"/>
                <a:sym typeface="Gill Sans" charset="0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303213" y="5105400"/>
            <a:ext cx="8383587" cy="1062038"/>
          </a:xfrm>
        </p:spPr>
        <p:txBody>
          <a:bodyPr lIns="35709" tIns="35709" rIns="35709" bIns="35709"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Thank you</a:t>
            </a:r>
          </a:p>
        </p:txBody>
      </p:sp>
      <p:pic>
        <p:nvPicPr>
          <p:cNvPr id="277506" name="Picture 6" descr="end1"/>
          <p:cNvPicPr>
            <a:picLocks noChangeAspect="1" noChangeArrowheads="1"/>
          </p:cNvPicPr>
          <p:nvPr/>
        </p:nvPicPr>
        <p:blipFill>
          <a:blip r:embed="rId2"/>
          <a:srcRect l="1563" r="4688" b="7936"/>
          <a:stretch>
            <a:fillRect/>
          </a:stretch>
        </p:blipFill>
        <p:spPr bwMode="auto">
          <a:xfrm>
            <a:off x="0" y="2286000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152400"/>
            <a:ext cx="8382000" cy="1060450"/>
          </a:xfrm>
        </p:spPr>
        <p:txBody>
          <a:bodyPr>
            <a:normAutofit/>
          </a:bodyPr>
          <a:lstStyle/>
          <a:p>
            <a:r>
              <a:rPr lang="en-US" sz="2500" b="1">
                <a:latin typeface="Trebuchet MS" pitchFamily="34" charset="0"/>
              </a:rPr>
              <a:t>Endo Supply Chain Re-Design</a:t>
            </a:r>
            <a:br>
              <a:rPr lang="en-US" sz="2500" b="1">
                <a:latin typeface="Trebuchet MS" pitchFamily="34" charset="0"/>
              </a:rPr>
            </a:br>
            <a:r>
              <a:rPr lang="en-US" sz="3600" b="1">
                <a:latin typeface="Trebuchet MS" pitchFamily="34" charset="0"/>
              </a:rPr>
              <a:t>Key Events</a:t>
            </a:r>
          </a:p>
        </p:txBody>
      </p:sp>
      <p:sp>
        <p:nvSpPr>
          <p:cNvPr id="288771" name="Line 5"/>
          <p:cNvSpPr>
            <a:spLocks noChangeShapeType="1"/>
          </p:cNvSpPr>
          <p:nvPr/>
        </p:nvSpPr>
        <p:spPr bwMode="auto">
          <a:xfrm>
            <a:off x="0" y="3319463"/>
            <a:ext cx="9144000" cy="0"/>
          </a:xfrm>
          <a:prstGeom prst="line">
            <a:avLst/>
          </a:prstGeom>
          <a:noFill/>
          <a:ln w="76200">
            <a:solidFill>
              <a:srgbClr val="66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288772" name="Picture 7" descr="EARTH"/>
          <p:cNvPicPr>
            <a:picLocks noChangeAspect="1" noChangeArrowheads="1"/>
          </p:cNvPicPr>
          <p:nvPr/>
        </p:nvPicPr>
        <p:blipFill>
          <a:blip r:embed="rId3"/>
          <a:srcRect t="27303" b="17770"/>
          <a:stretch>
            <a:fillRect/>
          </a:stretch>
        </p:blipFill>
        <p:spPr bwMode="auto">
          <a:xfrm>
            <a:off x="0" y="4511675"/>
            <a:ext cx="91440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88773" name="AutoShape 9"/>
          <p:cNvCxnSpPr>
            <a:cxnSpLocks noChangeShapeType="1"/>
          </p:cNvCxnSpPr>
          <p:nvPr/>
        </p:nvCxnSpPr>
        <p:spPr bwMode="auto">
          <a:xfrm rot="5400000" flipH="1" flipV="1">
            <a:off x="4660900" y="-44450"/>
            <a:ext cx="1108075" cy="5095875"/>
          </a:xfrm>
          <a:prstGeom prst="bentConnector5">
            <a:avLst>
              <a:gd name="adj1" fmla="val -19769"/>
              <a:gd name="adj2" fmla="val 50060"/>
              <a:gd name="adj3" fmla="val 120630"/>
            </a:avLst>
          </a:prstGeom>
          <a:noFill/>
          <a:ln w="9525">
            <a:noFill/>
            <a:miter lim="800000"/>
            <a:headEnd/>
            <a:tailEnd/>
          </a:ln>
        </p:spPr>
      </p:cxnSp>
      <p:grpSp>
        <p:nvGrpSpPr>
          <p:cNvPr id="288774" name="Group 2"/>
          <p:cNvGrpSpPr>
            <a:grpSpLocks/>
          </p:cNvGrpSpPr>
          <p:nvPr/>
        </p:nvGrpSpPr>
        <p:grpSpPr bwMode="auto">
          <a:xfrm>
            <a:off x="153988" y="1828800"/>
            <a:ext cx="989012" cy="1908175"/>
            <a:chOff x="564975" y="1828800"/>
            <a:chExt cx="989363" cy="1908816"/>
          </a:xfrm>
        </p:grpSpPr>
        <p:sp>
          <p:nvSpPr>
            <p:cNvPr id="288775" name="Line 6"/>
            <p:cNvSpPr>
              <a:spLocks noChangeShapeType="1"/>
            </p:cNvSpPr>
            <p:nvPr/>
          </p:nvSpPr>
          <p:spPr bwMode="auto">
            <a:xfrm>
              <a:off x="1066800" y="2286000"/>
              <a:ext cx="0" cy="11430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776" name="Text Box 8"/>
            <p:cNvSpPr txBox="1">
              <a:spLocks noChangeArrowheads="1"/>
            </p:cNvSpPr>
            <p:nvPr/>
          </p:nvSpPr>
          <p:spPr bwMode="auto">
            <a:xfrm>
              <a:off x="731532" y="3506788"/>
              <a:ext cx="687999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Jun 2012</a:t>
              </a:r>
            </a:p>
          </p:txBody>
        </p:sp>
        <p:sp>
          <p:nvSpPr>
            <p:cNvPr id="288777" name="Text Box 13"/>
            <p:cNvSpPr txBox="1">
              <a:spLocks noChangeArrowheads="1"/>
            </p:cNvSpPr>
            <p:nvPr/>
          </p:nvSpPr>
          <p:spPr bwMode="auto">
            <a:xfrm>
              <a:off x="564975" y="1828800"/>
              <a:ext cx="989363" cy="333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Initial Proposal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Submitted</a:t>
              </a:r>
            </a:p>
          </p:txBody>
        </p:sp>
      </p:grpSp>
      <p:grpSp>
        <p:nvGrpSpPr>
          <p:cNvPr id="288778" name="Group 1"/>
          <p:cNvGrpSpPr>
            <a:grpSpLocks/>
          </p:cNvGrpSpPr>
          <p:nvPr/>
        </p:nvGrpSpPr>
        <p:grpSpPr bwMode="auto">
          <a:xfrm>
            <a:off x="-152400" y="2667000"/>
            <a:ext cx="914400" cy="1374775"/>
            <a:chOff x="-76200" y="2667000"/>
            <a:chExt cx="914400" cy="1375416"/>
          </a:xfrm>
        </p:grpSpPr>
        <p:sp>
          <p:nvSpPr>
            <p:cNvPr id="288779" name="Text Box 11"/>
            <p:cNvSpPr txBox="1">
              <a:spLocks noChangeArrowheads="1"/>
            </p:cNvSpPr>
            <p:nvPr/>
          </p:nvSpPr>
          <p:spPr bwMode="auto">
            <a:xfrm>
              <a:off x="-76200" y="2667000"/>
              <a:ext cx="914400" cy="241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0" rIns="91435" bIns="0">
              <a:spAutoFit/>
            </a:bodyPr>
            <a:lstStyle/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RFP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 Released</a:t>
              </a:r>
            </a:p>
          </p:txBody>
        </p:sp>
        <p:sp>
          <p:nvSpPr>
            <p:cNvPr id="288780" name="Line 12"/>
            <p:cNvSpPr>
              <a:spLocks noChangeShapeType="1"/>
            </p:cNvSpPr>
            <p:nvPr/>
          </p:nvSpPr>
          <p:spPr bwMode="auto">
            <a:xfrm>
              <a:off x="381000" y="3124200"/>
              <a:ext cx="0" cy="6096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781" name="Text Box 16"/>
            <p:cNvSpPr txBox="1">
              <a:spLocks noChangeArrowheads="1"/>
            </p:cNvSpPr>
            <p:nvPr/>
          </p:nvSpPr>
          <p:spPr bwMode="auto">
            <a:xfrm>
              <a:off x="33779" y="3811588"/>
              <a:ext cx="697617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May 2012</a:t>
              </a:r>
            </a:p>
          </p:txBody>
        </p:sp>
      </p:grpSp>
      <p:grpSp>
        <p:nvGrpSpPr>
          <p:cNvPr id="288782" name="Group 3"/>
          <p:cNvGrpSpPr>
            <a:grpSpLocks/>
          </p:cNvGrpSpPr>
          <p:nvPr/>
        </p:nvGrpSpPr>
        <p:grpSpPr bwMode="auto">
          <a:xfrm>
            <a:off x="566738" y="2263775"/>
            <a:ext cx="1566862" cy="1778000"/>
            <a:chOff x="1219200" y="2263775"/>
            <a:chExt cx="1566863" cy="1778641"/>
          </a:xfrm>
        </p:grpSpPr>
        <p:sp>
          <p:nvSpPr>
            <p:cNvPr id="288783" name="Text Box 4"/>
            <p:cNvSpPr txBox="1">
              <a:spLocks noChangeArrowheads="1"/>
            </p:cNvSpPr>
            <p:nvPr/>
          </p:nvSpPr>
          <p:spPr bwMode="auto">
            <a:xfrm>
              <a:off x="1219200" y="2263775"/>
              <a:ext cx="1566863" cy="715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Network Optimization Analysis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Site Visit to Huntsville Operation</a:t>
              </a:r>
            </a:p>
          </p:txBody>
        </p:sp>
        <p:sp>
          <p:nvSpPr>
            <p:cNvPr id="288784" name="Line 17"/>
            <p:cNvSpPr>
              <a:spLocks noChangeShapeType="1"/>
            </p:cNvSpPr>
            <p:nvPr/>
          </p:nvSpPr>
          <p:spPr bwMode="auto">
            <a:xfrm>
              <a:off x="1981200" y="3124200"/>
              <a:ext cx="0" cy="6096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785" name="Text Box 18"/>
            <p:cNvSpPr txBox="1">
              <a:spLocks noChangeArrowheads="1"/>
            </p:cNvSpPr>
            <p:nvPr/>
          </p:nvSpPr>
          <p:spPr bwMode="auto">
            <a:xfrm>
              <a:off x="1631815" y="3811588"/>
              <a:ext cx="652733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Jul 2012</a:t>
              </a:r>
            </a:p>
          </p:txBody>
        </p:sp>
      </p:grpSp>
      <p:grpSp>
        <p:nvGrpSpPr>
          <p:cNvPr id="288786" name="Group 4"/>
          <p:cNvGrpSpPr>
            <a:grpSpLocks/>
          </p:cNvGrpSpPr>
          <p:nvPr/>
        </p:nvGrpSpPr>
        <p:grpSpPr bwMode="auto">
          <a:xfrm>
            <a:off x="1447800" y="1828800"/>
            <a:ext cx="1319213" cy="1906588"/>
            <a:chOff x="2209800" y="1828800"/>
            <a:chExt cx="1319213" cy="1907228"/>
          </a:xfrm>
        </p:grpSpPr>
        <p:sp>
          <p:nvSpPr>
            <p:cNvPr id="288787" name="Text Box 10"/>
            <p:cNvSpPr txBox="1">
              <a:spLocks noChangeArrowheads="1"/>
            </p:cNvSpPr>
            <p:nvPr/>
          </p:nvSpPr>
          <p:spPr bwMode="auto">
            <a:xfrm>
              <a:off x="2209800" y="1828800"/>
              <a:ext cx="1319213" cy="36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Updated Proposal Submitted</a:t>
              </a:r>
            </a:p>
          </p:txBody>
        </p:sp>
        <p:sp>
          <p:nvSpPr>
            <p:cNvPr id="288788" name="Line 19"/>
            <p:cNvSpPr>
              <a:spLocks noChangeShapeType="1"/>
            </p:cNvSpPr>
            <p:nvPr/>
          </p:nvSpPr>
          <p:spPr bwMode="auto">
            <a:xfrm>
              <a:off x="2843213" y="2286000"/>
              <a:ext cx="0" cy="12192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789" name="Text Box 20"/>
            <p:cNvSpPr txBox="1">
              <a:spLocks noChangeArrowheads="1"/>
            </p:cNvSpPr>
            <p:nvPr/>
          </p:nvSpPr>
          <p:spPr bwMode="auto">
            <a:xfrm>
              <a:off x="2386013" y="3505200"/>
              <a:ext cx="990600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Aug 2012</a:t>
              </a:r>
            </a:p>
          </p:txBody>
        </p:sp>
      </p:grpSp>
      <p:grpSp>
        <p:nvGrpSpPr>
          <p:cNvPr id="288790" name="Group 5"/>
          <p:cNvGrpSpPr>
            <a:grpSpLocks/>
          </p:cNvGrpSpPr>
          <p:nvPr/>
        </p:nvGrpSpPr>
        <p:grpSpPr bwMode="auto">
          <a:xfrm>
            <a:off x="1905000" y="2771775"/>
            <a:ext cx="1562100" cy="1270000"/>
            <a:chOff x="3009900" y="2771775"/>
            <a:chExt cx="1562100" cy="1270641"/>
          </a:xfrm>
        </p:grpSpPr>
        <p:sp>
          <p:nvSpPr>
            <p:cNvPr id="288791" name="Text Box 3"/>
            <p:cNvSpPr txBox="1">
              <a:spLocks noChangeArrowheads="1"/>
            </p:cNvSpPr>
            <p:nvPr/>
          </p:nvSpPr>
          <p:spPr bwMode="auto">
            <a:xfrm>
              <a:off x="3009900" y="2771775"/>
              <a:ext cx="1562100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Proposal Review </a:t>
              </a:r>
            </a:p>
          </p:txBody>
        </p:sp>
        <p:sp>
          <p:nvSpPr>
            <p:cNvPr id="288792" name="Line 21"/>
            <p:cNvSpPr>
              <a:spLocks noChangeShapeType="1"/>
            </p:cNvSpPr>
            <p:nvPr/>
          </p:nvSpPr>
          <p:spPr bwMode="auto">
            <a:xfrm>
              <a:off x="3733800" y="3124200"/>
              <a:ext cx="0" cy="6096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793" name="Text Box 22"/>
            <p:cNvSpPr txBox="1">
              <a:spLocks noChangeArrowheads="1"/>
            </p:cNvSpPr>
            <p:nvPr/>
          </p:nvSpPr>
          <p:spPr bwMode="auto">
            <a:xfrm>
              <a:off x="3384051" y="3811588"/>
              <a:ext cx="728073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Sept 2012</a:t>
              </a:r>
            </a:p>
          </p:txBody>
        </p:sp>
      </p:grpSp>
      <p:grpSp>
        <p:nvGrpSpPr>
          <p:cNvPr id="288794" name="Group 7"/>
          <p:cNvGrpSpPr>
            <a:grpSpLocks/>
          </p:cNvGrpSpPr>
          <p:nvPr/>
        </p:nvGrpSpPr>
        <p:grpSpPr bwMode="auto">
          <a:xfrm>
            <a:off x="2514600" y="1733550"/>
            <a:ext cx="1447800" cy="2001838"/>
            <a:chOff x="3962400" y="1733550"/>
            <a:chExt cx="1447800" cy="2002478"/>
          </a:xfrm>
        </p:grpSpPr>
        <p:sp>
          <p:nvSpPr>
            <p:cNvPr id="288795" name="Text Box 23"/>
            <p:cNvSpPr txBox="1">
              <a:spLocks noChangeArrowheads="1"/>
            </p:cNvSpPr>
            <p:nvPr/>
          </p:nvSpPr>
          <p:spPr bwMode="auto">
            <a:xfrm>
              <a:off x="3962400" y="1733550"/>
              <a:ext cx="1447800" cy="36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Network update – Mira Loma to Reno</a:t>
              </a:r>
            </a:p>
          </p:txBody>
        </p:sp>
        <p:sp>
          <p:nvSpPr>
            <p:cNvPr id="288796" name="Line 24"/>
            <p:cNvSpPr>
              <a:spLocks noChangeShapeType="1"/>
            </p:cNvSpPr>
            <p:nvPr/>
          </p:nvSpPr>
          <p:spPr bwMode="auto">
            <a:xfrm>
              <a:off x="4724400" y="2295525"/>
              <a:ext cx="0" cy="12192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797" name="Text Box 25"/>
            <p:cNvSpPr txBox="1">
              <a:spLocks noChangeArrowheads="1"/>
            </p:cNvSpPr>
            <p:nvPr/>
          </p:nvSpPr>
          <p:spPr bwMode="auto">
            <a:xfrm>
              <a:off x="4401093" y="3505200"/>
              <a:ext cx="676777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Oct 2012</a:t>
              </a:r>
            </a:p>
          </p:txBody>
        </p:sp>
      </p:grpSp>
      <p:grpSp>
        <p:nvGrpSpPr>
          <p:cNvPr id="288798" name="Group 8"/>
          <p:cNvGrpSpPr>
            <a:grpSpLocks/>
          </p:cNvGrpSpPr>
          <p:nvPr/>
        </p:nvGrpSpPr>
        <p:grpSpPr bwMode="auto">
          <a:xfrm>
            <a:off x="2971800" y="2187575"/>
            <a:ext cx="2362200" cy="1804988"/>
            <a:chOff x="4876800" y="2187575"/>
            <a:chExt cx="2362200" cy="1805628"/>
          </a:xfrm>
        </p:grpSpPr>
        <p:sp>
          <p:nvSpPr>
            <p:cNvPr id="288799" name="Text Box 26"/>
            <p:cNvSpPr txBox="1">
              <a:spLocks noChangeArrowheads="1"/>
            </p:cNvSpPr>
            <p:nvPr/>
          </p:nvSpPr>
          <p:spPr bwMode="auto">
            <a:xfrm>
              <a:off x="4876800" y="2187575"/>
              <a:ext cx="2362200" cy="646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Verbal Award of business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2-DC Network Update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Meeting with Qualitest Team</a:t>
              </a:r>
            </a:p>
          </p:txBody>
        </p:sp>
        <p:sp>
          <p:nvSpPr>
            <p:cNvPr id="288800" name="Line 30"/>
            <p:cNvSpPr>
              <a:spLocks noChangeShapeType="1"/>
            </p:cNvSpPr>
            <p:nvPr/>
          </p:nvSpPr>
          <p:spPr bwMode="auto">
            <a:xfrm flipH="1">
              <a:off x="6095999" y="2971800"/>
              <a:ext cx="7937" cy="6858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801" name="Text Box 31"/>
            <p:cNvSpPr txBox="1">
              <a:spLocks noChangeArrowheads="1"/>
            </p:cNvSpPr>
            <p:nvPr/>
          </p:nvSpPr>
          <p:spPr bwMode="auto">
            <a:xfrm>
              <a:off x="5759938" y="3762375"/>
              <a:ext cx="687999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Dec 2012</a:t>
              </a:r>
            </a:p>
          </p:txBody>
        </p:sp>
      </p:grpSp>
      <p:grpSp>
        <p:nvGrpSpPr>
          <p:cNvPr id="288802" name="Group 9"/>
          <p:cNvGrpSpPr>
            <a:grpSpLocks/>
          </p:cNvGrpSpPr>
          <p:nvPr/>
        </p:nvGrpSpPr>
        <p:grpSpPr bwMode="auto">
          <a:xfrm>
            <a:off x="4191000" y="1371600"/>
            <a:ext cx="1828800" cy="2328863"/>
            <a:chOff x="6629400" y="1371600"/>
            <a:chExt cx="1828800" cy="2329503"/>
          </a:xfrm>
        </p:grpSpPr>
        <p:sp>
          <p:nvSpPr>
            <p:cNvPr id="288803" name="Text Box 32"/>
            <p:cNvSpPr txBox="1">
              <a:spLocks noChangeArrowheads="1"/>
            </p:cNvSpPr>
            <p:nvPr/>
          </p:nvSpPr>
          <p:spPr bwMode="auto">
            <a:xfrm>
              <a:off x="6629400" y="1371600"/>
              <a:ext cx="1828800" cy="5770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Implementation Kick-Off / BRV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Contract Negotiations Completed</a:t>
              </a:r>
            </a:p>
          </p:txBody>
        </p:sp>
        <p:sp>
          <p:nvSpPr>
            <p:cNvPr id="288804" name="Line 33"/>
            <p:cNvSpPr>
              <a:spLocks noChangeShapeType="1"/>
            </p:cNvSpPr>
            <p:nvPr/>
          </p:nvSpPr>
          <p:spPr bwMode="auto">
            <a:xfrm>
              <a:off x="7467600" y="2247900"/>
              <a:ext cx="0" cy="12192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805" name="Text Box 34"/>
            <p:cNvSpPr txBox="1">
              <a:spLocks noChangeArrowheads="1"/>
            </p:cNvSpPr>
            <p:nvPr/>
          </p:nvSpPr>
          <p:spPr bwMode="auto">
            <a:xfrm>
              <a:off x="7010400" y="3470275"/>
              <a:ext cx="914400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Feb 2013</a:t>
              </a:r>
            </a:p>
          </p:txBody>
        </p:sp>
      </p:grpSp>
      <p:grpSp>
        <p:nvGrpSpPr>
          <p:cNvPr id="288806" name="Group 11"/>
          <p:cNvGrpSpPr>
            <a:grpSpLocks/>
          </p:cNvGrpSpPr>
          <p:nvPr/>
        </p:nvGrpSpPr>
        <p:grpSpPr bwMode="auto">
          <a:xfrm>
            <a:off x="4953000" y="2617788"/>
            <a:ext cx="1447800" cy="1397000"/>
            <a:chOff x="6172200" y="2617788"/>
            <a:chExt cx="1447800" cy="1397640"/>
          </a:xfrm>
        </p:grpSpPr>
        <p:sp>
          <p:nvSpPr>
            <p:cNvPr id="288807" name="Text Box 35"/>
            <p:cNvSpPr txBox="1">
              <a:spLocks noChangeArrowheads="1"/>
            </p:cNvSpPr>
            <p:nvPr/>
          </p:nvSpPr>
          <p:spPr bwMode="auto">
            <a:xfrm>
              <a:off x="6480051" y="3784600"/>
              <a:ext cx="814636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March 2013</a:t>
              </a:r>
            </a:p>
          </p:txBody>
        </p:sp>
        <p:sp>
          <p:nvSpPr>
            <p:cNvPr id="288808" name="Text Box 39"/>
            <p:cNvSpPr txBox="1">
              <a:spLocks noChangeArrowheads="1"/>
            </p:cNvSpPr>
            <p:nvPr/>
          </p:nvSpPr>
          <p:spPr bwMode="auto">
            <a:xfrm>
              <a:off x="6172200" y="2617788"/>
              <a:ext cx="1447800" cy="36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Endo CEO Change Process on hold</a:t>
              </a:r>
            </a:p>
          </p:txBody>
        </p:sp>
        <p:sp>
          <p:nvSpPr>
            <p:cNvPr id="288809" name="Line 40"/>
            <p:cNvSpPr>
              <a:spLocks noChangeShapeType="1"/>
            </p:cNvSpPr>
            <p:nvPr/>
          </p:nvSpPr>
          <p:spPr bwMode="auto">
            <a:xfrm>
              <a:off x="6858000" y="3048000"/>
              <a:ext cx="0" cy="6858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88810" name="Group 42"/>
          <p:cNvGrpSpPr>
            <a:grpSpLocks/>
          </p:cNvGrpSpPr>
          <p:nvPr/>
        </p:nvGrpSpPr>
        <p:grpSpPr bwMode="auto">
          <a:xfrm>
            <a:off x="5638800" y="1600200"/>
            <a:ext cx="1828800" cy="2041525"/>
            <a:chOff x="6629400" y="1371600"/>
            <a:chExt cx="1828800" cy="2329503"/>
          </a:xfrm>
        </p:grpSpPr>
        <p:sp>
          <p:nvSpPr>
            <p:cNvPr id="288811" name="Text Box 32"/>
            <p:cNvSpPr txBox="1">
              <a:spLocks noChangeArrowheads="1"/>
            </p:cNvSpPr>
            <p:nvPr/>
          </p:nvSpPr>
          <p:spPr bwMode="auto">
            <a:xfrm>
              <a:off x="6629400" y="1371600"/>
              <a:ext cx="1828800" cy="646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Meeting  with Endo Team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Generics Network Update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Huntsville / Reno </a:t>
              </a:r>
            </a:p>
          </p:txBody>
        </p:sp>
        <p:sp>
          <p:nvSpPr>
            <p:cNvPr id="288812" name="Line 33"/>
            <p:cNvSpPr>
              <a:spLocks noChangeShapeType="1"/>
            </p:cNvSpPr>
            <p:nvPr/>
          </p:nvSpPr>
          <p:spPr bwMode="auto">
            <a:xfrm>
              <a:off x="7467600" y="2247900"/>
              <a:ext cx="0" cy="12192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813" name="Text Box 34"/>
            <p:cNvSpPr txBox="1">
              <a:spLocks noChangeArrowheads="1"/>
            </p:cNvSpPr>
            <p:nvPr/>
          </p:nvSpPr>
          <p:spPr bwMode="auto">
            <a:xfrm>
              <a:off x="7010400" y="3470275"/>
              <a:ext cx="914400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 Jun 2013</a:t>
              </a:r>
            </a:p>
          </p:txBody>
        </p:sp>
      </p:grpSp>
      <p:grpSp>
        <p:nvGrpSpPr>
          <p:cNvPr id="288814" name="Group 13"/>
          <p:cNvGrpSpPr>
            <a:grpSpLocks/>
          </p:cNvGrpSpPr>
          <p:nvPr/>
        </p:nvGrpSpPr>
        <p:grpSpPr bwMode="auto">
          <a:xfrm>
            <a:off x="6553200" y="2165350"/>
            <a:ext cx="1828800" cy="1874838"/>
            <a:chOff x="7162800" y="2166018"/>
            <a:chExt cx="1828800" cy="1874810"/>
          </a:xfrm>
        </p:grpSpPr>
        <p:sp>
          <p:nvSpPr>
            <p:cNvPr id="288815" name="Text Box 35"/>
            <p:cNvSpPr txBox="1">
              <a:spLocks noChangeArrowheads="1"/>
            </p:cNvSpPr>
            <p:nvPr/>
          </p:nvSpPr>
          <p:spPr bwMode="auto">
            <a:xfrm>
              <a:off x="7692456" y="3810000"/>
              <a:ext cx="897992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Jul/Aug 2013</a:t>
              </a:r>
            </a:p>
          </p:txBody>
        </p:sp>
        <p:sp>
          <p:nvSpPr>
            <p:cNvPr id="288816" name="Text Box 39"/>
            <p:cNvSpPr txBox="1">
              <a:spLocks noChangeArrowheads="1"/>
            </p:cNvSpPr>
            <p:nvPr/>
          </p:nvSpPr>
          <p:spPr bwMode="auto">
            <a:xfrm>
              <a:off x="7162800" y="2166018"/>
              <a:ext cx="1828800" cy="646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Network Update 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Generics – 80/20 Split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Brand – Lidoderm/Voltarem</a:t>
              </a:r>
            </a:p>
          </p:txBody>
        </p:sp>
        <p:sp>
          <p:nvSpPr>
            <p:cNvPr id="288817" name="Line 40"/>
            <p:cNvSpPr>
              <a:spLocks noChangeShapeType="1"/>
            </p:cNvSpPr>
            <p:nvPr/>
          </p:nvSpPr>
          <p:spPr bwMode="auto">
            <a:xfrm>
              <a:off x="8153400" y="3048000"/>
              <a:ext cx="0" cy="6858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88818" name="Group 50"/>
          <p:cNvGrpSpPr>
            <a:grpSpLocks/>
          </p:cNvGrpSpPr>
          <p:nvPr/>
        </p:nvGrpSpPr>
        <p:grpSpPr bwMode="auto">
          <a:xfrm>
            <a:off x="7620000" y="1660525"/>
            <a:ext cx="1828800" cy="2039938"/>
            <a:chOff x="6629400" y="1371600"/>
            <a:chExt cx="1828800" cy="2329503"/>
          </a:xfrm>
        </p:grpSpPr>
        <p:sp>
          <p:nvSpPr>
            <p:cNvPr id="288819" name="Text Box 32"/>
            <p:cNvSpPr txBox="1">
              <a:spLocks noChangeArrowheads="1"/>
            </p:cNvSpPr>
            <p:nvPr/>
          </p:nvSpPr>
          <p:spPr bwMode="auto">
            <a:xfrm>
              <a:off x="6629400" y="1371600"/>
              <a:ext cx="1828800" cy="438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Endo team provides </a:t>
              </a:r>
            </a:p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new network approach</a:t>
              </a:r>
            </a:p>
          </p:txBody>
        </p:sp>
        <p:sp>
          <p:nvSpPr>
            <p:cNvPr id="288820" name="Line 33"/>
            <p:cNvSpPr>
              <a:spLocks noChangeShapeType="1"/>
            </p:cNvSpPr>
            <p:nvPr/>
          </p:nvSpPr>
          <p:spPr bwMode="auto">
            <a:xfrm>
              <a:off x="7467600" y="2247900"/>
              <a:ext cx="0" cy="121920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8821" name="Text Box 34"/>
            <p:cNvSpPr txBox="1">
              <a:spLocks noChangeArrowheads="1"/>
            </p:cNvSpPr>
            <p:nvPr/>
          </p:nvSpPr>
          <p:spPr bwMode="auto">
            <a:xfrm>
              <a:off x="7010400" y="3470275"/>
              <a:ext cx="914400" cy="230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900" b="1">
                  <a:solidFill>
                    <a:schemeClr val="tx1"/>
                  </a:solidFill>
                  <a:latin typeface="Trebuchet MS" pitchFamily="34" charset="0"/>
                </a:rPr>
                <a:t>Nov 2013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29" name="Text Box 8"/>
          <p:cNvSpPr>
            <a:spLocks noGrp="1" noChangeArrowheads="1"/>
          </p:cNvSpPr>
          <p:nvPr>
            <p:ph type="sldNum" sz="quarter" idx="10"/>
          </p:nvPr>
        </p:nvSpPr>
        <p:spPr>
          <a:noFill/>
          <a:ln w="9525"/>
        </p:spPr>
        <p:txBody>
          <a:bodyPr/>
          <a:lstStyle/>
          <a:p>
            <a:fld id="{EEB95B50-A613-4425-996F-AA10414D4D05}" type="slidenum">
              <a:rPr lang="en-US" smtClean="0"/>
              <a:pPr/>
              <a:t>62</a:t>
            </a:fld>
            <a:endParaRPr lang="en-US" smtClean="0"/>
          </a:p>
        </p:txBody>
      </p:sp>
      <p:sp>
        <p:nvSpPr>
          <p:cNvPr id="54273" name="Rectangle 7"/>
          <p:cNvSpPr>
            <a:spLocks noGrp="1" noChangeArrowheads="1"/>
          </p:cNvSpPr>
          <p:nvPr>
            <p:ph type="ftr" sz="quarter" idx="1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smtClean="0">
                <a:latin typeface="Arial" charset="0"/>
                <a:ea typeface="ＭＳ Ｐゴシック" pitchFamily="34" charset="-128"/>
              </a:rPr>
              <a:t>PROPRIETARY AND CONFIDENTIAL: THIS PRESENTATION MAY NOT BE USED OR DISCLOSED TO ANY PERSON OTHER THAN EMPLOYEES OF CUSTOMER, UNLESS EXPRESSLY AUTHORIZED BY UPS.</a:t>
            </a:r>
          </a:p>
        </p:txBody>
      </p:sp>
      <p:sp>
        <p:nvSpPr>
          <p:cNvPr id="278531" name="Rectangle 3"/>
          <p:cNvSpPr>
            <a:spLocks noChangeArrowheads="1"/>
          </p:cNvSpPr>
          <p:nvPr/>
        </p:nvSpPr>
        <p:spPr bwMode="auto">
          <a:xfrm>
            <a:off x="8458200" y="0"/>
            <a:ext cx="685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000"/>
              <a:t>Blank</a:t>
            </a:r>
          </a:p>
        </p:txBody>
      </p:sp>
      <p:sp>
        <p:nvSpPr>
          <p:cNvPr id="278532" name="Rectangle 2"/>
          <p:cNvSpPr txBox="1">
            <a:spLocks noChangeArrowheads="1"/>
          </p:cNvSpPr>
          <p:nvPr/>
        </p:nvSpPr>
        <p:spPr bwMode="auto">
          <a:xfrm>
            <a:off x="301625" y="322263"/>
            <a:ext cx="8612188" cy="106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687" tIns="35687" rIns="35687" bIns="35687"/>
          <a:lstStyle/>
          <a:p>
            <a:pPr eaLnBrk="0" hangingPunct="0"/>
            <a:r>
              <a:rPr lang="en-US" sz="2800">
                <a:solidFill>
                  <a:srgbClr val="2C0000"/>
                </a:solidFill>
                <a:sym typeface="Trebuchet MS Bold" pitchFamily="34" charset="0"/>
              </a:rPr>
              <a:t>Endo/UPS next steps</a:t>
            </a:r>
            <a:br>
              <a:rPr lang="en-US" sz="2800">
                <a:solidFill>
                  <a:srgbClr val="2C0000"/>
                </a:solidFill>
                <a:sym typeface="Trebuchet MS Bold" pitchFamily="34" charset="0"/>
              </a:rPr>
            </a:br>
            <a:r>
              <a:rPr lang="en-US" sz="2200">
                <a:solidFill>
                  <a:srgbClr val="2C0000"/>
                </a:solidFill>
                <a:sym typeface="Trebuchet MS Bold" pitchFamily="34" charset="0"/>
              </a:rPr>
              <a:t>Distribution &amp; Transportation timeline &amp; discussion</a:t>
            </a:r>
          </a:p>
        </p:txBody>
      </p:sp>
      <p:pic>
        <p:nvPicPr>
          <p:cNvPr id="27853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371600"/>
            <a:ext cx="9144000" cy="227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8534" name="Text Box 8"/>
          <p:cNvSpPr txBox="1">
            <a:spLocks noChangeArrowheads="1"/>
          </p:cNvSpPr>
          <p:nvPr/>
        </p:nvSpPr>
        <p:spPr bwMode="auto">
          <a:xfrm>
            <a:off x="533400" y="3962400"/>
            <a:ext cx="830580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-"/>
            </a:pPr>
            <a:r>
              <a:rPr lang="en-US" sz="1800"/>
              <a:t>  Meeting March 20</a:t>
            </a:r>
            <a:r>
              <a:rPr lang="en-US" sz="1800" baseline="30000"/>
              <a:t>th</a:t>
            </a:r>
            <a:r>
              <a:rPr lang="en-US" sz="1800"/>
              <a:t> with Qualitest; discussion</a:t>
            </a:r>
          </a:p>
          <a:p>
            <a:pPr>
              <a:buFontTx/>
              <a:buChar char="-"/>
            </a:pPr>
            <a:r>
              <a:rPr lang="en-US" sz="1800"/>
              <a:t>  Go live with transportation by end of first quarter; update. </a:t>
            </a:r>
          </a:p>
          <a:p>
            <a:pPr>
              <a:buFontTx/>
              <a:buChar char="-"/>
            </a:pPr>
            <a:r>
              <a:rPr lang="en-US" sz="1800"/>
              <a:t>  Pull all transportation numbers (current small pkg) under trans mgmt; update</a:t>
            </a:r>
          </a:p>
          <a:p>
            <a:pPr>
              <a:buFontTx/>
              <a:buChar char="-"/>
            </a:pPr>
            <a:r>
              <a:rPr lang="en-US" sz="1800"/>
              <a:t>  System discussion on Huntsville using GWS; discussion</a:t>
            </a:r>
          </a:p>
          <a:p>
            <a:pPr>
              <a:buFontTx/>
              <a:buChar char="-"/>
            </a:pPr>
            <a:r>
              <a:rPr lang="en-US" sz="1800"/>
              <a:t>  </a:t>
            </a:r>
          </a:p>
          <a:p>
            <a:pPr>
              <a:buFontTx/>
              <a:buChar char="-"/>
            </a:pPr>
            <a:endParaRPr lang="en-US" sz="1800"/>
          </a:p>
          <a:p>
            <a:pPr>
              <a:buFontTx/>
              <a:buChar char="-"/>
            </a:pPr>
            <a:endParaRPr lang="en-US" sz="180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7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pic>
        <p:nvPicPr>
          <p:cNvPr id="280578" name="Picture 6" descr="end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0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Photo - Horizontal ">
  <a:themeElements>
    <a:clrScheme name="UPS">
      <a:dk1>
        <a:srgbClr val="2C0100"/>
      </a:dk1>
      <a:lt1>
        <a:srgbClr val="FFFFFF"/>
      </a:lt1>
      <a:dk2>
        <a:srgbClr val="2C0100"/>
      </a:dk2>
      <a:lt2>
        <a:srgbClr val="FFFFFF"/>
      </a:lt2>
      <a:accent1>
        <a:srgbClr val="048298"/>
      </a:accent1>
      <a:accent2>
        <a:srgbClr val="023336"/>
      </a:accent2>
      <a:accent3>
        <a:srgbClr val="26A9AD"/>
      </a:accent3>
      <a:accent4>
        <a:srgbClr val="599116"/>
      </a:accent4>
      <a:accent5>
        <a:srgbClr val="1B370B"/>
      </a:accent5>
      <a:accent6>
        <a:srgbClr val="FF7800"/>
      </a:accent6>
      <a:hlink>
        <a:srgbClr val="048298"/>
      </a:hlink>
      <a:folHlink>
        <a:srgbClr val="26A9AD"/>
      </a:folHlink>
    </a:clrScheme>
    <a:fontScheme name="Photo - Horizontal ">
      <a:majorFont>
        <a:latin typeface="Trebuchet MS Bold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lnDef>
  </a:objectDefaults>
  <a:extraClrSchemeLst>
    <a:extraClrScheme>
      <a:clrScheme name="Photo - Horizontal  1">
        <a:dk1>
          <a:srgbClr val="000000"/>
        </a:dk1>
        <a:lt1>
          <a:srgbClr val="FFFFFF"/>
        </a:lt1>
        <a:dk2>
          <a:srgbClr val="2C0000"/>
        </a:dk2>
        <a:lt2>
          <a:srgbClr val="808080"/>
        </a:lt2>
        <a:accent1>
          <a:srgbClr val="B8E4D4"/>
        </a:accent1>
        <a:accent2>
          <a:srgbClr val="0B4D40"/>
        </a:accent2>
        <a:accent3>
          <a:srgbClr val="FFFFFF"/>
        </a:accent3>
        <a:accent4>
          <a:srgbClr val="000000"/>
        </a:accent4>
        <a:accent5>
          <a:srgbClr val="D8EFE6"/>
        </a:accent5>
        <a:accent6>
          <a:srgbClr val="094539"/>
        </a:accent6>
        <a:hlink>
          <a:srgbClr val="018069"/>
        </a:hlink>
        <a:folHlink>
          <a:srgbClr val="55B88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1_Office Theme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Theme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Photo - Horizontal ">
  <a:themeElements>
    <a:clrScheme name="">
      <a:dk1>
        <a:srgbClr val="2C0100"/>
      </a:dk1>
      <a:lt1>
        <a:srgbClr val="FFFFFF"/>
      </a:lt1>
      <a:dk2>
        <a:srgbClr val="2C0100"/>
      </a:dk2>
      <a:lt2>
        <a:srgbClr val="FFFFFF"/>
      </a:lt2>
      <a:accent1>
        <a:srgbClr val="048298"/>
      </a:accent1>
      <a:accent2>
        <a:srgbClr val="023336"/>
      </a:accent2>
      <a:accent3>
        <a:srgbClr val="FFFFFF"/>
      </a:accent3>
      <a:accent4>
        <a:srgbClr val="240100"/>
      </a:accent4>
      <a:accent5>
        <a:srgbClr val="AAC1CA"/>
      </a:accent5>
      <a:accent6>
        <a:srgbClr val="022D30"/>
      </a:accent6>
      <a:hlink>
        <a:srgbClr val="048298"/>
      </a:hlink>
      <a:folHlink>
        <a:srgbClr val="26A9AD"/>
      </a:folHlink>
    </a:clrScheme>
    <a:fontScheme name="4_Photo - Horizontal 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Photo - Horizontal  1">
        <a:dk1>
          <a:srgbClr val="000000"/>
        </a:dk1>
        <a:lt1>
          <a:srgbClr val="FFFFFF"/>
        </a:lt1>
        <a:dk2>
          <a:srgbClr val="2C0000"/>
        </a:dk2>
        <a:lt2>
          <a:srgbClr val="808080"/>
        </a:lt2>
        <a:accent1>
          <a:srgbClr val="B8E4D4"/>
        </a:accent1>
        <a:accent2>
          <a:srgbClr val="0B4D40"/>
        </a:accent2>
        <a:accent3>
          <a:srgbClr val="FFFFFF"/>
        </a:accent3>
        <a:accent4>
          <a:srgbClr val="000000"/>
        </a:accent4>
        <a:accent5>
          <a:srgbClr val="D8EFE6"/>
        </a:accent5>
        <a:accent6>
          <a:srgbClr val="094539"/>
        </a:accent6>
        <a:hlink>
          <a:srgbClr val="018069"/>
        </a:hlink>
        <a:folHlink>
          <a:srgbClr val="55B88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7_Photo - Horizontal ">
  <a:themeElements>
    <a:clrScheme name="17_Photo - Horizontal  2">
      <a:dk1>
        <a:srgbClr val="2C0000"/>
      </a:dk1>
      <a:lt1>
        <a:srgbClr val="FFFFFF"/>
      </a:lt1>
      <a:dk2>
        <a:srgbClr val="2C0000"/>
      </a:dk2>
      <a:lt2>
        <a:srgbClr val="808080"/>
      </a:lt2>
      <a:accent1>
        <a:srgbClr val="003436"/>
      </a:accent1>
      <a:accent2>
        <a:srgbClr val="008198"/>
      </a:accent2>
      <a:accent3>
        <a:srgbClr val="FFFFFF"/>
      </a:accent3>
      <a:accent4>
        <a:srgbClr val="240000"/>
      </a:accent4>
      <a:accent5>
        <a:srgbClr val="AAAEAE"/>
      </a:accent5>
      <a:accent6>
        <a:srgbClr val="007489"/>
      </a:accent6>
      <a:hlink>
        <a:srgbClr val="26A9AC"/>
      </a:hlink>
      <a:folHlink>
        <a:srgbClr val="599117"/>
      </a:folHlink>
    </a:clrScheme>
    <a:fontScheme name="17_Photo - Horizontal 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7_Photo - Horizontal  1">
        <a:dk1>
          <a:srgbClr val="000000"/>
        </a:dk1>
        <a:lt1>
          <a:srgbClr val="FFFFFF"/>
        </a:lt1>
        <a:dk2>
          <a:srgbClr val="2C0000"/>
        </a:dk2>
        <a:lt2>
          <a:srgbClr val="808080"/>
        </a:lt2>
        <a:accent1>
          <a:srgbClr val="B8E4D4"/>
        </a:accent1>
        <a:accent2>
          <a:srgbClr val="0B4D40"/>
        </a:accent2>
        <a:accent3>
          <a:srgbClr val="FFFFFF"/>
        </a:accent3>
        <a:accent4>
          <a:srgbClr val="000000"/>
        </a:accent4>
        <a:accent5>
          <a:srgbClr val="D8EFE6"/>
        </a:accent5>
        <a:accent6>
          <a:srgbClr val="094539"/>
        </a:accent6>
        <a:hlink>
          <a:srgbClr val="018069"/>
        </a:hlink>
        <a:folHlink>
          <a:srgbClr val="55B88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Photo - Horizontal  2">
        <a:dk1>
          <a:srgbClr val="2C0000"/>
        </a:dk1>
        <a:lt1>
          <a:srgbClr val="FFFFFF"/>
        </a:lt1>
        <a:dk2>
          <a:srgbClr val="2C0000"/>
        </a:dk2>
        <a:lt2>
          <a:srgbClr val="808080"/>
        </a:lt2>
        <a:accent1>
          <a:srgbClr val="003436"/>
        </a:accent1>
        <a:accent2>
          <a:srgbClr val="008198"/>
        </a:accent2>
        <a:accent3>
          <a:srgbClr val="FFFFFF"/>
        </a:accent3>
        <a:accent4>
          <a:srgbClr val="240000"/>
        </a:accent4>
        <a:accent5>
          <a:srgbClr val="AAAEAE"/>
        </a:accent5>
        <a:accent6>
          <a:srgbClr val="007489"/>
        </a:accent6>
        <a:hlink>
          <a:srgbClr val="26A9AC"/>
        </a:hlink>
        <a:folHlink>
          <a:srgbClr val="59911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UPS Colors">
    <a:dk1>
      <a:srgbClr val="000000"/>
    </a:dk1>
    <a:lt1>
      <a:srgbClr val="FFFFFF"/>
    </a:lt1>
    <a:dk2>
      <a:srgbClr val="003436"/>
    </a:dk2>
    <a:lt2>
      <a:srgbClr val="008198"/>
    </a:lt2>
    <a:accent1>
      <a:srgbClr val="26A9AC"/>
    </a:accent1>
    <a:accent2>
      <a:srgbClr val="0B4D40"/>
    </a:accent2>
    <a:accent3>
      <a:srgbClr val="018069"/>
    </a:accent3>
    <a:accent4>
      <a:srgbClr val="55B884"/>
    </a:accent4>
    <a:accent5>
      <a:srgbClr val="1B380C"/>
    </a:accent5>
    <a:accent6>
      <a:srgbClr val="599117"/>
    </a:accent6>
    <a:hlink>
      <a:srgbClr val="8CCB3C"/>
    </a:hlink>
    <a:folHlink>
      <a:srgbClr val="FF780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UPS Colors">
    <a:dk1>
      <a:srgbClr val="000000"/>
    </a:dk1>
    <a:lt1>
      <a:srgbClr val="FFFFFF"/>
    </a:lt1>
    <a:dk2>
      <a:srgbClr val="003436"/>
    </a:dk2>
    <a:lt2>
      <a:srgbClr val="008198"/>
    </a:lt2>
    <a:accent1>
      <a:srgbClr val="26A9AC"/>
    </a:accent1>
    <a:accent2>
      <a:srgbClr val="0B4D40"/>
    </a:accent2>
    <a:accent3>
      <a:srgbClr val="018069"/>
    </a:accent3>
    <a:accent4>
      <a:srgbClr val="55B884"/>
    </a:accent4>
    <a:accent5>
      <a:srgbClr val="1B380C"/>
    </a:accent5>
    <a:accent6>
      <a:srgbClr val="599117"/>
    </a:accent6>
    <a:hlink>
      <a:srgbClr val="8CCB3C"/>
    </a:hlink>
    <a:folHlink>
      <a:srgbClr val="FF780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8292</TotalTime>
  <Pages>0</Pages>
  <Words>4498</Words>
  <Characters>0</Characters>
  <Application>Microsoft Office PowerPoint</Application>
  <PresentationFormat>Letter Paper (8.5x11 in)</PresentationFormat>
  <Lines>0</Lines>
  <Paragraphs>1165</Paragraphs>
  <Slides>63</Slides>
  <Notes>43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Design Template</vt:lpstr>
      </vt:variant>
      <vt:variant>
        <vt:i4>7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85" baseType="lpstr">
      <vt:lpstr>Arial</vt:lpstr>
      <vt:lpstr>ＭＳ Ｐゴシック</vt:lpstr>
      <vt:lpstr>Gill Sans</vt:lpstr>
      <vt:lpstr>Trebuchet MS Bold</vt:lpstr>
      <vt:lpstr>Trebuchet MS</vt:lpstr>
      <vt:lpstr>Wingdings</vt:lpstr>
      <vt:lpstr>Calibri Light</vt:lpstr>
      <vt:lpstr>Calibri</vt:lpstr>
      <vt:lpstr>Arial Black</vt:lpstr>
      <vt:lpstr>Times New Roman</vt:lpstr>
      <vt:lpstr>MS Sans Serif</vt:lpstr>
      <vt:lpstr>Tahoma</vt:lpstr>
      <vt:lpstr>1_Photo - Horizontal </vt:lpstr>
      <vt:lpstr>Office Theme</vt:lpstr>
      <vt:lpstr>1_Office Theme</vt:lpstr>
      <vt:lpstr>4_Photo - Horizontal </vt:lpstr>
      <vt:lpstr>1_Photo - Horizontal </vt:lpstr>
      <vt:lpstr>1_Photo - Horizontal </vt:lpstr>
      <vt:lpstr>17_Photo - Horizontal </vt:lpstr>
      <vt:lpstr>Chart</vt:lpstr>
      <vt:lpstr>Worksheet</vt:lpstr>
      <vt:lpstr>Microsoft Excel Chart</vt:lpstr>
      <vt:lpstr>Delivering Value for Endo Health</vt:lpstr>
      <vt:lpstr>Slide 2</vt:lpstr>
      <vt:lpstr>Agenda</vt:lpstr>
      <vt:lpstr>UPS Partnership Slide Global Enterprise Sales</vt:lpstr>
      <vt:lpstr>Healthcare Coverage Expands Distribution Network Provides Broader Coverage in Europe for Greater Patient Access</vt:lpstr>
      <vt:lpstr>Hi-tech Transportation Dual-Zone Vehicle Fleet Supports Sustainable Logistics </vt:lpstr>
      <vt:lpstr>Built for Speed, Flexibility  and Efficiency</vt:lpstr>
      <vt:lpstr>Global Healthcare Integrated Distribution Network</vt:lpstr>
      <vt:lpstr>Compliant Healthcare Storage and Distribution Across Europe</vt:lpstr>
      <vt:lpstr>UPS® in Europe</vt:lpstr>
      <vt:lpstr>Package Results Volume, Net Spend &amp; Accessorials</vt:lpstr>
      <vt:lpstr>Endo Pharmaceuticals Package Volume &amp; Net Spend by Product Annual, 2012 vs. 2013</vt:lpstr>
      <vt:lpstr>Endo Pharmaceuticals Package Volume &amp; Net Spend by Location Annual, 2012 vs. 2013</vt:lpstr>
      <vt:lpstr>Endo Pharmaceuticals Package Top Accessorials by Net Spend Annual, 2012 vs. 2013</vt:lpstr>
      <vt:lpstr>Endo Pharmaceuticals Package Accessorials Net Spend by Location Annual, 2012 vs. 2013</vt:lpstr>
      <vt:lpstr>Package Results On-Time Performance</vt:lpstr>
      <vt:lpstr>Endo Pharmaceuticals Package On-Time Performance by Product Annual, 2012 vs. 2013</vt:lpstr>
      <vt:lpstr>Endo Pharmaceuticals Package On-Time Performance Summary Annual, 2012 vs. 2013</vt:lpstr>
      <vt:lpstr>Freight Forwarding Results Volume, Net Spend &amp; On-Time Performance</vt:lpstr>
      <vt:lpstr>Endo Pharmaceuticals Freight Forwarding Volume &amp; Net Spend by Service Category Annual, 2012 vs. 2013</vt:lpstr>
      <vt:lpstr>Endo Pharmaceuticals Freight Forwarding Volume &amp; Net Spend by Service Level Annual, 2012 vs. 2013</vt:lpstr>
      <vt:lpstr>Endo Pharmaceuticals Freight Forwarding Volume &amp; Net Spend Summary Annual, 2012 vs. 2013</vt:lpstr>
      <vt:lpstr>Endo Pharmaceuticals Freight Forwarding On-Time Performance Summary Annual, 2012 vs. 2013</vt:lpstr>
      <vt:lpstr>Customer Service</vt:lpstr>
      <vt:lpstr>Slide 25</vt:lpstr>
      <vt:lpstr>AVEED LAUNCH!!  March 10, 2014 Memphis DC and Newark Customer Service with first order to Besse Medical</vt:lpstr>
      <vt:lpstr>Inbound Calls – Yearly Comparison  </vt:lpstr>
      <vt:lpstr>Slide 28</vt:lpstr>
      <vt:lpstr>Slide 29</vt:lpstr>
      <vt:lpstr>Manual Orders (includes Cold Chain Orders)</vt:lpstr>
      <vt:lpstr>Destructions: ZRE (Direct) vs. ZREI (Indirect)</vt:lpstr>
      <vt:lpstr>UPS Transportation – ENDO </vt:lpstr>
      <vt:lpstr>Organizational Chart</vt:lpstr>
      <vt:lpstr>2013 Dashboard Review</vt:lpstr>
      <vt:lpstr>2013 Carrier On Time Performance</vt:lpstr>
      <vt:lpstr>2013 Shipment Stats by Mode – Total</vt:lpstr>
      <vt:lpstr>2013 Shipment Stats by Mode – Memphis</vt:lpstr>
      <vt:lpstr>2013 Shipment Stats by Mode – Harrisburg</vt:lpstr>
      <vt:lpstr>2013 Shipment Statistics – Damages and Shortages </vt:lpstr>
      <vt:lpstr>2013 Perfect Load</vt:lpstr>
      <vt:lpstr>National Historic Diesel Prices</vt:lpstr>
      <vt:lpstr>2013 Transportation Review</vt:lpstr>
      <vt:lpstr>Slide 43</vt:lpstr>
      <vt:lpstr>2012 vs. 2013 Comparison - Memphis</vt:lpstr>
      <vt:lpstr>Memphis Total Orders Shipped  </vt:lpstr>
      <vt:lpstr>KPI’s - Memphis</vt:lpstr>
      <vt:lpstr>Memphis DC Error Recap  Error Summary  January – December 2013</vt:lpstr>
      <vt:lpstr>2012 vs. 2013 Comparison - Harrisburg</vt:lpstr>
      <vt:lpstr>Harrisburg Total Orders Shipped 2012 vs. 2013 </vt:lpstr>
      <vt:lpstr>KPI’s - Harrisburg</vt:lpstr>
      <vt:lpstr>Harrisburg DC Error Recap  Error Summary  March– February 2013</vt:lpstr>
      <vt:lpstr>UPS and Endo Pharmaceuticals Building Our Strategic Partnership</vt:lpstr>
      <vt:lpstr>UPS Temperature True®</vt:lpstr>
      <vt:lpstr>UPS Temperature True® Assessing the pain in your temperature-sensitive supply chain</vt:lpstr>
      <vt:lpstr>Temperature True® Plus When you shipments require the highest degree of control</vt:lpstr>
      <vt:lpstr>Temperature True® Plus When you shipments require the highest degree of control</vt:lpstr>
      <vt:lpstr>Temperature True® Standard When timing is simply everything</vt:lpstr>
      <vt:lpstr>Temperature True® Standard When timing is simply everything</vt:lpstr>
      <vt:lpstr>Temperature True® Saver – New for 2014 When cost is priority</vt:lpstr>
      <vt:lpstr>Thank you</vt:lpstr>
      <vt:lpstr>Endo Supply Chain Re-Design Key Events</vt:lpstr>
      <vt:lpstr>Slide 62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Sylvie</dc:creator>
  <cp:lastModifiedBy>ups</cp:lastModifiedBy>
  <cp:revision>256</cp:revision>
  <dcterms:created xsi:type="dcterms:W3CDTF">2010-12-17T21:28:58Z</dcterms:created>
  <dcterms:modified xsi:type="dcterms:W3CDTF">2014-03-13T18:47:06Z</dcterms:modified>
</cp:coreProperties>
</file>